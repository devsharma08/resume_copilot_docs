
<file path=[Content_Types].xml><?xml version="1.0" encoding="utf-8"?>
<Types xmlns="http://schemas.openxmlformats.org/package/2006/content-types">
  <Default Extension="rels" ContentType="application/vnd.openxmlformats-package.relationships+xml"/>
  <Default Extension="xml" ContentType="application/xml"/>
  <Default Extension="vml" ContentType="application/vnd.openxmlformats-officedocument.vmlDrawing"/>
  <Default Extension="fntdata" ContentType="application/x-fontdata"/>
  <Default Extension="bmp" ContentType="image/bmp"/>
  <Default Extension="jpeg" ContentType="image/jpeg"/>
  <Default Extension="png" ContentType="image/png"/>
  <Default Extension="gif" ContentType="image/gif"/>
  <Default Extension="tif" ContentType="image/tif"/>
  <Default Extension="emf" ContentType="image/x-emf"/>
  <Default Extension="wmf" ContentType="image/x-wmf"/>
  <Default Extension="pct" ContentType="image/pct"/>
  <Default Extension="pcx" ContentType="image/pcx"/>
  <Default Extension="tga" ContentType="image/tga"/>
  <Default Extension="svg" ContentType="image/svg+xml"/>
  <Default Extension="webp" ContentType="image/webp"/>
  <Default Extension="avi" ContentType="video/avi"/>
  <Default Extension="wmv" ContentType="video/wmv"/>
  <Default Extension="mpg" ContentType="video/mpeg"/>
  <Default Extension="mpeg" ContentType="video/mpeg"/>
  <Default Extension="mp2" ContentType="video/mpeg"/>
  <Default Extension="mp4" ContentType="video/mpeg"/>
  <Default Extension="wma" ContentType="audio/x-ms-wma"/>
  <Default Extension="mid" ContentType="audio/unknown"/>
  <Default Extension="midi" ContentType="audio/unknown"/>
  <Default Extension="rmi" ContentType="audio/unknown"/>
  <Default Extension="mp3" ContentType="audio/unknown"/>
  <Default Extension="wav" ContentType="audio/wav"/>
  <Default Extension="bin" ContentType="application/vnd.openxmlformats-officedocument.oleObjec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heme/theme2.xml" ContentType="application/vnd.openxmlformats-officedocument.theme+xml"/>
  <Override PartName="/ppt/slideLayouts/slideLayout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Types>
</file>

<file path=_rels/.rels><?xml version="1.0" encoding="UTF-8" standalone="yes" ?>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8" r:id="rId18"/>
    <p:sldId id="269" r:id="rId19"/>
    <p:sldId id="270" r:id="rId20"/>
    <p:sldId id="267" r:id="rId21"/>
  </p:sldIdLst>
  <p:sldSz cx="12192000" cy="6858000"/>
  <p:notesSz cx="6858000" cy="12192000"/>
  <p:defaultText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9pPr>
  </p:defaultTextStyle>
</p:presentation>
</file>

<file path=ppt/presProps.xml><?xml version="1.0" encoding="utf-8"?>
<p:presentation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howPr showNarration="1">
    <p:penClr>
      <a:srgbClr val="0000FF"/>
    </p:penClr>
  </p:showPr>
  <p:extLst>
    <p:ext uri="smNativeData">
      <pr:smAppRevision xmlns:pr="smNativeData" xmlns="smNativeData" dt="1790672740" val="1234" rev64="64" revOS="3"/>
      <pr:smFileRevision xmlns:pr="smNativeData" xmlns="smNativeData" dt="1790672740" val="101"/>
      <pr:guideOptions xmlns:pr="smNativeData" xmlns="smNativeData" dt="1790672740" snapToBorders="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ideViewPr>
    <p:cSldViewPr snapToGrid="0" snapToObjects="1">
      <p:cViewPr varScale="1">
        <p:scale>
          <a:sx n="69" d="100"/>
          <a:sy n="69" d="100"/>
        </p:scale>
        <p:origin x="381" y="646"/>
      </p:cViewPr>
    </p:cSldViewPr>
  </p:slideViewPr>
  <p:outlineViewPr>
    <p:cViewPr>
      <p:scale>
        <a:sx n="33" d="100"/>
        <a:sy n="33" d="100"/>
      </p:scale>
      <p:origin x="0" y="0"/>
    </p:cViewPr>
  </p:outlineViewPr>
  <p:sorterViewPr>
    <p:cViewPr>
      <p:scale>
        <a:sx n="15" d="100"/>
        <a:sy n="15" d="100"/>
      </p:scale>
      <p:origin x="0" y="0"/>
    </p:cViewPr>
  </p:sorterViewPr>
  <p:notesViewPr>
    <p:cSldViewPr snapToGrid="0" snapToObjects="1">
      <p:cViewPr>
        <p:scale>
          <a:sx n="69" d="100"/>
          <a:sy n="69" d="100"/>
        </p:scale>
        <p:origin x="381" y="646"/>
      </p:cViewPr>
    </p:cSldViewPr>
  </p:notesViewPr>
  <p:gridSpacing cx="78028800" cy="78028800"/>
</p:viewPr>
</file>

<file path=ppt/_rels/presentation.xml.rels><?xml version="1.0" encoding="UTF-8" standalone="yes" ?>
<Relationships xmlns="http://schemas.openxmlformats.org/package/2006/relationships"><Relationship Id="rId1" Type="http://schemas.openxmlformats.org/officeDocument/2006/relationships/theme" Target="theme/theme1.xml"/><Relationship Id="rId2" Type="http://schemas.openxmlformats.org/officeDocument/2006/relationships/tableStyles" Target="tableStyles.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noChangeArrowheads="1"/>
            <a:extLst>
              <a:ext uri="smNativeData">
                <pr:smNativeData xmlns:pr="smNativeData" xmlns="smNativeData" val="SMDATA_15_ZH+7a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BIEgAA0wIAABAAAAAmAAAACAAAAD+PAAAAAAAA"/>
              </a:ext>
            </a:extLst>
          </p:cNvSpPr>
          <p:nvPr>
            <p:ph type="hdr" sz="quarter"/>
          </p:nvPr>
        </p:nvSpPr>
        <p:spPr>
          <a:xfrm>
            <a:off x="0" y="0"/>
            <a:ext cx="2971800" cy="459105"/>
          </a:xfrm>
          <a:prstGeom prst="rect">
            <a:avLst/>
          </a:prstGeom>
        </p:spPr>
        <p:txBody>
          <a:bodyPr vert="horz" wrap="square" lIns="91440" tIns="45720" rIns="91440" bIns="45720" numCol="1" spcCol="215900" anchor="t">
            <a:prstTxWarp prst="textNoShape">
              <a:avLst/>
            </a:prstTxWarp>
          </a:bodyPr>
          <a:lstStyle>
            <a:lvl1pPr algn="l">
              <a:defRPr sz="1200" cap="none"/>
            </a:lvl1pPr>
          </a:lstStyle>
          <a:p>
            <a:pPr/>
          </a:p>
        </p:txBody>
      </p:sp>
      <p:sp>
        <p:nvSpPr>
          <p:cNvPr id="3" name="Date Placeholder 2"/>
          <p:cNvSpPr>
            <a:spLocks noGrp="1" noChangeArrowheads="1"/>
            <a:extLst>
              <a:ext uri="smNativeData">
                <pr:smNativeData xmlns:pr="smNativeData" xmlns="smNativeData" val="SMDATA_15_ZH+7a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QAY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AAAAAAuKgAA0wIAABAAAAAmAAAACAAAAD+PAAAAAAAA"/>
              </a:ext>
            </a:extLst>
          </p:cNvSpPr>
          <p:nvPr>
            <p:ph type="dt" idx="10"/>
          </p:nvPr>
        </p:nvSpPr>
        <p:spPr>
          <a:xfrm>
            <a:off x="3884930" y="0"/>
            <a:ext cx="2971800" cy="459105"/>
          </a:xfrm>
          <a:prstGeom prst="rect">
            <a:avLst/>
          </a:prstGeom>
        </p:spPr>
        <p:txBody>
          <a:bodyPr vert="horz" wrap="square" lIns="91440" tIns="45720" rIns="91440" bIns="45720" numCol="1" spcCol="215900" anchor="t">
            <a:prstTxWarp prst="textNoShape">
              <a:avLst/>
            </a:prstTxWarp>
          </a:bodyPr>
          <a:lstStyle>
            <a:lvl1pPr algn="r">
              <a:defRPr sz="1200" cap="none"/>
            </a:lvl1pPr>
          </a:lstStyle>
          <a:p>
            <a:pPr/>
            <a:fld id="{55F65016-58B8-A3A6-F64E-AEF31E0000FB}" type="datetime1">
              <a:t>7/23/19</a:t>
            </a:fld>
          </a:p>
        </p:txBody>
      </p:sp>
      <p:sp>
        <p:nvSpPr>
          <p:cNvPr id="4" name="Slide Image Placeholder 3"/>
          <p:cNvSpPr>
            <a:spLocks noGrp="1" noChangeArrowheads="1"/>
            <a:extLst>
              <a:ext uri="smNativeData">
                <pr:smNativeData xmlns:pr="smNativeData" xmlns="smNativeData" val="SMDATA_15_ZH+7a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G5QM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L8PAAD/HwAA"/>
              </a:ext>
            </a:extLst>
          </p:cNvSpPr>
          <p:nvPr>
            <p:ph type="sldImg" idx="2"/>
          </p:nvPr>
        </p:nvSpPr>
        <p:spPr>
          <a:xfrm>
            <a:off x="685800" y="1143000"/>
            <a:ext cx="5486400" cy="3086100"/>
          </a:xfrm>
          <a:prstGeom prst="rect">
            <a:avLst/>
          </a:prstGeom>
          <a:noFill/>
          <a:ln w="12700" cap="flat" cmpd="sng" algn="ctr">
            <a:solidFill>
              <a:srgbClr val="000000"/>
            </a:solidFill>
            <a:prstDash val="solid"/>
            <a:headEnd type="none"/>
            <a:tailEnd type="none"/>
          </a:ln>
        </p:spPr>
        <p:txBody>
          <a:bodyPr vert="horz" wrap="square" lIns="91440" tIns="45720" rIns="91440" bIns="45720" numCol="1" spcCol="215900" anchor="ctr">
            <a:prstTxWarp prst="textNoShape">
              <a:avLst/>
            </a:prstTxWarp>
          </a:bodyPr>
          <a:lstStyle/>
          <a:p>
            <a:pPr/>
            <a:endParaRPr lang="en-us" cap="none"/>
          </a:p>
        </p:txBody>
      </p:sp>
      <p:sp>
        <p:nvSpPr>
          <p:cNvPr id="5" name="Notes Placeholder 4"/>
          <p:cNvSpPr>
            <a:spLocks noGrp="1" noChangeArrowheads="1"/>
            <a:extLst>
              <a:ext uri="smNativeData">
                <pr:smNativeData xmlns:pr="smNativeData" xmlns="smNativeData" val="SMDATA_15_ZH+7a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OAQAABIbAAD4JQAAODEAABAAAAAmAAAACAAAAD8PAAD/HwAA"/>
              </a:ext>
            </a:extLst>
          </p:cNvSpPr>
          <p:nvPr>
            <p:ph type="body" idx="3"/>
          </p:nvPr>
        </p:nvSpPr>
        <p:spPr>
          <a:xfrm>
            <a:off x="685800" y="4400550"/>
            <a:ext cx="5486400" cy="3600450"/>
          </a:xfrm>
          <a:prstGeom prst="rect">
            <a:avLst/>
          </a:prstGeom>
          <a:noFill/>
          <a:ln>
            <a:noFill/>
          </a:ln>
        </p:spPr>
        <p:txBody>
          <a:bodyPr vert="horz" wrap="square" lIns="91440" tIns="45720" rIns="91440" bIns="45720" numCol="1" spcCol="215900" anchor="t">
            <a:prstTxWarp prst="textNoShape">
              <a:avLst/>
            </a:prstTxWarp>
          </a:bodyPr>
          <a:lstStyle/>
          <a:p>
            <a:pPr/>
            <a:r>
              <a:rPr lang="en-us" cap="none"/>
              <a:t>Click to edit Master text styles</a:t>
            </a:r>
            <a:endParaRPr lang="en-us" cap="none"/>
          </a:p>
          <a:p>
            <a:pPr lvl="1"/>
            <a:r>
              <a:rPr lang="en-us" cap="none"/>
              <a:t>Second level</a:t>
            </a:r>
            <a:endParaRPr lang="en-us" cap="none"/>
          </a:p>
          <a:p>
            <a:pPr lvl="2"/>
            <a:r>
              <a:rPr lang="en-us" cap="none"/>
              <a:t>Third level</a:t>
            </a:r>
            <a:endParaRPr lang="en-us" cap="none"/>
          </a:p>
          <a:p>
            <a:pPr lvl="3"/>
            <a:r>
              <a:rPr lang="en-us" cap="none"/>
              <a:t>Fourth level</a:t>
            </a:r>
            <a:endParaRPr lang="en-us" cap="none"/>
          </a:p>
          <a:p>
            <a:pPr lvl="4"/>
            <a:r>
              <a:rPr lang="en-us" cap="none"/>
              <a:t>Fifth level</a:t>
            </a:r>
            <a:endParaRPr lang="en-us" cap="none"/>
          </a:p>
        </p:txBody>
      </p:sp>
      <p:sp>
        <p:nvSpPr>
          <p:cNvPr id="6" name="Footer Placeholder 5"/>
          <p:cNvSpPr>
            <a:spLocks noGrp="1" noChangeArrowheads="1"/>
            <a:extLst>
              <a:ext uri="smNativeData">
                <pr:smNativeData xmlns:pr="smNativeData" xmlns="smNativeData" val="SMDATA_15_ZH+7ah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QAI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G41AABIEgAAQDgAABAAAAAmAAAACAAAAL+PAAD/HwAA"/>
              </a:ext>
            </a:extLst>
          </p:cNvSpPr>
          <p:nvPr>
            <p:ph type="ftr" sz="quarter" idx="11"/>
          </p:nvPr>
        </p:nvSpPr>
        <p:spPr>
          <a:xfrm>
            <a:off x="0" y="8685530"/>
            <a:ext cx="2971800" cy="458470"/>
          </a:xfrm>
          <a:prstGeom prst="rect">
            <a:avLst/>
          </a:prstGeom>
          <a:noFill/>
          <a:ln>
            <a:noFill/>
          </a:ln>
        </p:spPr>
        <p:txBody>
          <a:bodyPr vert="horz" wrap="square" lIns="91440" tIns="45720" rIns="91440" bIns="45720" numCol="1" spcCol="215900" anchor="b">
            <a:prstTxWarp prst="textNoShape">
              <a:avLst/>
            </a:prstTxWarp>
          </a:bodyPr>
          <a:lstStyle>
            <a:lvl1pPr algn="l">
              <a:defRPr sz="1200" cap="none"/>
            </a:lvl1pPr>
          </a:lstStyle>
          <a:p>
            <a:pPr/>
          </a:p>
        </p:txBody>
      </p:sp>
      <p:sp>
        <p:nvSpPr>
          <p:cNvPr id="7" name="Slide Number Placeholder 6"/>
          <p:cNvSpPr>
            <a:spLocks noGrp="1" noChangeArrowheads="1"/>
            <a:extLst>
              <a:ext uri="smNativeData">
                <pr:smNativeData xmlns:pr="smNativeData" xmlns="smNativeData" val="SMDATA_15_ZH+7ah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G41AAAuKgAAQDgAABAAAAAmAAAACAAAAL+PAAD/HwAA"/>
              </a:ext>
            </a:extLst>
          </p:cNvSpPr>
          <p:nvPr>
            <p:ph type="sldNum" sz="quarter" idx="12"/>
          </p:nvPr>
        </p:nvSpPr>
        <p:spPr>
          <a:xfrm>
            <a:off x="3884930" y="8685530"/>
            <a:ext cx="2971800" cy="458470"/>
          </a:xfrm>
          <a:prstGeom prst="rect">
            <a:avLst/>
          </a:prstGeom>
          <a:noFill/>
          <a:ln>
            <a:noFill/>
          </a:ln>
        </p:spPr>
        <p:txBody>
          <a:bodyPr vert="horz" wrap="square" lIns="91440" tIns="45720" rIns="91440" bIns="45720" numCol="1" spcCol="215900" anchor="b">
            <a:prstTxWarp prst="textNoShape">
              <a:avLst/>
            </a:prstTxWarp>
          </a:bodyPr>
          <a:lstStyle>
            <a:lvl1pPr algn="r">
              <a:defRPr sz="1200" cap="none"/>
            </a:lvl1pPr>
          </a:lstStyle>
          <a:p>
            <a:pPr/>
            <a:fld id="{67AEB890-DE8A-FB4E-C416-281BF658327D}" type="slidenum">
              <a:t>‹#›</a:t>
            </a:fld>
          </a:p>
        </p:txBody>
      </p:sp>
    </p:spTree>
  </p:cSld>
  <p:clrMap bg1="lt1" tx1="dk1" bg2="lt2" tx2="dk2" accent1="accent1" accent2="accent2" accent3="accent3" accent4="accent4" accent5="accent5" accent6="accent6" hlink="hlink" folHlink="folHlink"/>
  <p:hf hdr="0" ftr="0"/>
  <p:notesStyle>
    <a:lvl1pPr marL="0" marR="0" indent="0" algn="l" defTabSz="914400">
      <a:lnSpc>
        <a:spcPct val="100000"/>
      </a:lnSpc>
      <a:spcBef>
        <a:spcPts val="0"/>
      </a:spcBef>
      <a:spcAft>
        <a:spcPts val="0"/>
      </a:spcAft>
      <a:buNone/>
      <a:tabLst/>
      <a:defRPr sz="12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sz="12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sz="12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sz="12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sz="12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sz="12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sz="12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sz="12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sz="1200" b="0" i="0" u="none" strike="noStrike" kern="1" cap="none" spc="0" baseline="0">
        <a:solidFill>
          <a:schemeClr val="tx1"/>
        </a:solidFill>
        <a:effectLst/>
        <a:latin typeface="Calibri" pitchFamily="2" charset="0"/>
        <a:ea typeface="Calibri" pitchFamily="2" charset="0"/>
        <a:cs typeface="Calibri" pitchFamily="2" charset="0"/>
      </a:defRPr>
    </a:lvl9pPr>
  </p:notesStyle>
</p:notesMaster>
</file>

<file path=ppt/notesSlides/_rels/notesSlide1.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themeOverride" Target="../theme/themeOverride1.xml"/></Relationships>
</file>

<file path=ppt/notesSlides/_rels/notesSlide2.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themeOverride" Target="../theme/themeOverride2.xml"/></Relationships>
</file>

<file path=ppt/notesSlides/_rels/notesSlide3.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themeOverride" Target="../theme/themeOverride3.xml"/></Relationships>
</file>

<file path=ppt/notesSlides/_rels/notesSlide4.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themeOverride" Target="../theme/themeOverride4.xml"/></Relationships>
</file>

<file path=ppt/notesSlides/_rels/notesSlide5.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themeOverride" Target="../theme/themeOverride5.xml"/></Relationships>
</file>

<file path=ppt/notesSlides/_rels/notesSlide6.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themeOverride" Target="../theme/themeOverride6.xml"/></Relationships>
</file>

<file path=ppt/notesSlides/_rels/notesSlide7.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 Id="rId3" Type="http://schemas.openxmlformats.org/officeDocument/2006/relationships/themeOverride" Target="../theme/themeOverride7.xml"/></Relationships>
</file>

<file path=ppt/notesSlides/_rels/notesSlide8.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 Id="rId3" Type="http://schemas.openxmlformats.org/officeDocument/2006/relationships/themeOverride" Target="../theme/themeOverride8.xml"/></Relationships>
</file>

<file path=ppt/notesSlides/_rels/notesSlide9.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 Id="rId3" Type="http://schemas.openxmlformats.org/officeDocument/2006/relationships/themeOverride" Target="../theme/themeOverride9.xml"/></Relationships>
</file>

<file path=ppt/notesSlides/_rels/notesSlide10.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themeOverride" Target="../theme/themeOverride10.xml"/></Relationships>
</file>

<file path=ppt/notesSlides/_rels/notesSlide11.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themeOverride" Target="../theme/themeOverride11.xml"/></Relationships>
</file>

<file path=ppt/notesSlides/_rels/notesSlide12.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themeOverride" Target="../theme/themeOverride12.xml"/></Relationships>
</file>

<file path=ppt/notesSlides/_rels/notesSlide13.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themeOverride" Target="../theme/themeOverride13.xml"/></Relationships>
</file>

<file path=ppt/notesSlides/_rels/notesSlide14.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themeOverride" Target="../theme/themeOverride14.xml"/></Relationships>
</file>

<file path=ppt/notesSlides/_rels/notesSlide15.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themeOverride" Target="../theme/themeOverride15.xml"/></Relationships>
</file>

<file path=ppt/notesSlides/notesSlide1.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ZH+7a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pr="smNativeData" xmlns="smNativeData" val="SMDATA_15_ZH+7a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r>
              <a:rPr lang="en-us" cap="none"/>
              <a:t>SAY: Introduce yourself and the project in one line: this is a resume-screening system designed around one idea — an AI should never be trusted to judge a claim it cannot verify. Say the full name once, then use 'EGCA' from here on.</a:t>
            </a:r>
            <a:br/>
            <a:br/>
            <a:r>
              <a:rPr lang="en-us" cap="none"/>
              <a:t>REFERENCE TO CITE: None needed yet — save citations for the problem and research slides.</a:t>
            </a:r>
            <a:endParaRPr lang="en-us" cap="none"/>
          </a:p>
        </p:txBody>
      </p:sp>
      <p:sp>
        <p:nvSpPr>
          <p:cNvPr id="4" name="Slide Number Placeholder 3"/>
          <p:cNvSpPr>
            <a:spLocks noGrp="1" noChangeArrowheads="1"/>
            <a:extLst>
              <a:ext uri="smNativeData">
                <pr:smNativeData xmlns:pr="smNativeData" xmlns="smNativeData" val="SMDATA_15_ZH+7ah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fld id="{5F1EF031-7FB2-4B06-FCA6-8953BEE80ADC}" type="slidenum">
              <a:t>1</a:t>
            </a:fld>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ZH+7a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pr="smNativeData" xmlns="smNativeData" val="SMDATA_15_ZH+7a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r>
              <a:rPr lang="en-us" cap="none"/>
              <a:t>SAY: Open with the white-fonting example as a real, reported trick — not a hypothetical. Then land on the one word that ties every failure mode together: unverifiability. Keep it short; this slide is meant to hook the room, not explain the fix yet.</a:t>
            </a:r>
            <a:br/>
            <a:br/>
            <a:r>
              <a:rPr lang="en-us" cap="none"/>
              <a:t>REFERENCE TO CITE: Cite: Brown &amp; Vaishampayan (2025), arXiv:2504.06387 — cites CNBC's reporting on white-fonting and Indeed's data on resume exaggeration.</a:t>
            </a:r>
            <a:endParaRPr lang="en-us" cap="none"/>
          </a:p>
        </p:txBody>
      </p:sp>
      <p:sp>
        <p:nvSpPr>
          <p:cNvPr id="4" name="Slide Number Placeholder 3"/>
          <p:cNvSpPr>
            <a:spLocks noGrp="1" noChangeArrowheads="1"/>
            <a:extLst>
              <a:ext uri="smNativeData">
                <pr:smNativeData xmlns:pr="smNativeData" xmlns="smNativeData" val="SMDATA_15_ZH+7a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fld id="{1990AE01-4FF4-C558-BA28-B90DE0664CEC}" type="slidenum">
              <a:rPr lang="en-us" cap="none"/>
              <a:t>2</a:t>
            </a:fld>
            <a:endParaRPr lang="en-us" cap="none"/>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ZH+7a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pr="smNativeData" xmlns="smNativeData" val="SMDATA_15_ZH+7a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r>
              <a:rPr lang="en-us" cap="none"/>
              <a:t>SAY: Pick ONE example from each paper to actually say out loud — don't read all seven bullets. Recommended: Inject My PDF (it's the most vivid), the 10,765-hire zero-prediction finding (it's the most surprising), and the '3 times out of 4' policy failure (it justifies your architecture directly). Frame it as: 'these aren't my opinions — three separate, independent studies found this.'</a:t>
            </a:r>
            <a:br/>
            <a:br/>
            <a:r>
              <a:rPr lang="en-us" cap="none"/>
              <a:t>REFERENCE TO CITE: Cite all three by name and year when you introduce this slide: Brown &amp; Vaishampayan (2025), Shafiq (2026), and Kholkar &amp; Ahuja (2025). Have the arXiv numbers ready only if asked: 2504.06387, 2604.19819, 2509.23994.</a:t>
            </a:r>
            <a:endParaRPr lang="en-us" cap="none"/>
          </a:p>
        </p:txBody>
      </p:sp>
      <p:sp>
        <p:nvSpPr>
          <p:cNvPr id="4" name="Slide Number Placeholder 3"/>
          <p:cNvSpPr>
            <a:spLocks noGrp="1" noChangeArrowheads="1"/>
            <a:extLst>
              <a:ext uri="smNativeData">
                <pr:smNativeData xmlns:pr="smNativeData" xmlns="smNativeData" val="SMDATA_15_ZH+7a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fld id="{385E8DB6-F8D5-0B7B-9BE6-0E2EC3A86D5B}" type="slidenum">
              <a:rPr lang="en-us" cap="none"/>
              <a:t>3</a:t>
            </a:fld>
            <a:endParaRPr lang="en-us" cap="none"/>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ZH+7a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pr="smNativeData" xmlns="smNativeData" val="SMDATA_15_ZH+7a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r>
              <a:rPr lang="en-us" cap="none"/>
              <a:t>SAY: Say the 76% failure stat first — it's the reason the whole architecture is split into separate roles, not a stylistic choice. Then walk left to right across the four cards in one breath: reads, checks proof, enforces rules, decides order. Emphasize 'never two jobs in one place.'</a:t>
            </a:r>
            <a:br/>
            <a:br/>
            <a:r>
              <a:rPr lang="en-us" cap="none"/>
              <a:t>REFERENCE TO CITE: Cite: Kholkar &amp; Ahuja (2025) — the 24.5% Macro-F1 result (roughly a 75-76% error rate) on policy classification.</a:t>
            </a:r>
            <a:endParaRPr lang="en-us" cap="none"/>
          </a:p>
        </p:txBody>
      </p:sp>
      <p:sp>
        <p:nvSpPr>
          <p:cNvPr id="4" name="Slide Number Placeholder 3"/>
          <p:cNvSpPr>
            <a:spLocks noGrp="1" noChangeArrowheads="1"/>
            <a:extLst>
              <a:ext uri="smNativeData">
                <pr:smNativeData xmlns:pr="smNativeData" xmlns="smNativeData" val="SMDATA_15_ZH+7a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fld id="{4E1113CF-81A3-44E5-EDA9-77B05DE71B22}" type="slidenum">
              <a:rPr lang="en-us" cap="none"/>
              <a:t>4</a:t>
            </a:fld>
            <a:endParaRPr lang="en-us" cap="none"/>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ZH+7a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pr="smNativeData" xmlns="smNativeData" val="SMDATA_15_ZH+7a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r>
              <a:rPr lang="en-us" cap="none"/>
              <a:t>SAY: Name the attack directly: Inject My PDF is a real tool that exists today, not a made-up scenario. Then explain the three defenses in order — they're built specifically to close that exact hole.</a:t>
            </a:r>
            <a:br/>
            <a:br/>
            <a:r>
              <a:rPr lang="en-us" cap="none"/>
              <a:t>REFERENCE TO CITE: Cite: Brown &amp; Vaishampayan (2025), citing Greshake et al. (2023) for Inject My PDF, and CNBC's coverage of white-fonting.</a:t>
            </a:r>
            <a:endParaRPr lang="en-us" cap="none"/>
          </a:p>
        </p:txBody>
      </p:sp>
      <p:sp>
        <p:nvSpPr>
          <p:cNvPr id="4" name="Slide Number Placeholder 3"/>
          <p:cNvSpPr>
            <a:spLocks noGrp="1" noChangeArrowheads="1"/>
            <a:extLst>
              <a:ext uri="smNativeData">
                <pr:smNativeData xmlns:pr="smNativeData" xmlns="smNativeData" val="SMDATA_15_ZH+7a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fld id="{58AD4EA7-E9B5-F8B8-FB15-1FED005B0D4A}" type="slidenum">
              <a:rPr lang="en-us" cap="none"/>
              <a:t>5</a:t>
            </a:fld>
            <a:endParaRPr lang="en-us" cap="none"/>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ZH+7a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AreT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pr="smNativeData" xmlns="smNativeData" val="SMDATA_15_ZH+7a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r>
              <a:rPr lang="en-us" cap="none"/>
              <a:t>SAY: Lead with the zero-out-of-3,597 number — it's the single most persuasive stat in the whole deck. Then explain that's exactly why this stage only produces a rough sort, never a decision.</a:t>
            </a:r>
            <a:br/>
            <a:br/>
            <a:r>
              <a:rPr lang="en-us" cap="none"/>
              <a:t>REFERENCE TO CITE: Cite: Shafiq (2026), N = 10,765 hired agents at a Fortune 500 insurance company.</a:t>
            </a:r>
            <a:endParaRPr lang="en-us" cap="none"/>
          </a:p>
        </p:txBody>
      </p:sp>
      <p:sp>
        <p:nvSpPr>
          <p:cNvPr id="4" name="Slide Number Placeholder 3"/>
          <p:cNvSpPr>
            <a:spLocks noGrp="1" noChangeArrowheads="1"/>
            <a:extLst>
              <a:ext uri="smNativeData">
                <pr:smNativeData xmlns:pr="smNativeData" xmlns="smNativeData" val="SMDATA_15_ZH+7a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fld id="{0C790977-39E1-2CFF-AFC1-CFAA478F599A}" type="slidenum">
              <a:rPr lang="en-us" cap="none"/>
              <a:t>6</a:t>
            </a:fld>
            <a:endParaRPr lang="en-us" cap="none"/>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ZH+7a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pr="smNativeData" xmlns="smNativeData" val="SMDATA_15_ZH+7a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r>
              <a:rPr lang="en-us" cap="none"/>
              <a:t>SAY: Use the $22,750 figure to justify why a 'check everyone equally hard' system isn't realistic. Then explain the gate is a calculated buffer, not a guess — it's sized using real failure-rate data.</a:t>
            </a:r>
            <a:br/>
            <a:br/>
            <a:r>
              <a:rPr lang="en-us" cap="none"/>
              <a:t>REFERENCE TO CITE: Cite: Brown &amp; Vaishampayan (2025) for the per-hire hidden-cost estimate.</a:t>
            </a:r>
            <a:endParaRPr lang="en-us" cap="none"/>
          </a:p>
        </p:txBody>
      </p:sp>
      <p:sp>
        <p:nvSpPr>
          <p:cNvPr id="4" name="Slide Number Placeholder 3"/>
          <p:cNvSpPr>
            <a:spLocks noGrp="1" noChangeArrowheads="1"/>
            <a:extLst>
              <a:ext uri="smNativeData">
                <pr:smNativeData xmlns:pr="smNativeData" xmlns="smNativeData" val="SMDATA_15_ZH+7a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fld id="{2F762E0E-40C2-23D8-8CCE-B68D60807AE3}" type="slidenum">
              <a:rPr lang="en-us" cap="none"/>
              <a:t>7</a:t>
            </a:fld>
            <a:endParaRPr lang="en-us" cap="none"/>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ZH+7a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pr="smNativeData" xmlns="smNativeData" val="SMDATA_15_ZH+7a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r>
              <a:rPr lang="en-us" cap="none"/>
              <a:t>SAY: This is the heart of the system, so slow down here. Open with the 3-out-of-4 failure stat again to justify the separate rulebook, then use the 25%-lower-odds stat to justify why missing evidence is never punished — it can actively mislead in the other direction.</a:t>
            </a:r>
            <a:br/>
            <a:br/>
            <a:r>
              <a:rPr lang="en-us" cap="none"/>
              <a:t>REFERENCE TO CITE: Cite: Kholkar &amp; Ahuja (2025) for the policy-enforcement failure rate; Shafiq (2026) for the anti-predictive keywords.</a:t>
            </a:r>
            <a:endParaRPr lang="en-us" cap="none"/>
          </a:p>
        </p:txBody>
      </p:sp>
      <p:sp>
        <p:nvSpPr>
          <p:cNvPr id="4" name="Slide Number Placeholder 3"/>
          <p:cNvSpPr>
            <a:spLocks noGrp="1" noChangeArrowheads="1"/>
            <a:extLst>
              <a:ext uri="smNativeData">
                <pr:smNativeData xmlns:pr="smNativeData" xmlns="smNativeData" val="SMDATA_15_ZH+7a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fld id="{42F21D75-3BAF-A7EB-E14A-CDBE53041798}" type="slidenum">
              <a:rPr lang="en-us" cap="none"/>
              <a:t>8</a:t>
            </a:fld>
            <a:endParaRPr lang="en-us" cap="none"/>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ZH+7a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pr="smNativeData" xmlns="smNativeData" val="SMDATA_15_ZH+7a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r>
              <a:rPr lang="en-us" cap="none"/>
              <a:t>SAY: Tell the $17.7M story as a cautionary tale: this actually happened, and nobody noticed until researchers went looking. Then explain this phase is designed so that failure mode becomes visible immediately, not years later.</a:t>
            </a:r>
            <a:br/>
            <a:br/>
            <a:r>
              <a:rPr lang="en-us" cap="none"/>
              <a:t>REFERENCE TO CITE: Cite: Shafiq (2026) — the insurance-experience requirement and its $17.7M estimated cost.</a:t>
            </a:r>
            <a:endParaRPr lang="en-us" cap="none"/>
          </a:p>
        </p:txBody>
      </p:sp>
      <p:sp>
        <p:nvSpPr>
          <p:cNvPr id="4" name="Slide Number Placeholder 3"/>
          <p:cNvSpPr>
            <a:spLocks noGrp="1" noChangeArrowheads="1"/>
            <a:extLst>
              <a:ext uri="smNativeData">
                <pr:smNativeData xmlns:pr="smNativeData" xmlns="smNativeData" val="SMDATA_15_ZH+7a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fld id="{6217E999-D78F-421F-C1AF-214AA7E13774}" type="slidenum">
              <a:rPr lang="en-us" cap="none"/>
              <a:t>9</a:t>
            </a:fld>
            <a:endParaRPr lang="en-us" cap="none"/>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ZH+7a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pr="smNativeData" xmlns="smNativeData" val="SMDATA_15_ZH+7a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r>
              <a:rPr lang="en-us" cap="none"/>
              <a:t>SAY: Open with the '64% match, no explanation' complaint — most people in the room have either heard this or lived it. Then position this phase as the direct fix: every decision now comes with a reason attached.</a:t>
            </a:r>
            <a:br/>
            <a:br/>
            <a:r>
              <a:rPr lang="en-us" cap="none"/>
              <a:t>REFERENCE TO CITE: Cite: Brown &amp; Vaishampayan (2025) on candidate distrust of unexplained AI rejections.</a:t>
            </a:r>
            <a:endParaRPr lang="en-us" cap="none"/>
          </a:p>
        </p:txBody>
      </p:sp>
      <p:sp>
        <p:nvSpPr>
          <p:cNvPr id="4" name="Slide Number Placeholder 3"/>
          <p:cNvSpPr>
            <a:spLocks noGrp="1" noChangeArrowheads="1"/>
            <a:extLst>
              <a:ext uri="smNativeData">
                <pr:smNativeData xmlns:pr="smNativeData" xmlns="smNativeData" val="SMDATA_15_ZH+7a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fld id="{09EBD41F-51E4-BE22-AA53-A7779A1D5CF2}" type="slidenum">
              <a:rPr lang="en-us" cap="none"/>
              <a:t>10</a:t>
            </a:fld>
            <a:endParaRPr lang="en-us" cap="none"/>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ZH+7a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pr="smNativeData" xmlns="smNativeData" val="SMDATA_15_ZH+7a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r>
              <a:rPr lang="en-us" cap="none"/>
              <a:t>SAY: Read these as commitments, not features — say 'the system guarantees' before each one, not 'the system tries to.' These map directly to the real failures you just showed: guardrail 1 answers the 25%-lower-odds problem, guardrail 2 answers the mandatory-rule-override problem, and so on.</a:t>
            </a:r>
            <a:br/>
            <a:br/>
            <a:r>
              <a:rPr lang="en-us" cap="none"/>
              <a:t>REFERENCE TO CITE: No new citation needed — refer back to the papers already named on slides 3, 6, and 8.</a:t>
            </a:r>
            <a:endParaRPr lang="en-us" cap="none"/>
          </a:p>
        </p:txBody>
      </p:sp>
      <p:sp>
        <p:nvSpPr>
          <p:cNvPr id="4" name="Slide Number Placeholder 3"/>
          <p:cNvSpPr>
            <a:spLocks noGrp="1" noChangeArrowheads="1"/>
            <a:extLst>
              <a:ext uri="smNativeData">
                <pr:smNativeData xmlns:pr="smNativeData" xmlns="smNativeData" val="SMDATA_15_ZH+7a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E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fld id="{42AE74D3-9DAF-FB82-E116-6BD73A58173E}" type="slidenum">
              <a:rPr lang="en-us" cap="none"/>
              <a:t>11</a:t>
            </a:fld>
            <a:endParaRPr lang="en-us" cap="none"/>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ZH+7a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pr="smNativeData" xmlns="smNativeData" val="SMDATA_15_ZH+7a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r>
              <a:rPr lang="en-us" cap="none"/>
              <a:t>SAY: Say this slide plainly and without hedging — do not undersell it. A committee trusts a student more, not less, for stating limits clearly. Pause after this slide; don't rush into the next one.</a:t>
            </a:r>
            <a:br/>
            <a:br/>
            <a:r>
              <a:rPr lang="en-us" cap="none"/>
              <a:t>REFERENCE TO CITE: Cite: Brown &amp; Vaishampayan (2025) for the bias-in-AI-hiring findings (Amazon, Armstrong et al. 2024, Glazko et al. 2024) as the reason fairness is explicitly out of scope.</a:t>
            </a:r>
            <a:endParaRPr lang="en-us" cap="none"/>
          </a:p>
        </p:txBody>
      </p:sp>
      <p:sp>
        <p:nvSpPr>
          <p:cNvPr id="4" name="Slide Number Placeholder 3"/>
          <p:cNvSpPr>
            <a:spLocks noGrp="1" noChangeArrowheads="1"/>
            <a:extLst>
              <a:ext uri="smNativeData">
                <pr:smNativeData xmlns:pr="smNativeData" xmlns="smNativeData" val="SMDATA_15_ZH+7a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fld id="{74A37D65-2B99-F68B-D71B-DDDE33552188}" type="slidenum">
              <a:rPr lang="en-us" cap="none"/>
              <a:t>12</a:t>
            </a:fld>
            <a:endParaRPr lang="en-us" cap="none"/>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ZH+7a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pr="smNativeData" xmlns="smNativeData" val="SMDATA_15_ZH+7a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r>
              <a:rPr lang="en-us" cap="none"/>
              <a:t>SAY: Use this as a recap, not new material — point at each box left to right and say its one-line job in under five seconds each. This is the slide to linger on if you're asked 'can you walk me through the whole thing again.'</a:t>
            </a:r>
            <a:br/>
            <a:br/>
            <a:r>
              <a:rPr lang="en-us" cap="none"/>
              <a:t>REFERENCE TO CITE: No new citation — this summarizes slides 5 through 10.</a:t>
            </a:r>
            <a:endParaRPr lang="en-us" cap="none"/>
          </a:p>
        </p:txBody>
      </p:sp>
      <p:sp>
        <p:nvSpPr>
          <p:cNvPr id="4" name="Slide Number Placeholder 3"/>
          <p:cNvSpPr>
            <a:spLocks noGrp="1" noChangeArrowheads="1"/>
            <a:extLst>
              <a:ext uri="smNativeData">
                <pr:smNativeData xmlns:pr="smNativeData" xmlns="smNativeData" val="SMDATA_15_ZH+7a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fld id="{35B65BFA-B4D8-E3AD-960E-42F815406017}" type="slidenum">
              <a:rPr lang="en-us" cap="none"/>
              <a:t>13</a:t>
            </a:fld>
            <a:endParaRPr lang="en-us" cap="none"/>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ZH+7a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EnH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pr="smNativeData" xmlns="smNativeData" val="SMDATA_15_ZH+7a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EnH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r>
              <a:rPr lang="en-us" cap="none"/>
              <a:t>SAY: Slow down and deliver this as your closing line, not another bullet point. Pause briefly before it. This is the sentence you want the committee to remember after everything else fades.</a:t>
            </a:r>
            <a:br/>
            <a:br/>
            <a:r>
              <a:rPr lang="en-us" cap="none"/>
              <a:t>REFERENCE TO CITE: None — this is your own synthesis of the three papers, say so explicitly if asked.</a:t>
            </a:r>
            <a:endParaRPr lang="en-us" cap="none"/>
          </a:p>
        </p:txBody>
      </p:sp>
      <p:sp>
        <p:nvSpPr>
          <p:cNvPr id="4" name="Slide Number Placeholder 3"/>
          <p:cNvSpPr>
            <a:spLocks noGrp="1" noChangeArrowheads="1"/>
            <a:extLst>
              <a:ext uri="smNativeData">
                <pr:smNativeData xmlns:pr="smNativeData" xmlns="smNativeData" val="SMDATA_15_ZH+7a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fld id="{5C84ED85-CBB1-D11B-FF3C-3D4EA3720968}" type="slidenum">
              <a:rPr lang="en-us" cap="none"/>
              <a:t>14</a:t>
            </a:fld>
            <a:endParaRPr lang="en-us" cap="none"/>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ZH+7a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pr="smNativeData" xmlns="smNativeData" val="SMDATA_15_ZH+7ah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r>
              <a:rPr lang="en-us" cap="none"/>
              <a:t>SAY: If asked which paper you'd point a skeptic to first, lead with Shafiq (2026) — it's the only one with real hiring outcomes at scale, not just documented failures.</a:t>
            </a:r>
            <a:br/>
            <a:br/>
            <a:r>
              <a:rPr lang="en-us" cap="none"/>
              <a:t>REFERENCE TO CITE: Have all three full citations ready: Brown &amp; Vaishampayan (2025) arXiv:2504.06387; Shafiq (2026) arXiv:2604.19819; Kholkar &amp; Ahuja (2025) arXiv:2509.23994.</a:t>
            </a:r>
            <a:endParaRPr lang="en-us" cap="none"/>
          </a:p>
        </p:txBody>
      </p:sp>
      <p:sp>
        <p:nvSpPr>
          <p:cNvPr id="4" name="Slide Number Placeholder 3"/>
          <p:cNvSpPr>
            <a:spLocks noGrp="1" noChangeArrowheads="1"/>
            <a:extLst>
              <a:ext uri="smNativeData">
                <pr:smNativeData xmlns:pr="smNativeData" xmlns="smNativeData" val="SMDATA_15_ZH+7ahMAAAAlAAAAZAAAAA0AAAAAkAAAAEgAAACQAAAAS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fld id="{521561D1-9FBF-4097-F1AD-69C22FE3073C}" type="slidenum">
              <a:rPr lang="en-us" cap="none"/>
              <a:t>15</a:t>
            </a:fld>
            <a:endParaRPr lang="en-us" cap="none"/>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reserve="1">
  <p:cSld name="DEFAULT">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marL="0" marR="0" indent="0" algn="ctr" defTabSz="914400">
        <a:lnSpc>
          <a:spcPct val="100000"/>
        </a:lnSpc>
        <a:spcBef>
          <a:spcPts val="0"/>
        </a:spcBef>
        <a:spcAft>
          <a:spcPts val="0"/>
        </a:spcAft>
        <a:buNone/>
        <a:tabLst/>
        <a:defRPr sz="4400" b="0" i="0" u="none" strike="noStrike" kern="1" cap="none" spc="0" baseline="0">
          <a:solidFill>
            <a:schemeClr val="tx1"/>
          </a:solidFill>
          <a:effectLst/>
          <a:latin typeface="Calibri Light" pitchFamily="0" charset="0"/>
          <a:ea typeface="Calibri Light" pitchFamily="0" charset="0"/>
          <a:cs typeface="Calibri Light" pitchFamily="0"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Calibri" pitchFamily="2" charset="0"/>
          <a:cs typeface="Calibri" pitchFamily="2" charset="0"/>
        </a:defRPr>
      </a:lvl9pPr>
    </p:titleStyle>
    <p:bodyStyle>
      <a:lvl1pPr marL="342900" marR="0" indent="-342900" algn="l" defTabSz="914400">
        <a:lnSpc>
          <a:spcPct val="100000"/>
        </a:lnSpc>
        <a:spcBef>
          <a:spcPts val="0"/>
        </a:spcBef>
        <a:spcAft>
          <a:spcPts val="0"/>
        </a:spcAft>
        <a:buClrTx/>
        <a:buSzTx/>
        <a:buFont typeface="Arial" pitchFamily="2" charset="0"/>
        <a:buChar char="•"/>
        <a:tabLst/>
        <a:defRPr sz="3200" b="0" i="0" u="none" strike="noStrike" kern="1" cap="none" spc="0" baseline="0">
          <a:solidFill>
            <a:schemeClr val="tx1"/>
          </a:solidFill>
          <a:effectLst/>
          <a:latin typeface="Calibri" pitchFamily="2" charset="0"/>
          <a:ea typeface="Calibri" pitchFamily="2" charset="0"/>
          <a:cs typeface="Calibri" pitchFamily="2" charset="0"/>
        </a:defRPr>
      </a:lvl1pPr>
      <a:lvl2pPr marL="742950" marR="0" indent="-285750" algn="l" defTabSz="914400">
        <a:lnSpc>
          <a:spcPct val="100000"/>
        </a:lnSpc>
        <a:spcBef>
          <a:spcPts val="0"/>
        </a:spcBef>
        <a:spcAft>
          <a:spcPts val="0"/>
        </a:spcAft>
        <a:buClrTx/>
        <a:buSzTx/>
        <a:buFont typeface="Arial" pitchFamily="2" charset="0"/>
        <a:buChar char="–"/>
        <a:tabLst/>
        <a:defRPr sz="2800" b="0" i="0" u="none" strike="noStrike" kern="1" cap="none" spc="0" baseline="0">
          <a:solidFill>
            <a:schemeClr val="tx1"/>
          </a:solidFill>
          <a:effectLst/>
          <a:latin typeface="Calibri" pitchFamily="2" charset="0"/>
          <a:ea typeface="Calibri" pitchFamily="2" charset="0"/>
          <a:cs typeface="Calibri" pitchFamily="2" charset="0"/>
        </a:defRPr>
      </a:lvl2pPr>
      <a:lvl3pPr marL="1143000" marR="0" indent="-228600" algn="l" defTabSz="914400">
        <a:lnSpc>
          <a:spcPct val="100000"/>
        </a:lnSpc>
        <a:spcBef>
          <a:spcPts val="0"/>
        </a:spcBef>
        <a:spcAft>
          <a:spcPts val="0"/>
        </a:spcAft>
        <a:buClrTx/>
        <a:buSzTx/>
        <a:buFont typeface="Arial" pitchFamily="2" charset="0"/>
        <a:buChar char="•"/>
        <a:tabLst/>
        <a:defRPr sz="2400" b="0" i="0" u="none" strike="noStrike" kern="1" cap="none" spc="0" baseline="0">
          <a:solidFill>
            <a:schemeClr val="tx1"/>
          </a:solidFill>
          <a:effectLst/>
          <a:latin typeface="Calibri" pitchFamily="2" charset="0"/>
          <a:ea typeface="Calibri" pitchFamily="2" charset="0"/>
          <a:cs typeface="Calibri" pitchFamily="2" charset="0"/>
        </a:defRPr>
      </a:lvl3pPr>
      <a:lvl4pPr marL="1600200" marR="0" indent="-228600" algn="l" defTabSz="914400">
        <a:lnSpc>
          <a:spcPct val="100000"/>
        </a:lnSpc>
        <a:spcBef>
          <a:spcPts val="0"/>
        </a:spcBef>
        <a:spcAft>
          <a:spcPts val="0"/>
        </a:spcAft>
        <a:buClrTx/>
        <a:buSzTx/>
        <a:buFont typeface="Arial" pitchFamily="2" charset="0"/>
        <a:buChar char="–"/>
        <a:tabLst/>
        <a:defRPr sz="2000" b="0" i="0" u="none" strike="noStrike" kern="1" cap="none" spc="0" baseline="0">
          <a:solidFill>
            <a:schemeClr val="tx1"/>
          </a:solidFill>
          <a:effectLst/>
          <a:latin typeface="Calibri" pitchFamily="2" charset="0"/>
          <a:ea typeface="Calibri" pitchFamily="2" charset="0"/>
          <a:cs typeface="Calibri" pitchFamily="2" charset="0"/>
        </a:defRPr>
      </a:lvl4pPr>
      <a:lvl5pPr marL="2057400" marR="0" indent="-228600" algn="l" defTabSz="914400">
        <a:lnSpc>
          <a:spcPct val="100000"/>
        </a:lnSpc>
        <a:spcBef>
          <a:spcPts val="0"/>
        </a:spcBef>
        <a:spcAft>
          <a:spcPts val="0"/>
        </a:spcAft>
        <a:buClrTx/>
        <a:buSzTx/>
        <a:buFont typeface="Arial" pitchFamily="2" charset="0"/>
        <a:buChar char="»"/>
        <a:tabLst/>
        <a:defRPr sz="2000" b="0" i="0" u="none" strike="noStrike" kern="1" cap="none" spc="0" baseline="0">
          <a:solidFill>
            <a:schemeClr val="tx1"/>
          </a:solidFill>
          <a:effectLst/>
          <a:latin typeface="Calibri" pitchFamily="2" charset="0"/>
          <a:ea typeface="Calibri" pitchFamily="2" charset="0"/>
          <a:cs typeface="Calibri" pitchFamily="2" charset="0"/>
        </a:defRPr>
      </a:lvl5pPr>
      <a:lvl6pPr marL="2514600" marR="0" indent="-228600" algn="l" defTabSz="914400">
        <a:lnSpc>
          <a:spcPct val="100000"/>
        </a:lnSpc>
        <a:spcBef>
          <a:spcPts val="0"/>
        </a:spcBef>
        <a:spcAft>
          <a:spcPts val="0"/>
        </a:spcAft>
        <a:buClrTx/>
        <a:buSzTx/>
        <a:buFont typeface="Arial" pitchFamily="2" charset="0"/>
        <a:buChar char="•"/>
        <a:tabLst/>
        <a:defRPr sz="2000" b="0" i="0" u="none" strike="noStrike" kern="1" cap="none" spc="0" baseline="0">
          <a:solidFill>
            <a:schemeClr val="tx1"/>
          </a:solidFill>
          <a:effectLst/>
          <a:latin typeface="Calibri" pitchFamily="2" charset="0"/>
          <a:ea typeface="Calibri" pitchFamily="2" charset="0"/>
          <a:cs typeface="Calibri" pitchFamily="2" charset="0"/>
        </a:defRPr>
      </a:lvl6pPr>
      <a:lvl7pPr marL="2971800" marR="0" indent="-228600" algn="l" defTabSz="914400">
        <a:lnSpc>
          <a:spcPct val="100000"/>
        </a:lnSpc>
        <a:spcBef>
          <a:spcPts val="0"/>
        </a:spcBef>
        <a:spcAft>
          <a:spcPts val="0"/>
        </a:spcAft>
        <a:buClrTx/>
        <a:buSzTx/>
        <a:buFont typeface="Arial" pitchFamily="2" charset="0"/>
        <a:buChar char="•"/>
        <a:tabLst/>
        <a:defRPr sz="2000" b="0" i="0" u="none" strike="noStrike" kern="1" cap="none" spc="0" baseline="0">
          <a:solidFill>
            <a:schemeClr val="tx1"/>
          </a:solidFill>
          <a:effectLst/>
          <a:latin typeface="Calibri" pitchFamily="2" charset="0"/>
          <a:ea typeface="Calibri" pitchFamily="2" charset="0"/>
          <a:cs typeface="Calibri" pitchFamily="2" charset="0"/>
        </a:defRPr>
      </a:lvl7pPr>
      <a:lvl8pPr marL="3429000" marR="0" indent="-228600" algn="l" defTabSz="914400">
        <a:lnSpc>
          <a:spcPct val="100000"/>
        </a:lnSpc>
        <a:spcBef>
          <a:spcPts val="0"/>
        </a:spcBef>
        <a:spcAft>
          <a:spcPts val="0"/>
        </a:spcAft>
        <a:buClrTx/>
        <a:buSzTx/>
        <a:buFont typeface="Arial" pitchFamily="2" charset="0"/>
        <a:buChar char="•"/>
        <a:tabLst/>
        <a:defRPr sz="2000" b="0" i="0" u="none" strike="noStrike" kern="1" cap="none" spc="0" baseline="0">
          <a:solidFill>
            <a:schemeClr val="tx1"/>
          </a:solidFill>
          <a:effectLst/>
          <a:latin typeface="Calibri" pitchFamily="2" charset="0"/>
          <a:ea typeface="Calibri" pitchFamily="2" charset="0"/>
          <a:cs typeface="Calibri" pitchFamily="2" charset="0"/>
        </a:defRPr>
      </a:lvl8pPr>
      <a:lvl9pPr marL="3886200" marR="0" indent="-228600" algn="l" defTabSz="914400">
        <a:lnSpc>
          <a:spcPct val="100000"/>
        </a:lnSpc>
        <a:spcBef>
          <a:spcPts val="0"/>
        </a:spcBef>
        <a:spcAft>
          <a:spcPts val="0"/>
        </a:spcAft>
        <a:buClrTx/>
        <a:buSzTx/>
        <a:buFont typeface="Arial" pitchFamily="2" charset="0"/>
        <a:buChar char="•"/>
        <a:tabLst/>
        <a:defRPr sz="2000" b="0" i="0" u="none" strike="noStrike" kern="1" cap="none" spc="0" baseline="0">
          <a:solidFill>
            <a:schemeClr val="tx1"/>
          </a:solidFill>
          <a:effectLst/>
          <a:latin typeface="Calibri" pitchFamily="2" charset="0"/>
          <a:ea typeface="Calibri" pitchFamily="2" charset="0"/>
          <a:cs typeface="Calibri" pitchFamily="2" charset="0"/>
        </a:defRPr>
      </a:lvl9pPr>
    </p:bodyStyle>
    <p:other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otherStyle>
  </p:txStyles>
</p:sldMaster>
</file>

<file path=ppt/slides/_rels/slide1.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MCEAAHgGAADoKQAAMA8AABAAAAAmAAAACAAAAP//////////"/>
              </a:ext>
            </a:extLst>
          </p:cNvSpPr>
          <p:nvPr/>
        </p:nvSpPr>
        <p:spPr>
          <a:xfrm>
            <a:off x="5394960" y="1051560"/>
            <a:ext cx="1417320" cy="1417320"/>
          </a:xfrm>
          <a:prstGeom prst="ellipse">
            <a:avLst/>
          </a:prstGeom>
          <a:solidFill>
            <a:srgbClr val="C98A2C"/>
          </a:solidFill>
          <a:ln>
            <a:noFill/>
          </a:ln>
          <a:effectLst/>
        </p:spPr>
      </p:sp>
      <p:sp>
        <p:nvSpPr>
          <p:cNvPr id="3" name="Text 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MCEAAHgGAADoKQAAMA8AABAAAAAmAAAACAAAAP//////////"/>
              </a:ext>
            </a:extLst>
          </p:cNvSpPr>
          <p:nvPr/>
        </p:nvSpPr>
        <p:spPr>
          <a:xfrm>
            <a:off x="5394960" y="1051560"/>
            <a:ext cx="1417320" cy="1417320"/>
          </a:xfrm>
          <a:prstGeom prst="rect">
            <a:avLst/>
          </a:prstGeom>
          <a:noFill/>
          <a:ln>
            <a:noFill/>
          </a:ln>
          <a:effectLst/>
        </p:spPr>
        <p:txBody>
          <a:bodyPr vert="horz" wrap="square" lIns="0" tIns="0" rIns="0" bIns="0" numCol="1" spcCol="215900" anchor="ctr"/>
          <a:lstStyle/>
          <a:p>
            <a:pPr marL="0" indent="0" algn="ctr">
              <a:buNone/>
            </a:pPr>
            <a:r>
              <a:rPr lang="en-us" sz="4800" b="1" cap="none">
                <a:solidFill>
                  <a:srgbClr val="1E2761"/>
                </a:solidFill>
                <a:latin typeface="Cambria" pitchFamily="2" charset="0"/>
                <a:ea typeface="Cambria" pitchFamily="2" charset="0"/>
                <a:cs typeface="Cambria" pitchFamily="2" charset="0"/>
              </a:rPr>
              <a:t>✓</a:t>
            </a:r>
            <a:endParaRPr lang="en-us" sz="4800" cap="none"/>
          </a:p>
        </p:txBody>
      </p:sp>
      <p:sp>
        <p:nvSpPr>
          <p:cNvPr id="4" name="Text 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BvVA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CgRAAArSAAAWBcAABAAAAAmAAAACAAAAP//////////"/>
              </a:ext>
            </a:extLst>
          </p:cNvSpPr>
          <p:nvPr/>
        </p:nvSpPr>
        <p:spPr>
          <a:xfrm>
            <a:off x="457200" y="2788920"/>
            <a:ext cx="11274425" cy="1005840"/>
          </a:xfrm>
          <a:prstGeom prst="rect">
            <a:avLst/>
          </a:prstGeom>
          <a:noFill/>
          <a:ln>
            <a:noFill/>
          </a:ln>
          <a:effectLst/>
        </p:spPr>
        <p:txBody>
          <a:bodyPr vert="horz" wrap="square" lIns="0" tIns="0" rIns="0" bIns="0" numCol="1" spcCol="215900" anchor="ctr"/>
          <a:lstStyle/>
          <a:p>
            <a:pPr marL="0" indent="0" algn="ctr">
              <a:buNone/>
            </a:pPr>
            <a:r>
              <a:rPr lang="en-us" sz="5400" b="1" cap="none">
                <a:solidFill>
                  <a:srgbClr val="FFFFFF"/>
                </a:solidFill>
                <a:latin typeface="Cambria" pitchFamily="2" charset="0"/>
                <a:ea typeface="Cambria" pitchFamily="2" charset="0"/>
                <a:cs typeface="Cambria" pitchFamily="2" charset="0"/>
              </a:rPr>
              <a:t>EGCA</a:t>
            </a:r>
            <a:endParaRPr lang="en-us" sz="5400" cap="none"/>
          </a:p>
        </p:txBody>
      </p:sp>
      <p:sp>
        <p:nvSpPr>
          <p:cNvPr id="5" name="Text 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MgWAAArSAAA4BkAABAAAAAmAAAACAAAAP//////////"/>
              </a:ext>
            </a:extLst>
          </p:cNvSpPr>
          <p:nvPr/>
        </p:nvSpPr>
        <p:spPr>
          <a:xfrm>
            <a:off x="457200" y="3703320"/>
            <a:ext cx="11274425" cy="502920"/>
          </a:xfrm>
          <a:prstGeom prst="rect">
            <a:avLst/>
          </a:prstGeom>
          <a:noFill/>
          <a:ln>
            <a:noFill/>
          </a:ln>
          <a:effectLst/>
        </p:spPr>
        <p:txBody>
          <a:bodyPr vert="horz" wrap="square" lIns="0" tIns="0" rIns="0" bIns="0" numCol="1" spcCol="215900" anchor="ctr"/>
          <a:lstStyle/>
          <a:p>
            <a:pPr marL="0" indent="0" algn="ctr">
              <a:buNone/>
            </a:pPr>
            <a:r>
              <a:rPr lang="en-us" sz="2200" cap="none">
                <a:solidFill>
                  <a:srgbClr val="CADCFC"/>
                </a:solidFill>
              </a:rPr>
              <a:t>Evidence-Governed Candidate Assessment</a:t>
            </a:r>
            <a:endParaRPr lang="en-us" sz="2200" cap="none"/>
          </a:p>
        </p:txBody>
      </p:sp>
      <p:sp>
        <p:nvSpPr>
          <p:cNvPr id="6" name="Text 4"/>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CgaAAArSAAA+BwAABAAAAAmAAAACAAAAP//////////"/>
              </a:ext>
            </a:extLst>
          </p:cNvSpPr>
          <p:nvPr/>
        </p:nvSpPr>
        <p:spPr>
          <a:xfrm>
            <a:off x="457200" y="4251960"/>
            <a:ext cx="11274425" cy="457200"/>
          </a:xfrm>
          <a:prstGeom prst="rect">
            <a:avLst/>
          </a:prstGeom>
          <a:noFill/>
          <a:ln>
            <a:noFill/>
          </a:ln>
          <a:effectLst/>
        </p:spPr>
        <p:txBody>
          <a:bodyPr vert="horz" wrap="square" lIns="0" tIns="0" rIns="0" bIns="0" numCol="1" spcCol="215900" anchor="ctr"/>
          <a:lstStyle/>
          <a:p>
            <a:pPr marL="0" indent="0" algn="ctr">
              <a:buNone/>
            </a:pPr>
            <a:r>
              <a:rPr lang="en-us" sz="1500" i="1" cap="none">
                <a:solidFill>
                  <a:srgbClr val="8A93A6"/>
                </a:solidFill>
              </a:rPr>
              <a:t>Teaching AI Resume Screening to Ask for Proof — Not Just Listen</a:t>
            </a:r>
            <a:endParaRPr lang="en-us" sz="1500" cap="none"/>
          </a:p>
        </p:txBody>
      </p:sp>
      <p:sp>
        <p:nvSpPr>
          <p:cNvPr id="7" name="Text 5"/>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NgkAAArSAAAGCcAAAAAAAAmAAAACAAAAP//////////"/>
              </a:ext>
            </a:extLst>
          </p:cNvSpPr>
          <p:nvPr/>
        </p:nvSpPr>
        <p:spPr>
          <a:xfrm>
            <a:off x="457200" y="5989320"/>
            <a:ext cx="11274425" cy="365760"/>
          </a:xfrm>
          <a:prstGeom prst="rect">
            <a:avLst/>
          </a:prstGeom>
          <a:noFill/>
          <a:ln>
            <a:noFill/>
          </a:ln>
          <a:effectLst/>
        </p:spPr>
        <p:txBody>
          <a:bodyPr vert="horz" wrap="square" lIns="0" tIns="0" rIns="0" bIns="0" numCol="1" spcCol="215900" anchor="ctr"/>
          <a:lstStyle/>
          <a:p>
            <a:pPr marL="0" indent="0" algn="ctr">
              <a:buNone/>
            </a:pPr>
            <a:r>
              <a:rPr lang="en-us" sz="1200" cap="none">
                <a:solidFill>
                  <a:srgbClr val="8A93A6"/>
                </a:solidFill>
              </a:rPr>
              <a:t>B.Tech Computer Science &amp; Engineering  ·  Minor Research Project  ·  2026–27</a:t>
            </a:r>
            <a:endParaRPr lang="en-us" sz="1200" cap="none">
              <a:solidFill>
                <a:srgbClr val="8A93A6"/>
              </a:solidFill>
            </a:endParaRPr>
          </a:p>
        </p:txBody>
      </p:sp>
    </p:spTree>
  </p:cSld>
  <p:clrMapOvr>
    <a:masterClrMapping/>
  </p:clrMapOvr>
  <p:timing>
    <p:tnLst>
      <p:par>
        <p:cTn id="1" dur="indefinite" restart="never" nodeType="tmRoot"/>
      </p:par>
    </p:tnLst>
  </p:timing>
</p:sld>
</file>

<file path=ppt/slides/slide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IgCAADgRgAAgAQAABAAAAAmAAAACAAAAP//////////"/>
              </a:ext>
            </a:extLst>
          </p:cNvSpPr>
          <p:nvPr/>
        </p:nvSpPr>
        <p:spPr>
          <a:xfrm>
            <a:off x="548640" y="411480"/>
            <a:ext cx="10972800" cy="320040"/>
          </a:xfrm>
          <a:prstGeom prst="rect">
            <a:avLst/>
          </a:prstGeom>
          <a:noFill/>
          <a:ln>
            <a:noFill/>
          </a:ln>
          <a:effectLst/>
        </p:spPr>
        <p:txBody>
          <a:bodyPr vert="horz" wrap="square" lIns="0" tIns="0" rIns="0" bIns="0" numCol="1" spcCol="215900" anchor="ctr"/>
          <a:lstStyle/>
          <a:p>
            <a:pPr marL="0" indent="0">
              <a:buNone/>
            </a:pPr>
            <a:r>
              <a:rPr lang="en-us" sz="1300" b="1" cap="none" spc="40">
                <a:solidFill>
                  <a:srgbClr val="C98A2C"/>
                </a:solidFill>
              </a:rPr>
              <a:t>THE PROBLEM</a:t>
            </a:r>
            <a:endParaRPr lang="en-us" sz="1300" cap="none"/>
          </a:p>
        </p:txBody>
      </p:sp>
      <p:sp>
        <p:nvSpPr>
          <p:cNvPr id="3" name="Text 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GMEAABwRwAAcwkAABAAAAAmAAAACAAAAP//////////"/>
              </a:ext>
            </a:extLst>
          </p:cNvSpPr>
          <p:nvPr/>
        </p:nvSpPr>
        <p:spPr>
          <a:xfrm>
            <a:off x="548640" y="713105"/>
            <a:ext cx="11064240" cy="822960"/>
          </a:xfrm>
          <a:prstGeom prst="rect">
            <a:avLst/>
          </a:prstGeom>
          <a:noFill/>
          <a:ln>
            <a:noFill/>
          </a:ln>
          <a:effectLst/>
        </p:spPr>
        <p:txBody>
          <a:bodyPr vert="horz" wrap="square" lIns="0" tIns="0" rIns="0" bIns="0" numCol="1" spcCol="215900" anchor="ctr"/>
          <a:lstStyle/>
          <a:p>
            <a:pPr marL="0" indent="0">
              <a:buNone/>
            </a:pPr>
            <a:r>
              <a:rPr lang="en-us" sz="3000" b="1" cap="none">
                <a:solidFill>
                  <a:srgbClr val="1E2761"/>
                </a:solidFill>
                <a:latin typeface="Cambria" pitchFamily="2" charset="0"/>
                <a:ea typeface="Cambria" pitchFamily="2" charset="0"/>
                <a:cs typeface="Cambria" pitchFamily="2" charset="0"/>
              </a:rPr>
              <a:t>Why Resume Screening Keeps Getting It Wrong</a:t>
            </a:r>
            <a:endParaRPr lang="en-us" sz="3000" cap="none"/>
          </a:p>
        </p:txBody>
      </p:sp>
      <p:sp>
        <p:nvSpPr>
          <p:cNvPr id="4" name="Shape 2"/>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Hidh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dhAP///wEAAAAAAAAAAAAAAAAAAAAAAAAAAAAAAAAAAAAAAAAAAAAAAAB/f38A5+bmA8zMzADAwP8Af39/AAAAAAAAAAAAAAAAAAAAAAAAAAAAIQAAABgAAAAUAAAA8AMAAEALAABACwAAkBIAABAAAAAmAAAACAAAAP//////////"/>
              </a:ext>
            </a:extLst>
          </p:cNvSpPr>
          <p:nvPr/>
        </p:nvSpPr>
        <p:spPr>
          <a:xfrm>
            <a:off x="640080" y="1828800"/>
            <a:ext cx="1188720" cy="1188720"/>
          </a:xfrm>
          <a:prstGeom prst="ellipse">
            <a:avLst/>
          </a:prstGeom>
          <a:solidFill>
            <a:srgbClr val="1E2761"/>
          </a:solidFill>
          <a:ln>
            <a:noFill/>
          </a:ln>
          <a:effectLst/>
        </p:spPr>
      </p:sp>
      <p:sp>
        <p:nvSpPr>
          <p:cNvPr id="5" name="Text 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8AMAAEALAABACwAAkBIAABAAAAAmAAAACAAAAP//////////"/>
              </a:ext>
            </a:extLst>
          </p:cNvSpPr>
          <p:nvPr/>
        </p:nvSpPr>
        <p:spPr>
          <a:xfrm>
            <a:off x="640080" y="1828800"/>
            <a:ext cx="1188720" cy="1188720"/>
          </a:xfrm>
          <a:prstGeom prst="rect">
            <a:avLst/>
          </a:prstGeom>
          <a:noFill/>
          <a:ln>
            <a:noFill/>
          </a:ln>
          <a:effectLst/>
        </p:spPr>
        <p:txBody>
          <a:bodyPr vert="horz" wrap="square" lIns="0" tIns="0" rIns="0" bIns="0" numCol="1" spcCol="215900" anchor="ctr"/>
          <a:lstStyle/>
          <a:p>
            <a:pPr marL="0" indent="0" algn="ctr">
              <a:buNone/>
            </a:pPr>
            <a:r>
              <a:rPr lang="en-us" sz="4400" b="1" cap="none">
                <a:solidFill>
                  <a:srgbClr val="FFFFFF"/>
                </a:solidFill>
                <a:latin typeface="Cambria" pitchFamily="2" charset="0"/>
                <a:ea typeface="Cambria" pitchFamily="2" charset="0"/>
                <a:cs typeface="Cambria" pitchFamily="2" charset="0"/>
              </a:rPr>
              <a:t>!</a:t>
            </a:r>
            <a:endParaRPr lang="en-us" sz="4400" cap="none"/>
          </a:p>
        </p:txBody>
      </p:sp>
      <p:sp>
        <p:nvSpPr>
          <p:cNvPr id="6" name="Shape 4"/>
          <p:cNvSpPr>
            <a:extLst>
              <a:ext uri="smNativeData">
                <pr:smNativeData xmlns:pr="smNativeData" xmlns="smNativeData" val="SMDATA_15_ZH+7ahMAAAAlAAAAZQAAAA0AAAAAkAAAAEgAAACQAAAASAAAAAAAAAAAAAAAAAAAAAEAAABQAAAAhhvw+WGEwD8AAAAAAADwvwAAAAAAAOA/AAAAAAAA4D8AAAAAAADgPwAAAAAAAOA/AAAAAAAA4D8AAAAAAADgPwAAAAAAAOA/AAAAAAAA4D8CAAAAjAAAAAEAAAAAAAAAytz8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tz8AP///wEAAAAAAAAAAAAAAAAAAAAAAAAAAAAAAAAAAAAAAAAAAAAAAAB/f38A5+bmA8zMzADAwP8Af39/AAAAAAAAAAAAAAAAAAAAAAAAAAAAIQAAABgAAAAUAAAAOA0AAGgKAAAoRwAAIBMAABAAAAAmAAAACAAAAP//////////"/>
              </a:ext>
            </a:extLst>
          </p:cNvSpPr>
          <p:nvPr/>
        </p:nvSpPr>
        <p:spPr>
          <a:xfrm>
            <a:off x="2148840" y="1691640"/>
            <a:ext cx="9418320" cy="1417320"/>
          </a:xfrm>
          <a:prstGeom prst="roundRect">
            <a:avLst>
              <a:gd name="adj" fmla="val 6452"/>
            </a:avLst>
          </a:prstGeom>
          <a:solidFill>
            <a:srgbClr val="CADCFC"/>
          </a:solidFill>
          <a:ln>
            <a:noFill/>
          </a:ln>
          <a:effectLst/>
        </p:spPr>
      </p:sp>
      <p:sp>
        <p:nvSpPr>
          <p:cNvPr id="7" name="Text 5"/>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4AABULAADARQAAZRIAABAAAAAmAAAACAAAAP//////////"/>
              </a:ext>
            </a:extLst>
          </p:cNvSpPr>
          <p:nvPr/>
        </p:nvSpPr>
        <p:spPr>
          <a:xfrm>
            <a:off x="2377440" y="1801495"/>
            <a:ext cx="8961120" cy="1188720"/>
          </a:xfrm>
          <a:prstGeom prst="rect">
            <a:avLst/>
          </a:prstGeom>
          <a:noFill/>
          <a:ln>
            <a:noFill/>
          </a:ln>
          <a:effectLst/>
        </p:spPr>
        <p:txBody>
          <a:bodyPr vert="horz" wrap="square" lIns="0" tIns="0" rIns="0" bIns="0" numCol="1" spcCol="215900" anchor="ctr"/>
          <a:lstStyle/>
          <a:p>
            <a:pPr marL="0" indent="0">
              <a:lnSpc>
                <a:spcPct val="112000"/>
              </a:lnSpc>
              <a:buNone/>
            </a:pPr>
            <a:r>
              <a:rPr lang="en-us" sz="1500" b="1" cap="none">
                <a:solidFill>
                  <a:srgbClr val="1E2761"/>
                </a:solidFill>
              </a:rPr>
              <a:t>Real, documented tricks: candidates have written resume keywords in white text — invisible to a human, but read perfectly by screening software. Separately, roughly 4 in 10 resumes are known to contain some exaggeration or falsification.</a:t>
            </a:r>
            <a:endParaRPr lang="en-us" sz="1500" b="1" cap="none">
              <a:solidFill>
                <a:srgbClr val="1E2761"/>
              </a:solidFill>
            </a:endParaRPr>
          </a:p>
        </p:txBody>
      </p:sp>
      <p:sp>
        <p:nvSpPr>
          <p:cNvPr id="8" name="Shape 6"/>
          <p:cNvSpPr>
            <a:extLst>
              <a:ext uri="smNativeData">
                <pr:smNativeData xmlns:pr="smNativeData" xmlns="smNativeData" val="SMDATA_15_ZH+7ahMAAAAlAAAAZQAAAA0AAAAAkAAAAEgAAACQAAAASAAAAAAAAAAAAAAAAAAAAAEAAABQAAAAAyZw626ewj8AAAAAAADwvwAAAAAAAOA/AAAAAAAA4D8AAAAAAADgPwAAAAAAAOA/AAAAAAAA4D8AAAAAAADgPwAAAAAAAOA/AAAAAAAA4D8CAAAAjAAAAAEAAAAAAAAAHidh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dhAP///wEAAAAAAAAAAAAAAAAAAAAAAAAAAAAAAAAAAAAAAAAAAAAAAAB/f38A5+bmA8zMzADAwP8Af39/AAAAAAAAAAAAAAAAAAAAAAAAAAAAIQAAABgAAAAUAAAA8AMAAJgZAAALRwAA4CIAABAAAAAmAAAACAAAAP//////////"/>
              </a:ext>
            </a:extLst>
          </p:cNvSpPr>
          <p:nvPr/>
        </p:nvSpPr>
        <p:spPr>
          <a:xfrm>
            <a:off x="640080" y="4160520"/>
            <a:ext cx="10908665" cy="1508760"/>
          </a:xfrm>
          <a:prstGeom prst="roundRect">
            <a:avLst>
              <a:gd name="adj" fmla="val 7273"/>
            </a:avLst>
          </a:prstGeom>
          <a:solidFill>
            <a:srgbClr val="1E2761"/>
          </a:solidFill>
          <a:ln>
            <a:noFill/>
          </a:ln>
          <a:effectLst/>
        </p:spPr>
      </p:sp>
      <p:sp>
        <p:nvSpPr>
          <p:cNvPr id="9" name="Text 7"/>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DAw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MAYAAI0aAAAwRQAA7R0AABAAAAAmAAAACAAAAP//////////"/>
              </a:ext>
            </a:extLst>
          </p:cNvSpPr>
          <p:nvPr/>
        </p:nvSpPr>
        <p:spPr>
          <a:xfrm>
            <a:off x="1005840" y="4316095"/>
            <a:ext cx="10241280" cy="548640"/>
          </a:xfrm>
          <a:prstGeom prst="rect">
            <a:avLst/>
          </a:prstGeom>
          <a:noFill/>
          <a:ln>
            <a:noFill/>
          </a:ln>
          <a:effectLst/>
        </p:spPr>
        <p:txBody>
          <a:bodyPr vert="horz" wrap="square" lIns="0" tIns="0" rIns="0" bIns="0" numCol="1" spcCol="215900" anchor="ctr"/>
          <a:lstStyle/>
          <a:p>
            <a:pPr marL="0" indent="0">
              <a:buNone/>
            </a:pPr>
            <a:r>
              <a:rPr lang="en-us" sz="3000" b="1" cap="none">
                <a:solidFill>
                  <a:srgbClr val="C98A2C"/>
                </a:solidFill>
                <a:latin typeface="Cambria" pitchFamily="2" charset="0"/>
                <a:ea typeface="Cambria" pitchFamily="2" charset="0"/>
                <a:cs typeface="Cambria" pitchFamily="2" charset="0"/>
              </a:rPr>
              <a:t>UNVERIFIABILITY</a:t>
            </a:r>
            <a:endParaRPr lang="en-us" sz="3000" cap="none"/>
          </a:p>
        </p:txBody>
      </p:sp>
      <p:sp>
        <p:nvSpPr>
          <p:cNvPr id="10" name="Text 8"/>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MAYAABgeAAAwRQAAUCIAABAAAAAmAAAACAAAAP//////////"/>
              </a:ext>
            </a:extLst>
          </p:cNvSpPr>
          <p:nvPr/>
        </p:nvSpPr>
        <p:spPr>
          <a:xfrm>
            <a:off x="1005840" y="4892040"/>
            <a:ext cx="10241280" cy="685800"/>
          </a:xfrm>
          <a:prstGeom prst="rect">
            <a:avLst/>
          </a:prstGeom>
          <a:noFill/>
          <a:ln>
            <a:noFill/>
          </a:ln>
          <a:effectLst/>
        </p:spPr>
        <p:txBody>
          <a:bodyPr vert="horz" wrap="square" lIns="0" tIns="0" rIns="0" bIns="0" numCol="1" spcCol="215900" anchor="ctr"/>
          <a:lstStyle/>
          <a:p>
            <a:pPr marL="0" indent="0">
              <a:lnSpc>
                <a:spcPct val="110000"/>
              </a:lnSpc>
              <a:buNone/>
            </a:pPr>
            <a:r>
              <a:rPr lang="en-us" sz="1500" cap="none">
                <a:solidFill>
                  <a:srgbClr val="FFFFFF"/>
                </a:solidFill>
              </a:rPr>
              <a:t>The system has no way to check whether anything it reads is actually true. It measures how well someone writes, not what they can actually do.</a:t>
            </a:r>
            <a:endParaRPr lang="en-us" sz="1500" cap="none"/>
          </a:p>
        </p:txBody>
      </p:sp>
      <p:sp>
        <p:nvSpPr>
          <p:cNvPr id="11" name="Text 9"/>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NMnAADQLwAAgykAABAAAAAmAAAACAAAAP//////////"/>
              </a:ext>
            </a:extLst>
          </p:cNvSpPr>
          <p:nvPr/>
        </p:nvSpPr>
        <p:spPr>
          <a:xfrm>
            <a:off x="457200" y="6473825"/>
            <a:ext cx="7315200" cy="274320"/>
          </a:xfrm>
          <a:prstGeom prst="rect">
            <a:avLst/>
          </a:prstGeom>
          <a:noFill/>
          <a:ln>
            <a:noFill/>
          </a:ln>
          <a:effectLst/>
        </p:spPr>
        <p:txBody>
          <a:bodyPr vert="horz" wrap="square" lIns="0" tIns="0" rIns="0" bIns="0" numCol="1" spcCol="215900" anchor="ctr"/>
          <a:lstStyle/>
          <a:p>
            <a:pPr marL="0" indent="0">
              <a:buNone/>
            </a:pPr>
            <a:r>
              <a:rPr lang="en-us" sz="1000" cap="none">
                <a:solidFill>
                  <a:srgbClr val="8A93A6"/>
                </a:solidFill>
              </a:rPr>
              <a:t>EGCA — Evidence-Governed Candidate Assessment</a:t>
            </a:r>
            <a:endParaRPr lang="en-us" sz="1000" cap="none"/>
          </a:p>
        </p:txBody>
      </p:sp>
      <p:sp>
        <p:nvSpPr>
          <p:cNvPr id="12" name="Text 1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DAw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0UAANMnAAArSAAAgykAABAAAAAmAAAACAAAAP//////////"/>
              </a:ext>
            </a:extLst>
          </p:cNvSpPr>
          <p:nvPr/>
        </p:nvSpPr>
        <p:spPr>
          <a:xfrm>
            <a:off x="11274425" y="6473825"/>
            <a:ext cx="457200" cy="274320"/>
          </a:xfrm>
          <a:prstGeom prst="rect">
            <a:avLst/>
          </a:prstGeom>
          <a:noFill/>
          <a:ln>
            <a:noFill/>
          </a:ln>
          <a:effectLst/>
        </p:spPr>
        <p:txBody>
          <a:bodyPr vert="horz" wrap="square" lIns="0" tIns="0" rIns="0" bIns="0" numCol="1" spcCol="215900" anchor="ctr"/>
          <a:lstStyle/>
          <a:p>
            <a:pPr marL="0" indent="0" algn="r">
              <a:buNone/>
            </a:pPr>
            <a:r>
              <a:rPr lang="en-us" sz="1000" cap="none">
                <a:solidFill>
                  <a:srgbClr val="8A93A6"/>
                </a:solidFill>
              </a:rPr>
              <a:t>2</a:t>
            </a:r>
            <a:endParaRPr lang="en-us" sz="1000" cap="none"/>
          </a:p>
        </p:txBody>
      </p:sp>
    </p:spTree>
  </p:cSld>
  <p:clrMapOvr>
    <a:masterClrMapping/>
  </p:clrMapOvr>
  <p:timing>
    <p:tnLst>
      <p:par>
        <p:cTn id="1" dur="indefinite" restart="never" nodeType="tmRoot"/>
      </p:par>
    </p:tnLst>
  </p:timing>
</p:sld>
</file>

<file path=ppt/slides/slide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name="Slide 3">
    <p:bg>
      <p:bgPr>
        <a:solidFill>
          <a:srgbClr val="F7F9FC"/>
        </a:solidFill>
        <a:effectLst/>
      </p:bgPr>
    </p:bg>
    <p:spTree>
      <p:nvGrpSpPr>
        <p:cNvPr id="1" name=""/>
        <p:cNvGrpSpPr/>
        <p:nvPr/>
      </p:nvGrpSpPr>
      <p:grpSpPr>
        <a:xfrm>
          <a:off x="0" y="0"/>
          <a:ext cx="0" cy="0"/>
          <a:chOff x="0" y="0"/>
          <a:chExt cx="0" cy="0"/>
        </a:xfrm>
      </p:grpSpPr>
      <p:sp>
        <p:nvSpPr>
          <p:cNvPr id="2" name="Text 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IgCAADgRgAAgAQAABAAAAAmAAAACAAAAP//////////"/>
              </a:ext>
            </a:extLst>
          </p:cNvSpPr>
          <p:nvPr/>
        </p:nvSpPr>
        <p:spPr>
          <a:xfrm>
            <a:off x="548640" y="411480"/>
            <a:ext cx="10972800" cy="320040"/>
          </a:xfrm>
          <a:prstGeom prst="rect">
            <a:avLst/>
          </a:prstGeom>
          <a:noFill/>
          <a:ln>
            <a:noFill/>
          </a:ln>
          <a:effectLst/>
        </p:spPr>
        <p:txBody>
          <a:bodyPr vert="horz" wrap="square" lIns="0" tIns="0" rIns="0" bIns="0" numCol="1" spcCol="215900" anchor="ctr"/>
          <a:lstStyle/>
          <a:p>
            <a:pPr marL="0" indent="0">
              <a:buNone/>
            </a:pPr>
            <a:r>
              <a:rPr lang="en-us" sz="1300" b="1" cap="none" spc="40">
                <a:solidFill>
                  <a:srgbClr val="C98A2C"/>
                </a:solidFill>
              </a:rPr>
              <a:t>RESEARCH FOUNDATION</a:t>
            </a:r>
            <a:endParaRPr lang="en-us" sz="1300" cap="none"/>
          </a:p>
        </p:txBody>
      </p:sp>
      <p:sp>
        <p:nvSpPr>
          <p:cNvPr id="3" name="Text 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GMEAABwRwAAcwkAABAAAAAmAAAACAAAAP//////////"/>
              </a:ext>
            </a:extLst>
          </p:cNvSpPr>
          <p:nvPr/>
        </p:nvSpPr>
        <p:spPr>
          <a:xfrm>
            <a:off x="548640" y="713105"/>
            <a:ext cx="11064240" cy="822960"/>
          </a:xfrm>
          <a:prstGeom prst="rect">
            <a:avLst/>
          </a:prstGeom>
          <a:noFill/>
          <a:ln>
            <a:noFill/>
          </a:ln>
          <a:effectLst/>
        </p:spPr>
        <p:txBody>
          <a:bodyPr vert="horz" wrap="square" lIns="0" tIns="0" rIns="0" bIns="0" numCol="1" spcCol="215900" anchor="ctr"/>
          <a:lstStyle/>
          <a:p>
            <a:pPr marL="0" indent="0">
              <a:buNone/>
            </a:pPr>
            <a:r>
              <a:rPr lang="en-us" sz="3000" b="1" cap="none">
                <a:solidFill>
                  <a:srgbClr val="1E2761"/>
                </a:solidFill>
                <a:latin typeface="Cambria" pitchFamily="2" charset="0"/>
                <a:ea typeface="Cambria" pitchFamily="2" charset="0"/>
                <a:cs typeface="Cambria" pitchFamily="2" charset="0"/>
              </a:rPr>
              <a:t>Three Real Studies, Not a Hunch</a:t>
            </a:r>
            <a:endParaRPr lang="en-us" sz="3000" cap="none"/>
          </a:p>
        </p:txBody>
      </p:sp>
      <p:sp>
        <p:nvSpPr>
          <p:cNvPr id="4" name="Shape 2"/>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DvSz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8AMAAPgKAADgBwAA6A4AABAAAAAmAAAACAAAAP//////////"/>
              </a:ext>
            </a:extLst>
          </p:cNvSpPr>
          <p:nvPr/>
        </p:nvSpPr>
        <p:spPr>
          <a:xfrm>
            <a:off x="640080" y="1783080"/>
            <a:ext cx="640080" cy="640080"/>
          </a:xfrm>
          <a:prstGeom prst="ellipse">
            <a:avLst/>
          </a:prstGeom>
          <a:solidFill>
            <a:srgbClr val="C98A2C"/>
          </a:solidFill>
          <a:ln>
            <a:noFill/>
          </a:ln>
          <a:effectLst/>
        </p:spPr>
      </p:sp>
      <p:sp>
        <p:nvSpPr>
          <p:cNvPr id="5" name="Text 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4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8AMAAPgKAADgBwAA6A4AABAAAAAmAAAACAAAAP//////////"/>
              </a:ext>
            </a:extLst>
          </p:cNvSpPr>
          <p:nvPr/>
        </p:nvSpPr>
        <p:spPr>
          <a:xfrm>
            <a:off x="640080" y="1783080"/>
            <a:ext cx="640080" cy="640080"/>
          </a:xfrm>
          <a:prstGeom prst="rect">
            <a:avLst/>
          </a:prstGeom>
          <a:noFill/>
          <a:ln>
            <a:noFill/>
          </a:ln>
          <a:effectLst/>
        </p:spPr>
        <p:txBody>
          <a:bodyPr vert="horz" wrap="square" lIns="0" tIns="0" rIns="0" bIns="0" numCol="1" spcCol="215900" anchor="ctr"/>
          <a:lstStyle/>
          <a:p>
            <a:pPr marL="0" indent="0" algn="ctr">
              <a:buNone/>
            </a:pPr>
            <a:r>
              <a:rPr lang="en-us" sz="2200" b="1" cap="none">
                <a:solidFill>
                  <a:srgbClr val="1E2761"/>
                </a:solidFill>
                <a:latin typeface="Cambria" pitchFamily="2" charset="0"/>
                <a:ea typeface="Cambria" pitchFamily="2" charset="0"/>
                <a:cs typeface="Cambria" pitchFamily="2" charset="0"/>
              </a:rPr>
              <a:t>1</a:t>
            </a:r>
            <a:endParaRPr lang="en-us" sz="2200" cap="none"/>
          </a:p>
        </p:txBody>
      </p:sp>
      <p:sp>
        <p:nvSpPr>
          <p:cNvPr id="6" name="Text 4"/>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AkAAM0KAABQRgAADQ0AABAAAAAmAAAACAAAAP//////////"/>
              </a:ext>
            </a:extLst>
          </p:cNvSpPr>
          <p:nvPr/>
        </p:nvSpPr>
        <p:spPr>
          <a:xfrm>
            <a:off x="1554480" y="1755775"/>
            <a:ext cx="9875520" cy="365760"/>
          </a:xfrm>
          <a:prstGeom prst="rect">
            <a:avLst/>
          </a:prstGeom>
          <a:noFill/>
          <a:ln>
            <a:noFill/>
          </a:ln>
          <a:effectLst/>
        </p:spPr>
        <p:txBody>
          <a:bodyPr vert="horz" wrap="square" lIns="0" tIns="0" rIns="0" bIns="0" numCol="1" spcCol="215900" anchor="ctr"/>
          <a:lstStyle/>
          <a:p>
            <a:pPr marL="0" indent="0">
              <a:buNone/>
            </a:pPr>
            <a:r>
              <a:rPr lang="en-us" sz="1650" b="1" cap="none">
                <a:solidFill>
                  <a:srgbClr val="1E2761"/>
                </a:solidFill>
                <a:latin typeface="Cambria" pitchFamily="2" charset="0"/>
                <a:ea typeface="Cambria" pitchFamily="2" charset="0"/>
                <a:cs typeface="Cambria" pitchFamily="2" charset="0"/>
              </a:rPr>
              <a:t>Brown &amp; Vaishampayan, 2025</a:t>
            </a:r>
            <a:endParaRPr lang="en-us" sz="1650" cap="none"/>
          </a:p>
        </p:txBody>
      </p:sp>
      <p:sp>
        <p:nvSpPr>
          <p:cNvPr id="7" name="Shape 5"/>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Y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2AkAAMENAAB2CgAAXw4AABAAAAAmAAAACAAAAP//////////"/>
              </a:ext>
            </a:extLst>
          </p:cNvSpPr>
          <p:nvPr/>
        </p:nvSpPr>
        <p:spPr>
          <a:xfrm>
            <a:off x="1600200" y="2235835"/>
            <a:ext cx="100330" cy="100330"/>
          </a:xfrm>
          <a:prstGeom prst="ellipse">
            <a:avLst/>
          </a:prstGeom>
          <a:solidFill>
            <a:srgbClr val="C98A2C"/>
          </a:solidFill>
          <a:ln>
            <a:noFill/>
          </a:ln>
          <a:effectLst/>
        </p:spPr>
      </p:sp>
      <p:sp>
        <p:nvSpPr>
          <p:cNvPr id="8" name="Text 6"/>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iAsAAFUNAAAIRgAA3Q8AABAAAAAmAAAACAAAAP//////////"/>
              </a:ext>
            </a:extLst>
          </p:cNvSpPr>
          <p:nvPr/>
        </p:nvSpPr>
        <p:spPr>
          <a:xfrm>
            <a:off x="1874520" y="2167255"/>
            <a:ext cx="9509760" cy="411480"/>
          </a:xfrm>
          <a:prstGeom prst="rect">
            <a:avLst/>
          </a:prstGeom>
          <a:noFill/>
          <a:ln>
            <a:noFill/>
          </a:ln>
          <a:effectLst/>
        </p:spPr>
        <p:txBody>
          <a:bodyPr vert="horz" wrap="square" lIns="0" tIns="0" rIns="0" bIns="0" numCol="1" spcCol="215900" anchor="ctr"/>
          <a:lstStyle/>
          <a:p>
            <a:pPr marL="0" indent="0">
              <a:lnSpc>
                <a:spcPct val="105000"/>
              </a:lnSpc>
              <a:buNone/>
            </a:pPr>
            <a:r>
              <a:rPr lang="en-us" sz="1300" cap="none">
                <a:solidFill>
                  <a:srgbClr val="36454F"/>
                </a:solidFill>
              </a:rPr>
              <a:t>A working tool called “Inject My PDF” can hide secret instructions inside a resume file to trick the AI.</a:t>
            </a:r>
            <a:endParaRPr lang="en-us" sz="1300" cap="none"/>
          </a:p>
        </p:txBody>
      </p:sp>
      <p:sp>
        <p:nvSpPr>
          <p:cNvPr id="9" name="Shape 7"/>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2AkAADoQAAB2CgAA2RAAABAAAAAmAAAACAAAAP//////////"/>
              </a:ext>
            </a:extLst>
          </p:cNvSpPr>
          <p:nvPr/>
        </p:nvSpPr>
        <p:spPr>
          <a:xfrm>
            <a:off x="1600200" y="2637790"/>
            <a:ext cx="100330" cy="100965"/>
          </a:xfrm>
          <a:prstGeom prst="ellipse">
            <a:avLst/>
          </a:prstGeom>
          <a:solidFill>
            <a:srgbClr val="C98A2C"/>
          </a:solidFill>
          <a:ln>
            <a:noFill/>
          </a:ln>
          <a:effectLst/>
        </p:spPr>
      </p:sp>
      <p:sp>
        <p:nvSpPr>
          <p:cNvPr id="10" name="Text 8"/>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iAsAAM4PAAAIRgAAVhIAABAAAAAmAAAACAAAAP//////////"/>
              </a:ext>
            </a:extLst>
          </p:cNvSpPr>
          <p:nvPr/>
        </p:nvSpPr>
        <p:spPr>
          <a:xfrm>
            <a:off x="1874520" y="2569210"/>
            <a:ext cx="9509760" cy="411480"/>
          </a:xfrm>
          <a:prstGeom prst="rect">
            <a:avLst/>
          </a:prstGeom>
          <a:noFill/>
          <a:ln>
            <a:noFill/>
          </a:ln>
          <a:effectLst/>
        </p:spPr>
        <p:txBody>
          <a:bodyPr vert="horz" wrap="square" lIns="0" tIns="0" rIns="0" bIns="0" numCol="1" spcCol="215900" anchor="ctr"/>
          <a:lstStyle/>
          <a:p>
            <a:pPr marL="0" indent="0">
              <a:lnSpc>
                <a:spcPct val="105000"/>
              </a:lnSpc>
              <a:buNone/>
            </a:pPr>
            <a:r>
              <a:rPr lang="en-us" sz="1300" cap="none">
                <a:solidFill>
                  <a:srgbClr val="36454F"/>
                </a:solidFill>
              </a:rPr>
              <a:t>Amazon had to shut down its own AI hiring tool because it was downgrading resumes from women.</a:t>
            </a:r>
            <a:endParaRPr lang="en-us" sz="1300" cap="none"/>
          </a:p>
        </p:txBody>
      </p:sp>
      <p:sp>
        <p:nvSpPr>
          <p:cNvPr id="11" name="Shape 9"/>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2AkAALQSAAB2CgAAUhMAABAAAAAmAAAACAAAAP//////////"/>
              </a:ext>
            </a:extLst>
          </p:cNvSpPr>
          <p:nvPr/>
        </p:nvSpPr>
        <p:spPr>
          <a:xfrm>
            <a:off x="1600200" y="3040380"/>
            <a:ext cx="100330" cy="100330"/>
          </a:xfrm>
          <a:prstGeom prst="ellipse">
            <a:avLst/>
          </a:prstGeom>
          <a:solidFill>
            <a:srgbClr val="C98A2C"/>
          </a:solidFill>
          <a:ln>
            <a:noFill/>
          </a:ln>
          <a:effectLst/>
        </p:spPr>
      </p:sp>
      <p:sp>
        <p:nvSpPr>
          <p:cNvPr id="12" name="Text 1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iAsAAEgSAAAIRgAA0BQAABAAAAAmAAAACAAAAP//////////"/>
              </a:ext>
            </a:extLst>
          </p:cNvSpPr>
          <p:nvPr/>
        </p:nvSpPr>
        <p:spPr>
          <a:xfrm>
            <a:off x="1874520" y="2971800"/>
            <a:ext cx="9509760" cy="411480"/>
          </a:xfrm>
          <a:prstGeom prst="rect">
            <a:avLst/>
          </a:prstGeom>
          <a:noFill/>
          <a:ln>
            <a:noFill/>
          </a:ln>
          <a:effectLst/>
        </p:spPr>
        <p:txBody>
          <a:bodyPr vert="horz" wrap="square" lIns="0" tIns="0" rIns="0" bIns="0" numCol="1" spcCol="215900" anchor="ctr"/>
          <a:lstStyle/>
          <a:p>
            <a:pPr marL="0" indent="0">
              <a:lnSpc>
                <a:spcPct val="105000"/>
              </a:lnSpc>
              <a:buNone/>
            </a:pPr>
            <a:r>
              <a:rPr lang="en-us" sz="1300" cap="none">
                <a:solidFill>
                  <a:srgbClr val="36454F"/>
                </a:solidFill>
              </a:rPr>
              <a:t>The creator of Homebrew — a tool over 90% of Google's engineers use daily — failed Google's own interview.</a:t>
            </a:r>
            <a:endParaRPr lang="en-us" sz="1300" cap="none"/>
          </a:p>
        </p:txBody>
      </p:sp>
      <p:sp>
        <p:nvSpPr>
          <p:cNvPr id="13" name="Shape 11"/>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8AMAAMUVAADgBwAAtRkAABAAAAAmAAAACAAAAP//////////"/>
              </a:ext>
            </a:extLst>
          </p:cNvSpPr>
          <p:nvPr/>
        </p:nvSpPr>
        <p:spPr>
          <a:xfrm>
            <a:off x="640080" y="3538855"/>
            <a:ext cx="640080" cy="640080"/>
          </a:xfrm>
          <a:prstGeom prst="ellipse">
            <a:avLst/>
          </a:prstGeom>
          <a:solidFill>
            <a:srgbClr val="C98A2C"/>
          </a:solidFill>
          <a:ln>
            <a:noFill/>
          </a:ln>
          <a:effectLst/>
        </p:spPr>
      </p:sp>
      <p:sp>
        <p:nvSpPr>
          <p:cNvPr id="14" name="Text 1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8AMAAMUVAADgBwAAtRkAABAAAAAmAAAACAAAAP//////////"/>
              </a:ext>
            </a:extLst>
          </p:cNvSpPr>
          <p:nvPr/>
        </p:nvSpPr>
        <p:spPr>
          <a:xfrm>
            <a:off x="640080" y="3538855"/>
            <a:ext cx="640080" cy="640080"/>
          </a:xfrm>
          <a:prstGeom prst="rect">
            <a:avLst/>
          </a:prstGeom>
          <a:noFill/>
          <a:ln>
            <a:noFill/>
          </a:ln>
          <a:effectLst/>
        </p:spPr>
        <p:txBody>
          <a:bodyPr vert="horz" wrap="square" lIns="0" tIns="0" rIns="0" bIns="0" numCol="1" spcCol="215900" anchor="ctr"/>
          <a:lstStyle/>
          <a:p>
            <a:pPr marL="0" indent="0" algn="ctr">
              <a:buNone/>
            </a:pPr>
            <a:r>
              <a:rPr lang="en-us" sz="2200" b="1" cap="none">
                <a:solidFill>
                  <a:srgbClr val="1E2761"/>
                </a:solidFill>
                <a:latin typeface="Cambria" pitchFamily="2" charset="0"/>
                <a:ea typeface="Cambria" pitchFamily="2" charset="0"/>
                <a:cs typeface="Cambria" pitchFamily="2" charset="0"/>
              </a:rPr>
              <a:t>2</a:t>
            </a:r>
            <a:endParaRPr lang="en-us" sz="2200" cap="none"/>
          </a:p>
        </p:txBody>
      </p:sp>
      <p:sp>
        <p:nvSpPr>
          <p:cNvPr id="15" name="Text 1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AkAAJoVAABQRgAA2hcAABAAAAAmAAAACAAAAP//////////"/>
              </a:ext>
            </a:extLst>
          </p:cNvSpPr>
          <p:nvPr/>
        </p:nvSpPr>
        <p:spPr>
          <a:xfrm>
            <a:off x="1554480" y="3511550"/>
            <a:ext cx="9875520" cy="365760"/>
          </a:xfrm>
          <a:prstGeom prst="rect">
            <a:avLst/>
          </a:prstGeom>
          <a:noFill/>
          <a:ln>
            <a:noFill/>
          </a:ln>
          <a:effectLst/>
        </p:spPr>
        <p:txBody>
          <a:bodyPr vert="horz" wrap="square" lIns="0" tIns="0" rIns="0" bIns="0" numCol="1" spcCol="215900" anchor="ctr"/>
          <a:lstStyle/>
          <a:p>
            <a:pPr marL="0" indent="0">
              <a:buNone/>
            </a:pPr>
            <a:r>
              <a:rPr lang="en-us" sz="1650" b="1" cap="none">
                <a:solidFill>
                  <a:srgbClr val="1E2761"/>
                </a:solidFill>
                <a:latin typeface="Cambria" pitchFamily="2" charset="0"/>
                <a:ea typeface="Cambria" pitchFamily="2" charset="0"/>
                <a:cs typeface="Cambria" pitchFamily="2" charset="0"/>
              </a:rPr>
              <a:t>Shafiq, 2026 — 10,765 real hires</a:t>
            </a:r>
            <a:endParaRPr lang="en-us" sz="1650" cap="none"/>
          </a:p>
        </p:txBody>
      </p:sp>
      <p:sp>
        <p:nvSpPr>
          <p:cNvPr id="16" name="Shape 14"/>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2AkAAI4YAAB2CgAALBkAABAAAAAmAAAACAAAAP//////////"/>
              </a:ext>
            </a:extLst>
          </p:cNvSpPr>
          <p:nvPr/>
        </p:nvSpPr>
        <p:spPr>
          <a:xfrm>
            <a:off x="1600200" y="3991610"/>
            <a:ext cx="100330" cy="100330"/>
          </a:xfrm>
          <a:prstGeom prst="ellipse">
            <a:avLst/>
          </a:prstGeom>
          <a:solidFill>
            <a:srgbClr val="C98A2C"/>
          </a:solidFill>
          <a:ln>
            <a:noFill/>
          </a:ln>
          <a:effectLst/>
        </p:spPr>
      </p:sp>
      <p:sp>
        <p:nvSpPr>
          <p:cNvPr id="17" name="Text 15"/>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iAsAACIYAAAIRgAAqhoAABAAAAAmAAAACAAAAP//////////"/>
              </a:ext>
            </a:extLst>
          </p:cNvSpPr>
          <p:nvPr/>
        </p:nvSpPr>
        <p:spPr>
          <a:xfrm>
            <a:off x="1874520" y="3923030"/>
            <a:ext cx="9509760" cy="411480"/>
          </a:xfrm>
          <a:prstGeom prst="rect">
            <a:avLst/>
          </a:prstGeom>
          <a:noFill/>
          <a:ln>
            <a:noFill/>
          </a:ln>
          <a:effectLst/>
        </p:spPr>
        <p:txBody>
          <a:bodyPr vert="horz" wrap="square" lIns="0" tIns="0" rIns="0" bIns="0" numCol="1" spcCol="215900" anchor="ctr"/>
          <a:lstStyle/>
          <a:p>
            <a:pPr marL="0" indent="0">
              <a:lnSpc>
                <a:spcPct val="105000"/>
              </a:lnSpc>
              <a:buNone/>
            </a:pPr>
            <a:r>
              <a:rPr lang="en-us" sz="1300" cap="none">
                <a:solidFill>
                  <a:srgbClr val="36454F"/>
                </a:solidFill>
              </a:rPr>
              <a:t>Studied 10,765 real hired employees: of 3,597 resume skills tested, zero reliably predicted job performance.</a:t>
            </a:r>
            <a:endParaRPr lang="en-us" sz="1300" cap="none"/>
          </a:p>
        </p:txBody>
      </p:sp>
      <p:sp>
        <p:nvSpPr>
          <p:cNvPr id="18" name="Shape 16"/>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2AkAAAcbAAB2CgAAphsAABAAAAAmAAAACAAAAP//////////"/>
              </a:ext>
            </a:extLst>
          </p:cNvSpPr>
          <p:nvPr/>
        </p:nvSpPr>
        <p:spPr>
          <a:xfrm>
            <a:off x="1600200" y="4393565"/>
            <a:ext cx="100330" cy="100965"/>
          </a:xfrm>
          <a:prstGeom prst="ellipse">
            <a:avLst/>
          </a:prstGeom>
          <a:solidFill>
            <a:srgbClr val="C98A2C"/>
          </a:solidFill>
          <a:ln>
            <a:noFill/>
          </a:ln>
          <a:effectLst/>
        </p:spPr>
      </p:sp>
      <p:sp>
        <p:nvSpPr>
          <p:cNvPr id="19" name="Text 17"/>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iAsAAJsaAAAIRgAAIx0AABAAAAAmAAAACAAAAP//////////"/>
              </a:ext>
            </a:extLst>
          </p:cNvSpPr>
          <p:nvPr/>
        </p:nvSpPr>
        <p:spPr>
          <a:xfrm>
            <a:off x="1874520" y="4324985"/>
            <a:ext cx="9509760" cy="411480"/>
          </a:xfrm>
          <a:prstGeom prst="rect">
            <a:avLst/>
          </a:prstGeom>
          <a:noFill/>
          <a:ln>
            <a:noFill/>
          </a:ln>
          <a:effectLst/>
        </p:spPr>
        <p:txBody>
          <a:bodyPr vert="horz" wrap="square" lIns="0" tIns="0" rIns="0" bIns="0" numCol="1" spcCol="215900" anchor="ctr"/>
          <a:lstStyle/>
          <a:p>
            <a:pPr marL="0" indent="0">
              <a:lnSpc>
                <a:spcPct val="105000"/>
              </a:lnSpc>
              <a:buNone/>
            </a:pPr>
            <a:r>
              <a:rPr lang="en-us" sz="1300" cap="none">
                <a:solidFill>
                  <a:srgbClr val="36454F"/>
                </a:solidFill>
              </a:rPr>
              <a:t>One overly strict requirement alone caused a company to reject 2,863 people who'd have brought in $17.7M.</a:t>
            </a:r>
            <a:endParaRPr lang="en-us" sz="1300" cap="none"/>
          </a:p>
        </p:txBody>
      </p:sp>
      <p:sp>
        <p:nvSpPr>
          <p:cNvPr id="20" name="Shape 18"/>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8AMAABgeAADgBwAACCIAABAAAAAmAAAACAAAAP//////////"/>
              </a:ext>
            </a:extLst>
          </p:cNvSpPr>
          <p:nvPr/>
        </p:nvSpPr>
        <p:spPr>
          <a:xfrm>
            <a:off x="640080" y="4892040"/>
            <a:ext cx="640080" cy="640080"/>
          </a:xfrm>
          <a:prstGeom prst="ellipse">
            <a:avLst/>
          </a:prstGeom>
          <a:solidFill>
            <a:srgbClr val="C98A2C"/>
          </a:solidFill>
          <a:ln>
            <a:noFill/>
          </a:ln>
          <a:effectLst/>
        </p:spPr>
      </p:sp>
      <p:sp>
        <p:nvSpPr>
          <p:cNvPr id="21" name="Text 19"/>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8AMAABgeAADgBwAACCIAABAAAAAmAAAACAAAAP//////////"/>
              </a:ext>
            </a:extLst>
          </p:cNvSpPr>
          <p:nvPr/>
        </p:nvSpPr>
        <p:spPr>
          <a:xfrm>
            <a:off x="640080" y="4892040"/>
            <a:ext cx="640080" cy="640080"/>
          </a:xfrm>
          <a:prstGeom prst="rect">
            <a:avLst/>
          </a:prstGeom>
          <a:noFill/>
          <a:ln>
            <a:noFill/>
          </a:ln>
          <a:effectLst/>
        </p:spPr>
        <p:txBody>
          <a:bodyPr vert="horz" wrap="square" lIns="0" tIns="0" rIns="0" bIns="0" numCol="1" spcCol="215900" anchor="ctr"/>
          <a:lstStyle/>
          <a:p>
            <a:pPr marL="0" indent="0" algn="ctr">
              <a:buNone/>
            </a:pPr>
            <a:r>
              <a:rPr lang="en-us" sz="2200" b="1" cap="none">
                <a:solidFill>
                  <a:srgbClr val="1E2761"/>
                </a:solidFill>
                <a:latin typeface="Cambria" pitchFamily="2" charset="0"/>
                <a:ea typeface="Cambria" pitchFamily="2" charset="0"/>
                <a:cs typeface="Cambria" pitchFamily="2" charset="0"/>
              </a:rPr>
              <a:t>3</a:t>
            </a:r>
            <a:endParaRPr lang="en-us" sz="2200" cap="none"/>
          </a:p>
        </p:txBody>
      </p:sp>
      <p:sp>
        <p:nvSpPr>
          <p:cNvPr id="22" name="Text 2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DzfD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AkAAO0dAABQRgAALSAAABAAAAAmAAAACAAAAP//////////"/>
              </a:ext>
            </a:extLst>
          </p:cNvSpPr>
          <p:nvPr/>
        </p:nvSpPr>
        <p:spPr>
          <a:xfrm>
            <a:off x="1554480" y="4864735"/>
            <a:ext cx="9875520" cy="365760"/>
          </a:xfrm>
          <a:prstGeom prst="rect">
            <a:avLst/>
          </a:prstGeom>
          <a:noFill/>
          <a:ln>
            <a:noFill/>
          </a:ln>
          <a:effectLst/>
        </p:spPr>
        <p:txBody>
          <a:bodyPr vert="horz" wrap="square" lIns="0" tIns="0" rIns="0" bIns="0" numCol="1" spcCol="215900" anchor="ctr"/>
          <a:lstStyle/>
          <a:p>
            <a:pPr marL="0" indent="0">
              <a:buNone/>
            </a:pPr>
            <a:r>
              <a:rPr lang="en-us" sz="1650" b="1" cap="none">
                <a:solidFill>
                  <a:srgbClr val="1E2761"/>
                </a:solidFill>
                <a:latin typeface="Cambria" pitchFamily="2" charset="0"/>
                <a:ea typeface="Cambria" pitchFamily="2" charset="0"/>
                <a:cs typeface="Cambria" pitchFamily="2" charset="0"/>
              </a:rPr>
              <a:t>Kholkar &amp; Ahuja, 2025</a:t>
            </a:r>
            <a:endParaRPr lang="en-us" sz="1650" cap="none"/>
          </a:p>
        </p:txBody>
      </p:sp>
      <p:sp>
        <p:nvSpPr>
          <p:cNvPr id="23" name="Shape 21"/>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2AkAAOEgAAB2CgAAfyEAABAAAAAmAAAACAAAAP//////////"/>
              </a:ext>
            </a:extLst>
          </p:cNvSpPr>
          <p:nvPr/>
        </p:nvSpPr>
        <p:spPr>
          <a:xfrm>
            <a:off x="1600200" y="5344795"/>
            <a:ext cx="100330" cy="100330"/>
          </a:xfrm>
          <a:prstGeom prst="ellipse">
            <a:avLst/>
          </a:prstGeom>
          <a:solidFill>
            <a:srgbClr val="C98A2C"/>
          </a:solidFill>
          <a:ln>
            <a:noFill/>
          </a:ln>
          <a:effectLst/>
        </p:spPr>
      </p:sp>
      <p:sp>
        <p:nvSpPr>
          <p:cNvPr id="24" name="Text 2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oAAH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iAsAAHUgAAAIRgAA/SIAABAAAAAmAAAACAAAAP//////////"/>
              </a:ext>
            </a:extLst>
          </p:cNvSpPr>
          <p:nvPr/>
        </p:nvSpPr>
        <p:spPr>
          <a:xfrm>
            <a:off x="1874520" y="5276215"/>
            <a:ext cx="9509760" cy="411480"/>
          </a:xfrm>
          <a:prstGeom prst="rect">
            <a:avLst/>
          </a:prstGeom>
          <a:noFill/>
          <a:ln>
            <a:noFill/>
          </a:ln>
          <a:effectLst/>
        </p:spPr>
        <p:txBody>
          <a:bodyPr vert="horz" wrap="square" lIns="0" tIns="0" rIns="0" bIns="0" numCol="1" spcCol="215900" anchor="ctr"/>
          <a:lstStyle/>
          <a:p>
            <a:pPr marL="0" indent="0">
              <a:lnSpc>
                <a:spcPct val="105000"/>
              </a:lnSpc>
              <a:buNone/>
            </a:pPr>
            <a:r>
              <a:rPr lang="en-us" sz="1300" cap="none">
                <a:solidFill>
                  <a:srgbClr val="36454F"/>
                </a:solidFill>
              </a:rPr>
              <a:t>Tested letting an AI both read and enforce company policy — it got the rules wrong 3 times out of 4.</a:t>
            </a:r>
            <a:endParaRPr lang="en-us" sz="1300" cap="none"/>
          </a:p>
        </p:txBody>
      </p:sp>
      <p:sp>
        <p:nvSpPr>
          <p:cNvPr id="25" name="Shape 23"/>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2AkAAFojAAB2CgAA+SMAABAAAAAmAAAACAAAAP//////////"/>
              </a:ext>
            </a:extLst>
          </p:cNvSpPr>
          <p:nvPr/>
        </p:nvSpPr>
        <p:spPr>
          <a:xfrm>
            <a:off x="1600200" y="5746750"/>
            <a:ext cx="100330" cy="100965"/>
          </a:xfrm>
          <a:prstGeom prst="ellipse">
            <a:avLst/>
          </a:prstGeom>
          <a:solidFill>
            <a:srgbClr val="C98A2C"/>
          </a:solidFill>
          <a:ln>
            <a:noFill/>
          </a:ln>
          <a:effectLst/>
        </p:spPr>
      </p:sp>
      <p:sp>
        <p:nvSpPr>
          <p:cNvPr id="26" name="Text 24"/>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iAsAAO4iAAAIRgAAdiUAABAAAAAmAAAACAAAAP//////////"/>
              </a:ext>
            </a:extLst>
          </p:cNvSpPr>
          <p:nvPr/>
        </p:nvSpPr>
        <p:spPr>
          <a:xfrm>
            <a:off x="1874520" y="5678170"/>
            <a:ext cx="9509760" cy="411480"/>
          </a:xfrm>
          <a:prstGeom prst="rect">
            <a:avLst/>
          </a:prstGeom>
          <a:noFill/>
          <a:ln>
            <a:noFill/>
          </a:ln>
          <a:effectLst/>
        </p:spPr>
        <p:txBody>
          <a:bodyPr vert="horz" wrap="square" lIns="0" tIns="0" rIns="0" bIns="0" numCol="1" spcCol="215900" anchor="ctr"/>
          <a:lstStyle/>
          <a:p>
            <a:pPr marL="0" indent="0">
              <a:lnSpc>
                <a:spcPct val="105000"/>
              </a:lnSpc>
              <a:buNone/>
            </a:pPr>
            <a:r>
              <a:rPr lang="en-us" sz="1300" cap="none">
                <a:solidFill>
                  <a:srgbClr val="36454F"/>
                </a:solidFill>
              </a:rPr>
              <a:t>The safer, tested fix: a human writes the rules; the AI is only ever allowed to read resumes.</a:t>
            </a:r>
            <a:endParaRPr lang="en-us" sz="1300" cap="none"/>
          </a:p>
        </p:txBody>
      </p:sp>
      <p:sp>
        <p:nvSpPr>
          <p:cNvPr id="27" name="Text 25"/>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NMnAADQLwAAgykAABAAAAAmAAAACAAAAP//////////"/>
              </a:ext>
            </a:extLst>
          </p:cNvSpPr>
          <p:nvPr/>
        </p:nvSpPr>
        <p:spPr>
          <a:xfrm>
            <a:off x="457200" y="6473825"/>
            <a:ext cx="7315200" cy="274320"/>
          </a:xfrm>
          <a:prstGeom prst="rect">
            <a:avLst/>
          </a:prstGeom>
          <a:noFill/>
          <a:ln>
            <a:noFill/>
          </a:ln>
          <a:effectLst/>
        </p:spPr>
        <p:txBody>
          <a:bodyPr vert="horz" wrap="square" lIns="0" tIns="0" rIns="0" bIns="0" numCol="1" spcCol="215900" anchor="ctr"/>
          <a:lstStyle/>
          <a:p>
            <a:pPr marL="0" indent="0">
              <a:buNone/>
            </a:pPr>
            <a:r>
              <a:rPr lang="en-us" sz="1000" cap="none">
                <a:solidFill>
                  <a:srgbClr val="8A93A6"/>
                </a:solidFill>
              </a:rPr>
              <a:t>EGCA — Evidence-Governed Candidate Assessment</a:t>
            </a:r>
            <a:endParaRPr lang="en-us" sz="1000" cap="none"/>
          </a:p>
        </p:txBody>
      </p:sp>
      <p:sp>
        <p:nvSpPr>
          <p:cNvPr id="28" name="Text 26"/>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AvfT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0UAANMnAAArSAAAgykAABAAAAAmAAAACAAAAP//////////"/>
              </a:ext>
            </a:extLst>
          </p:cNvSpPr>
          <p:nvPr/>
        </p:nvSpPr>
        <p:spPr>
          <a:xfrm>
            <a:off x="11274425" y="6473825"/>
            <a:ext cx="457200" cy="274320"/>
          </a:xfrm>
          <a:prstGeom prst="rect">
            <a:avLst/>
          </a:prstGeom>
          <a:noFill/>
          <a:ln>
            <a:noFill/>
          </a:ln>
          <a:effectLst/>
        </p:spPr>
        <p:txBody>
          <a:bodyPr vert="horz" wrap="square" lIns="0" tIns="0" rIns="0" bIns="0" numCol="1" spcCol="215900" anchor="ctr"/>
          <a:lstStyle/>
          <a:p>
            <a:pPr marL="0" indent="0" algn="r">
              <a:buNone/>
            </a:pPr>
            <a:r>
              <a:rPr lang="en-us" sz="1000" cap="none">
                <a:solidFill>
                  <a:srgbClr val="8A93A6"/>
                </a:solidFill>
              </a:rPr>
              <a:t>3</a:t>
            </a:r>
            <a:endParaRPr lang="en-us" sz="1000" cap="none"/>
          </a:p>
        </p:txBody>
      </p:sp>
    </p:spTree>
  </p:cSld>
  <p:clrMapOvr>
    <a:masterClrMapping/>
  </p:clrMapOvr>
  <p:timing>
    <p:tnLst>
      <p:par>
        <p:cTn id="1" dur="indefinite" restart="never" nodeType="tmRoot"/>
      </p:par>
    </p:tnLst>
  </p:timing>
</p:sld>
</file>

<file path=ppt/slides/slide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IgCAADgRgAAgAQAABAAAAAmAAAACAAAAP//////////"/>
              </a:ext>
            </a:extLst>
          </p:cNvSpPr>
          <p:nvPr/>
        </p:nvSpPr>
        <p:spPr>
          <a:xfrm>
            <a:off x="548640" y="411480"/>
            <a:ext cx="10972800" cy="320040"/>
          </a:xfrm>
          <a:prstGeom prst="rect">
            <a:avLst/>
          </a:prstGeom>
          <a:noFill/>
          <a:ln>
            <a:noFill/>
          </a:ln>
          <a:effectLst/>
        </p:spPr>
        <p:txBody>
          <a:bodyPr vert="horz" wrap="square" lIns="0" tIns="0" rIns="0" bIns="0" numCol="1" spcCol="215900" anchor="ctr"/>
          <a:lstStyle/>
          <a:p>
            <a:pPr marL="0" indent="0">
              <a:buNone/>
            </a:pPr>
            <a:r>
              <a:rPr lang="en-us" sz="1300" b="1" cap="none" spc="40">
                <a:solidFill>
                  <a:srgbClr val="C98A2C"/>
                </a:solidFill>
              </a:rPr>
              <a:t>THE CORE IDEA</a:t>
            </a:r>
            <a:endParaRPr lang="en-us" sz="1300" cap="none"/>
          </a:p>
        </p:txBody>
      </p:sp>
      <p:sp>
        <p:nvSpPr>
          <p:cNvPr id="3" name="Text 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GMEAABwRwAAcwkAABAAAAAmAAAACAAAAP//////////"/>
              </a:ext>
            </a:extLst>
          </p:cNvSpPr>
          <p:nvPr/>
        </p:nvSpPr>
        <p:spPr>
          <a:xfrm>
            <a:off x="548640" y="713105"/>
            <a:ext cx="11064240" cy="822960"/>
          </a:xfrm>
          <a:prstGeom prst="rect">
            <a:avLst/>
          </a:prstGeom>
          <a:noFill/>
          <a:ln>
            <a:noFill/>
          </a:ln>
          <a:effectLst/>
        </p:spPr>
        <p:txBody>
          <a:bodyPr vert="horz" wrap="square" lIns="0" tIns="0" rIns="0" bIns="0" numCol="1" spcCol="215900" anchor="ctr"/>
          <a:lstStyle/>
          <a:p>
            <a:pPr marL="0" indent="0">
              <a:buNone/>
            </a:pPr>
            <a:r>
              <a:rPr lang="en-us" sz="3000" b="1" cap="none">
                <a:solidFill>
                  <a:srgbClr val="1E2761"/>
                </a:solidFill>
                <a:latin typeface="Cambria" pitchFamily="2" charset="0"/>
                <a:ea typeface="Cambria" pitchFamily="2" charset="0"/>
                <a:cs typeface="Cambria" pitchFamily="2" charset="0"/>
              </a:rPr>
              <a:t>One Job Per Component — Never Two</a:t>
            </a:r>
            <a:endParaRPr lang="en-us" sz="3000" cap="none"/>
          </a:p>
        </p:txBody>
      </p:sp>
      <p:sp>
        <p:nvSpPr>
          <p:cNvPr id="4" name="Text 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GgKAABwRwAAeA8AABAAAAAmAAAACAAAAP//////////"/>
              </a:ext>
            </a:extLst>
          </p:cNvSpPr>
          <p:nvPr/>
        </p:nvSpPr>
        <p:spPr>
          <a:xfrm>
            <a:off x="548640" y="1691640"/>
            <a:ext cx="11064240" cy="822960"/>
          </a:xfrm>
          <a:prstGeom prst="rect">
            <a:avLst/>
          </a:prstGeom>
          <a:noFill/>
          <a:ln>
            <a:noFill/>
          </a:ln>
          <a:effectLst/>
        </p:spPr>
        <p:txBody>
          <a:bodyPr vert="horz" wrap="square" lIns="0" tIns="0" rIns="0" bIns="0" numCol="1" spcCol="215900" anchor="ctr"/>
          <a:lstStyle/>
          <a:p>
            <a:pPr marL="0" indent="0">
              <a:lnSpc>
                <a:spcPct val="115000"/>
              </a:lnSpc>
              <a:buNone/>
            </a:pPr>
            <a:r>
              <a:rPr lang="en-us" sz="1600" b="1" cap="none">
                <a:solidFill>
                  <a:srgbClr val="36454F"/>
                </a:solidFill>
              </a:rPr>
              <a:t>This isn't a design guess. Real published research tested letting one AI system both interpret a company's rules and enforce them — it failed 76% of the time. EGCA is built so no single part ever does both jobs.</a:t>
            </a:r>
            <a:endParaRPr lang="en-us" sz="1600" b="1" cap="none">
              <a:solidFill>
                <a:srgbClr val="36454F"/>
              </a:solidFill>
            </a:endParaRPr>
          </a:p>
        </p:txBody>
      </p:sp>
      <p:sp>
        <p:nvSpPr>
          <p:cNvPr id="5" name="Shape 3"/>
          <p:cNvSpPr>
            <a:extLst>
              <a:ext uri="smNativeData">
                <pr:smNativeData xmlns:pr="smNativeData" xmlns="smNativeData" val="SMDATA_15_ZH+7ahMAAAAlAAAAZQAAAA0AAAAAkAAAAEgAAACQAAAASAAAAAAAAAAAAAAAAAAAAAEAAABQAAAAejarPldbsT8AAAAAAADwv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Mrc/AAUAAAAAQAAACMAAAAjAAAAIwAAAB4AAAAAAAAAZAAAAGQAAAAAAAAAZAAAAGQAAAAVAAAAYAAAAAAAAAAAAAAADwAAACADAAAAAAAAAAAAAAEAAACgMgAAVgcAAKr4//8BAAAAf39/AAEAAABkAAAAAAAAABQAAABAHwAAAAAAACYAAAAAAAAAwOD//wAAAAAmAAAAZAAAABYAAABMAAAAAQAAAAAAAAAGAAAAAAAAAAEAAAC/x9YAQQAAAAAAAAAoAAAAZAAAAGQAAAAAAAAAy8vLAEEAAAAAAAAAKAAAAGQAAABkAAAAAAAAABcAAAAUAAAAAAAAAAAAAAD/fwAA/38AAAAAAAAJAAAABAAAAAAAAAAeAAAAaAAAAAAAAAAAAAAAAAAAAAAAAAAAAAAAECcAABAnAAAAAAAAAAAAAAAAAAAAAAAAAAAAAAAAAAAAAAAAAAAAAHg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Mrc/AB/f38Av8fWAMvLywDAwP8Af39/AAAAAAAAAAAAAAAAAAAAAAAAAAAAIQAAABgAAAAUAAAA8AMAACgRAACIFAAAACQAABAAAAAmAAAACAAAAP//////////"/>
              </a:ext>
            </a:extLst>
          </p:cNvSpPr>
          <p:nvPr/>
        </p:nvSpPr>
        <p:spPr>
          <a:xfrm>
            <a:off x="640080" y="2788920"/>
            <a:ext cx="2697480" cy="3063240"/>
          </a:xfrm>
          <a:prstGeom prst="roundRect">
            <a:avLst>
              <a:gd name="adj" fmla="val 3390"/>
            </a:avLst>
          </a:prstGeom>
          <a:solidFill>
            <a:srgbClr val="FFFFFF"/>
          </a:solidFill>
          <a:ln w="12700" cap="flat" cmpd="sng" algn="ctr">
            <a:solidFill>
              <a:srgbClr val="CADCFC"/>
            </a:solidFill>
            <a:prstDash val="solid"/>
            <a:headEnd type="none"/>
            <a:tailEnd type="none"/>
          </a:ln>
          <a:effectLst>
            <a:outerShdw blurRad="76200" dist="25400" dir="5400000" algn="bl">
              <a:srgbClr val="BFC7D6">
                <a:alpha val="35000"/>
              </a:srgbClr>
            </a:outerShdw>
          </a:effectLst>
        </p:spPr>
      </p:sp>
      <p:sp>
        <p:nvSpPr>
          <p:cNvPr id="6" name="Shape 4"/>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Hidh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sY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dhAP///wEAAAAAAAAAAAAAAAAAAAAAAAAAAAAAAAAAAAAAAAAAAAAAAAB/f38A5+bmA8zMzADAwP8Af39/AAAAAAAAAAAAAAAAAAAAAAAAAAAAIQAAABgAAAAUAAAA/AkAANgSAAB8DgAAWBcAABAAAAAmAAAACAAAAP//////////"/>
              </a:ext>
            </a:extLst>
          </p:cNvSpPr>
          <p:nvPr/>
        </p:nvSpPr>
        <p:spPr>
          <a:xfrm>
            <a:off x="1623060" y="3063240"/>
            <a:ext cx="731520" cy="731520"/>
          </a:xfrm>
          <a:prstGeom prst="ellipse">
            <a:avLst/>
          </a:prstGeom>
          <a:solidFill>
            <a:srgbClr val="1E2761"/>
          </a:solidFill>
          <a:ln>
            <a:noFill/>
          </a:ln>
          <a:effectLst/>
        </p:spPr>
      </p:sp>
      <p:sp>
        <p:nvSpPr>
          <p:cNvPr id="7" name="Text 5"/>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AkAANgSAAB8DgAAWBcAABAAAAAmAAAACAAAAP//////////"/>
              </a:ext>
            </a:extLst>
          </p:cNvSpPr>
          <p:nvPr/>
        </p:nvSpPr>
        <p:spPr>
          <a:xfrm>
            <a:off x="1623060" y="3063240"/>
            <a:ext cx="731520" cy="731520"/>
          </a:xfrm>
          <a:prstGeom prst="rect">
            <a:avLst/>
          </a:prstGeom>
          <a:noFill/>
          <a:ln>
            <a:noFill/>
          </a:ln>
          <a:effectLst/>
        </p:spPr>
        <p:txBody>
          <a:bodyPr vert="horz" wrap="square" lIns="0" tIns="0" rIns="0" bIns="0" numCol="1" spcCol="215900" anchor="ctr"/>
          <a:lstStyle/>
          <a:p>
            <a:pPr marL="0" indent="0" algn="ctr">
              <a:buNone/>
            </a:pPr>
            <a:r>
              <a:rPr lang="en-us" sz="2200" b="1" cap="none">
                <a:solidFill>
                  <a:srgbClr val="FFFFFF"/>
                </a:solidFill>
                <a:latin typeface="Cambria" pitchFamily="2" charset="0"/>
                <a:ea typeface="Cambria" pitchFamily="2" charset="0"/>
                <a:cs typeface="Cambria" pitchFamily="2" charset="0"/>
              </a:rPr>
              <a:t>1</a:t>
            </a:r>
            <a:endParaRPr lang="en-us" sz="2200" cap="none"/>
          </a:p>
        </p:txBody>
      </p:sp>
      <p:sp>
        <p:nvSpPr>
          <p:cNvPr id="8" name="Text 6"/>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8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QAAMAYAACwEwAAkBsAABAAAAAmAAAACAAAAP//////////"/>
              </a:ext>
            </a:extLst>
          </p:cNvSpPr>
          <p:nvPr/>
        </p:nvSpPr>
        <p:spPr>
          <a:xfrm>
            <a:off x="777240" y="4023360"/>
            <a:ext cx="2423160" cy="457200"/>
          </a:xfrm>
          <a:prstGeom prst="rect">
            <a:avLst/>
          </a:prstGeom>
          <a:noFill/>
          <a:ln>
            <a:noFill/>
          </a:ln>
          <a:effectLst/>
        </p:spPr>
        <p:txBody>
          <a:bodyPr vert="horz" wrap="square" lIns="0" tIns="0" rIns="0" bIns="0" numCol="1" spcCol="215900" anchor="ctr"/>
          <a:lstStyle/>
          <a:p>
            <a:pPr marL="0" indent="0" algn="ctr">
              <a:buNone/>
            </a:pPr>
            <a:r>
              <a:rPr lang="en-us" sz="1600" b="1" cap="none">
                <a:solidFill>
                  <a:srgbClr val="1E2761"/>
                </a:solidFill>
                <a:latin typeface="Cambria" pitchFamily="2" charset="0"/>
                <a:ea typeface="Cambria" pitchFamily="2" charset="0"/>
                <a:cs typeface="Cambria" pitchFamily="2" charset="0"/>
              </a:rPr>
              <a:t>Reads</a:t>
            </a:r>
            <a:endParaRPr lang="en-us" sz="1600" cap="none"/>
          </a:p>
        </p:txBody>
      </p:sp>
      <p:sp>
        <p:nvSpPr>
          <p:cNvPr id="9" name="Text 7"/>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Y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UAANgbAABoEwAAcCMAABAAAAAmAAAACAAAAP//////////"/>
              </a:ext>
            </a:extLst>
          </p:cNvSpPr>
          <p:nvPr/>
        </p:nvSpPr>
        <p:spPr>
          <a:xfrm>
            <a:off x="822960" y="4526280"/>
            <a:ext cx="2331720" cy="1234440"/>
          </a:xfrm>
          <a:prstGeom prst="rect">
            <a:avLst/>
          </a:prstGeom>
          <a:noFill/>
          <a:ln>
            <a:noFill/>
          </a:ln>
          <a:effectLst/>
        </p:spPr>
        <p:txBody>
          <a:bodyPr vert="horz" wrap="square" lIns="0" tIns="0" rIns="0" bIns="0" numCol="1" spcCol="215900" anchor="ctr"/>
          <a:lstStyle/>
          <a:p>
            <a:pPr marL="0" indent="0" algn="ctr">
              <a:lnSpc>
                <a:spcPct val="110000"/>
              </a:lnSpc>
              <a:buNone/>
            </a:pPr>
            <a:r>
              <a:rPr lang="en-us" sz="1250" cap="none">
                <a:solidFill>
                  <a:srgbClr val="36454F"/>
                </a:solidFill>
              </a:rPr>
              <a:t>The AI only reads and writes down what a resume says.</a:t>
            </a:r>
            <a:endParaRPr lang="en-us" sz="1250" cap="none"/>
          </a:p>
        </p:txBody>
      </p:sp>
      <p:sp>
        <p:nvSpPr>
          <p:cNvPr id="10" name="Shape 8"/>
          <p:cNvSpPr>
            <a:extLst>
              <a:ext uri="smNativeData">
                <pr:smNativeData xmlns:pr="smNativeData" xmlns="smNativeData" val="SMDATA_15_ZH+7ahMAAAAlAAAAZQAAAA0AAAAAkAAAAEgAAACQAAAASAAAAAAAAAAAAAAAAAAAAAEAAABQAAAAejarPldbsT8AAAAAAADwv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Mrc/AAUAAAAAQAAACMAAAAjAAAAIwAAAB4AAAAAAAAAZAAAAGQAAAAAAAAAZAAAAGQAAAAVAAAAYAAAAAAAAAAAAAAADwAAACADAAAAAAAAAAAAAAEAAACgMgAAVgcAAKr4//8BAAAAf39/AAEAAABkAAAAAAAAABQAAABAHwAAAAAAACYAAAAAAAAAwOD//wAAAAAmAAAAZAAAABYAAABMAAAAAQAAAAAAAAAGAAAAAAAAAAEAAAC/x9YAQQAAAAAAAAAoAAAAZAAAAGQAAAAAAAAAy8vLAEEAAAAAAAAAKAAAAGQAAABkAAAAAAAAABcAAAAUAAAAAAAAAAAAAAD/fwAA/38AAAAAAAAJAAAABAAAAAAAAAAeAAAAaAAAAAAAAAAAAAAAAAAAAAAAAAAAAAAAECcAABAnAAAAAAAAAAAAAAAAAAAAAAAAAAAAAAAAAAAAAAAAAAAAAHg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Mrc/AB/f38Av8fWAMvLywDAwP8Af39/AAAAAAAAAAAAAAAAAAAAAAAAAAAAIQAAABgAAAAUAAAAbhUAACgRAAAGJgAAACQAABAAAAAmAAAACAAAAP//////////"/>
              </a:ext>
            </a:extLst>
          </p:cNvSpPr>
          <p:nvPr/>
        </p:nvSpPr>
        <p:spPr>
          <a:xfrm>
            <a:off x="3483610" y="2788920"/>
            <a:ext cx="2697480" cy="3063240"/>
          </a:xfrm>
          <a:prstGeom prst="roundRect">
            <a:avLst>
              <a:gd name="adj" fmla="val 3390"/>
            </a:avLst>
          </a:prstGeom>
          <a:solidFill>
            <a:srgbClr val="FFFFFF"/>
          </a:solidFill>
          <a:ln w="12700" cap="flat" cmpd="sng" algn="ctr">
            <a:solidFill>
              <a:srgbClr val="CADCFC"/>
            </a:solidFill>
            <a:prstDash val="solid"/>
            <a:headEnd type="none"/>
            <a:tailEnd type="none"/>
          </a:ln>
          <a:effectLst>
            <a:outerShdw blurRad="76200" dist="25400" dir="5400000" algn="bl">
              <a:srgbClr val="BFC7D6">
                <a:alpha val="35000"/>
              </a:srgbClr>
            </a:outerShdw>
          </a:effectLst>
        </p:spPr>
      </p:sp>
      <p:sp>
        <p:nvSpPr>
          <p:cNvPr id="11" name="Shape 9"/>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Hidh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Ue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dhAP///wEAAAAAAAAAAAAAAAAAAAAAAAAAAAAAAAAAAAAAAAAAAAAAAAB/f38A5+bmA8zMzADAwP8Af39/AAAAAAAAAAAAAAAAAAAAAAAAAAAAIQAAABgAAAAUAAAAehsAANgSAAD6HwAAWBcAABAAAAAmAAAACAAAAP//////////"/>
              </a:ext>
            </a:extLst>
          </p:cNvSpPr>
          <p:nvPr/>
        </p:nvSpPr>
        <p:spPr>
          <a:xfrm>
            <a:off x="4466590" y="3063240"/>
            <a:ext cx="731520" cy="731520"/>
          </a:xfrm>
          <a:prstGeom prst="ellipse">
            <a:avLst/>
          </a:prstGeom>
          <a:solidFill>
            <a:srgbClr val="1E2761"/>
          </a:solidFill>
          <a:ln>
            <a:noFill/>
          </a:ln>
          <a:effectLst/>
        </p:spPr>
      </p:sp>
      <p:sp>
        <p:nvSpPr>
          <p:cNvPr id="12" name="Text 1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02DU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hsAANgSAAD6HwAAWBcAABAAAAAmAAAACAAAAP//////////"/>
              </a:ext>
            </a:extLst>
          </p:cNvSpPr>
          <p:nvPr/>
        </p:nvSpPr>
        <p:spPr>
          <a:xfrm>
            <a:off x="4466590" y="3063240"/>
            <a:ext cx="731520" cy="731520"/>
          </a:xfrm>
          <a:prstGeom prst="rect">
            <a:avLst/>
          </a:prstGeom>
          <a:noFill/>
          <a:ln>
            <a:noFill/>
          </a:ln>
          <a:effectLst/>
        </p:spPr>
        <p:txBody>
          <a:bodyPr vert="horz" wrap="square" lIns="0" tIns="0" rIns="0" bIns="0" numCol="1" spcCol="215900" anchor="ctr"/>
          <a:lstStyle/>
          <a:p>
            <a:pPr marL="0" indent="0" algn="ctr">
              <a:buNone/>
            </a:pPr>
            <a:r>
              <a:rPr lang="en-us" sz="2200" b="1" cap="none">
                <a:solidFill>
                  <a:srgbClr val="FFFFFF"/>
                </a:solidFill>
                <a:latin typeface="Cambria" pitchFamily="2" charset="0"/>
                <a:ea typeface="Cambria" pitchFamily="2" charset="0"/>
                <a:cs typeface="Cambria" pitchFamily="2" charset="0"/>
              </a:rPr>
              <a:t>2</a:t>
            </a:r>
            <a:endParaRPr lang="en-us" sz="2200" cap="none"/>
          </a:p>
        </p:txBody>
      </p:sp>
      <p:sp>
        <p:nvSpPr>
          <p:cNvPr id="13" name="Text 1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dSCJ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RhYAAMAYAAAuJQAAkBsAABAAAAAmAAAACAAAAP//////////"/>
              </a:ext>
            </a:extLst>
          </p:cNvSpPr>
          <p:nvPr/>
        </p:nvSpPr>
        <p:spPr>
          <a:xfrm>
            <a:off x="3620770" y="4023360"/>
            <a:ext cx="2423160" cy="457200"/>
          </a:xfrm>
          <a:prstGeom prst="rect">
            <a:avLst/>
          </a:prstGeom>
          <a:noFill/>
          <a:ln>
            <a:noFill/>
          </a:ln>
          <a:effectLst/>
        </p:spPr>
        <p:txBody>
          <a:bodyPr vert="horz" wrap="square" lIns="0" tIns="0" rIns="0" bIns="0" numCol="1" spcCol="215900" anchor="ctr"/>
          <a:lstStyle/>
          <a:p>
            <a:pPr marL="0" indent="0" algn="ctr">
              <a:buNone/>
            </a:pPr>
            <a:r>
              <a:rPr lang="en-us" sz="1600" b="1" cap="none">
                <a:solidFill>
                  <a:srgbClr val="1E2761"/>
                </a:solidFill>
                <a:latin typeface="Cambria" pitchFamily="2" charset="0"/>
                <a:ea typeface="Cambria" pitchFamily="2" charset="0"/>
                <a:cs typeface="Cambria" pitchFamily="2" charset="0"/>
              </a:rPr>
              <a:t>Checks Proof</a:t>
            </a:r>
            <a:endParaRPr lang="en-us" sz="1600" cap="none"/>
          </a:p>
        </p:txBody>
      </p:sp>
      <p:sp>
        <p:nvSpPr>
          <p:cNvPr id="14" name="Text 1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rMCs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jhYAANgbAADmJAAAcCMAABAAAAAmAAAACAAAAP//////////"/>
              </a:ext>
            </a:extLst>
          </p:cNvSpPr>
          <p:nvPr/>
        </p:nvSpPr>
        <p:spPr>
          <a:xfrm>
            <a:off x="3666490" y="4526280"/>
            <a:ext cx="2331720" cy="1234440"/>
          </a:xfrm>
          <a:prstGeom prst="rect">
            <a:avLst/>
          </a:prstGeom>
          <a:noFill/>
          <a:ln>
            <a:noFill/>
          </a:ln>
          <a:effectLst/>
        </p:spPr>
        <p:txBody>
          <a:bodyPr vert="horz" wrap="square" lIns="0" tIns="0" rIns="0" bIns="0" numCol="1" spcCol="215900" anchor="ctr"/>
          <a:lstStyle/>
          <a:p>
            <a:pPr marL="0" indent="0" algn="ctr">
              <a:lnSpc>
                <a:spcPct val="110000"/>
              </a:lnSpc>
              <a:buNone/>
            </a:pPr>
            <a:r>
              <a:rPr lang="en-us" sz="1250" cap="none">
                <a:solidFill>
                  <a:srgbClr val="36454F"/>
                </a:solidFill>
              </a:rPr>
              <a:t>A separate system checks what's actually backed by evidence.</a:t>
            </a:r>
            <a:endParaRPr lang="en-us" sz="1250" cap="none"/>
          </a:p>
        </p:txBody>
      </p:sp>
      <p:sp>
        <p:nvSpPr>
          <p:cNvPr id="15" name="Shape 13"/>
          <p:cNvSpPr>
            <a:extLst>
              <a:ext uri="smNativeData">
                <pr:smNativeData xmlns:pr="smNativeData" xmlns="smNativeData" val="SMDATA_15_ZH+7ahMAAAAlAAAAZQAAAA0AAAAAkAAAAEgAAACQAAAASAAAAAAAAAAAAAAAAAAAAAEAAABQAAAAejarPldbsT8AAAAAAADwv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Mrc/AAUAAAAAQAAACMAAAAjAAAAIwAAAB4AAAAAAAAAZAAAAGQAAAAAAAAAZAAAAGQAAAAVAAAAYAAAAAAAAAAAAAAADwAAACADAAAAAAAAAAAAAAEAAACgMgAAVgcAAKr4//8BAAAAf39/AAEAAABkAAAAAAAAABQAAABAHwAAAAAAACYAAAAAAAAAwOD//wAAAAAmAAAAZAAAABYAAABMAAAAAQAAAAAAAAAGAAAAAAAAAAEAAAC/x9YAQQAAAAAAAAAoAAAAZAAAAGQAAAAAAAAAy8vLAEEAAAAAAAAAKAAAAGQAAABkAAAAAAAAABcAAAAUAAAAAAAAAAAAAAD/fwAA/38AAAAAAAAJAAAABAAAAAljCWceAAAAaAAAAAAAAAAAAAAAAAAAAAAAAAAAAAAAECcAABAnAAAAAAAAAAAAAAAAAAAAAAAAAAAAAAAAAAAAAAAAAAAAAHg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Mrc/AB/f38Av8fWAMvLywDAwP8Af39/AAAAAAAAAAAAAAAAAAAAAAAAAAAAIQAAABgAAAAUAAAA7SYAACgRAACFNwAAACQAABAAAAAmAAAACAAAAP//////////"/>
              </a:ext>
            </a:extLst>
          </p:cNvSpPr>
          <p:nvPr/>
        </p:nvSpPr>
        <p:spPr>
          <a:xfrm>
            <a:off x="6327775" y="2788920"/>
            <a:ext cx="2697480" cy="3063240"/>
          </a:xfrm>
          <a:prstGeom prst="roundRect">
            <a:avLst>
              <a:gd name="adj" fmla="val 3390"/>
            </a:avLst>
          </a:prstGeom>
          <a:solidFill>
            <a:srgbClr val="FFFFFF"/>
          </a:solidFill>
          <a:ln w="12700" cap="flat" cmpd="sng" algn="ctr">
            <a:solidFill>
              <a:srgbClr val="CADCFC"/>
            </a:solidFill>
            <a:prstDash val="solid"/>
            <a:headEnd type="none"/>
            <a:tailEnd type="none"/>
          </a:ln>
          <a:effectLst>
            <a:outerShdw blurRad="76200" dist="25400" dir="5400000" algn="bl">
              <a:srgbClr val="BFC7D6">
                <a:alpha val="35000"/>
              </a:srgbClr>
            </a:outerShdw>
          </a:effectLst>
        </p:spPr>
      </p:sp>
      <p:sp>
        <p:nvSpPr>
          <p:cNvPr id="16" name="Shape 14"/>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Hidh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dhAP///wEAAAAAAAAAAAAAAAAAAAAAAAAAAAAAAAAAAAAAAAAAAAAAAAB/f38A5+bmA8zMzADAwP8Af39/AAAAAAAAAAAAAAAAAAAAAAAAAAAAIQAAABgAAAAUAAAA+SwAANgSAAB5MQAAWBcAABAAAAAmAAAACAAAAP//////////"/>
              </a:ext>
            </a:extLst>
          </p:cNvSpPr>
          <p:nvPr/>
        </p:nvSpPr>
        <p:spPr>
          <a:xfrm>
            <a:off x="7310755" y="3063240"/>
            <a:ext cx="731520" cy="731520"/>
          </a:xfrm>
          <a:prstGeom prst="ellipse">
            <a:avLst/>
          </a:prstGeom>
          <a:solidFill>
            <a:srgbClr val="1E2761"/>
          </a:solidFill>
          <a:ln>
            <a:noFill/>
          </a:ln>
          <a:effectLst/>
        </p:spPr>
      </p:sp>
      <p:sp>
        <p:nvSpPr>
          <p:cNvPr id="17" name="Text 15"/>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SwAANgSAAB5MQAAWBcAABAAAAAmAAAACAAAAP//////////"/>
              </a:ext>
            </a:extLst>
          </p:cNvSpPr>
          <p:nvPr/>
        </p:nvSpPr>
        <p:spPr>
          <a:xfrm>
            <a:off x="7310755" y="3063240"/>
            <a:ext cx="731520" cy="731520"/>
          </a:xfrm>
          <a:prstGeom prst="rect">
            <a:avLst/>
          </a:prstGeom>
          <a:noFill/>
          <a:ln>
            <a:noFill/>
          </a:ln>
          <a:effectLst/>
        </p:spPr>
        <p:txBody>
          <a:bodyPr vert="horz" wrap="square" lIns="0" tIns="0" rIns="0" bIns="0" numCol="1" spcCol="215900" anchor="ctr"/>
          <a:lstStyle/>
          <a:p>
            <a:pPr marL="0" indent="0" algn="ctr">
              <a:buNone/>
            </a:pPr>
            <a:r>
              <a:rPr lang="en-us" sz="2200" b="1" cap="none">
                <a:solidFill>
                  <a:srgbClr val="FFFFFF"/>
                </a:solidFill>
                <a:latin typeface="Cambria" pitchFamily="2" charset="0"/>
                <a:ea typeface="Cambria" pitchFamily="2" charset="0"/>
                <a:cs typeface="Cambria" pitchFamily="2" charset="0"/>
              </a:rPr>
              <a:t>3</a:t>
            </a:r>
            <a:endParaRPr lang="en-us" sz="2200" cap="none"/>
          </a:p>
        </p:txBody>
      </p:sp>
      <p:sp>
        <p:nvSpPr>
          <p:cNvPr id="18" name="Text 16"/>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cE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xScAAMAYAACtNgAAkBsAABAAAAAmAAAACAAAAP//////////"/>
              </a:ext>
            </a:extLst>
          </p:cNvSpPr>
          <p:nvPr/>
        </p:nvSpPr>
        <p:spPr>
          <a:xfrm>
            <a:off x="6464935" y="4023360"/>
            <a:ext cx="2423160" cy="457200"/>
          </a:xfrm>
          <a:prstGeom prst="rect">
            <a:avLst/>
          </a:prstGeom>
          <a:noFill/>
          <a:ln>
            <a:noFill/>
          </a:ln>
          <a:effectLst/>
        </p:spPr>
        <p:txBody>
          <a:bodyPr vert="horz" wrap="square" lIns="0" tIns="0" rIns="0" bIns="0" numCol="1" spcCol="215900" anchor="ctr"/>
          <a:lstStyle/>
          <a:p>
            <a:pPr marL="0" indent="0" algn="ctr">
              <a:buNone/>
            </a:pPr>
            <a:r>
              <a:rPr lang="en-us" sz="1600" b="1" cap="none">
                <a:solidFill>
                  <a:srgbClr val="1E2761"/>
                </a:solidFill>
                <a:latin typeface="Cambria" pitchFamily="2" charset="0"/>
                <a:ea typeface="Cambria" pitchFamily="2" charset="0"/>
                <a:cs typeface="Cambria" pitchFamily="2" charset="0"/>
              </a:rPr>
              <a:t>Enforces Rules</a:t>
            </a:r>
            <a:endParaRPr lang="en-us" sz="1600" cap="none"/>
          </a:p>
        </p:txBody>
      </p:sp>
      <p:sp>
        <p:nvSpPr>
          <p:cNvPr id="19" name="Text 17"/>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DSgAANgbAABlNgAAcCMAABAAAAAmAAAACAAAAP//////////"/>
              </a:ext>
            </a:extLst>
          </p:cNvSpPr>
          <p:nvPr/>
        </p:nvSpPr>
        <p:spPr>
          <a:xfrm>
            <a:off x="6510655" y="4526280"/>
            <a:ext cx="2331720" cy="1234440"/>
          </a:xfrm>
          <a:prstGeom prst="rect">
            <a:avLst/>
          </a:prstGeom>
          <a:noFill/>
          <a:ln>
            <a:noFill/>
          </a:ln>
          <a:effectLst/>
        </p:spPr>
        <p:txBody>
          <a:bodyPr vert="horz" wrap="square" lIns="0" tIns="0" rIns="0" bIns="0" numCol="1" spcCol="215900" anchor="ctr"/>
          <a:lstStyle/>
          <a:p>
            <a:pPr marL="0" indent="0" algn="ctr">
              <a:lnSpc>
                <a:spcPct val="110000"/>
              </a:lnSpc>
              <a:buNone/>
            </a:pPr>
            <a:r>
              <a:rPr lang="en-us" sz="1250" cap="none">
                <a:solidFill>
                  <a:srgbClr val="36454F"/>
                </a:solidFill>
              </a:rPr>
              <a:t>A separate rulebook checks mandatory requirements — the AI cannot touch it.</a:t>
            </a:r>
            <a:endParaRPr lang="en-us" sz="1250" cap="none"/>
          </a:p>
        </p:txBody>
      </p:sp>
      <p:sp>
        <p:nvSpPr>
          <p:cNvPr id="20" name="Shape 18"/>
          <p:cNvSpPr>
            <a:extLst>
              <a:ext uri="smNativeData">
                <pr:smNativeData xmlns:pr="smNativeData" xmlns="smNativeData" val="SMDATA_15_ZH+7ahMAAAAlAAAAZQAAAA0AAAAAkAAAAEgAAACQAAAASAAAAAAAAAAAAAAAAAAAAAEAAABQAAAAejarPldbsT8AAAAAAADwv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Mrc/AAUAAAAAQAAACMAAAAjAAAAIwAAAB4AAAAAAAAAZAAAAGQAAAAAAAAAZAAAAGQAAAAVAAAAYAAAAAAAAAAAAAAADwAAACADAAAAAAAAAAAAAAEAAACgMgAAVgcAAKr4//8BAAAAf39/AAEAAABkAAAAAAAAABQAAABAHwAAAAAAACYAAAAAAAAAwOD//wAAAAAmAAAAZAAAABYAAABMAAAAAQAAAAAAAAAGAAAAAAAAAAEAAAC/x9YAQQAAAAAAAAAoAAAAZAAAAGQAAAAAAAAAy8vLAEEAAAAAAAAAKAAAAGQAAABkAAAAAAAAABcAAAAUAAAAAAAAAAAAAAD/fwAA/38AAAAAAAAJAAAABAAAAACthjAeAAAAaAAAAAAAAAAAAAAAAAAAAAAAAAAAAAAAECcAABAnAAAAAAAAAAAAAAAAAAAAAAAAAAAAAAAAAAAAAAAAAAAAAHg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Mrc/AB/f38Av8fWAMvLywDAwP8Af39/AAAAAAAAAAAAAAAAAAAAAAAAAAAAIQAAABgAAAAUAAAAazgAACgRAAADSQAAACQAABAAAAAmAAAACAAAAP//////////"/>
              </a:ext>
            </a:extLst>
          </p:cNvSpPr>
          <p:nvPr/>
        </p:nvSpPr>
        <p:spPr>
          <a:xfrm>
            <a:off x="9171305" y="2788920"/>
            <a:ext cx="2697480" cy="3063240"/>
          </a:xfrm>
          <a:prstGeom prst="roundRect">
            <a:avLst>
              <a:gd name="adj" fmla="val 3390"/>
            </a:avLst>
          </a:prstGeom>
          <a:solidFill>
            <a:srgbClr val="FFFFFF"/>
          </a:solidFill>
          <a:ln w="12700" cap="flat" cmpd="sng" algn="ctr">
            <a:solidFill>
              <a:srgbClr val="CADCFC"/>
            </a:solidFill>
            <a:prstDash val="solid"/>
            <a:headEnd type="none"/>
            <a:tailEnd type="none"/>
          </a:ln>
          <a:effectLst>
            <a:outerShdw blurRad="76200" dist="25400" dir="5400000" algn="bl">
              <a:srgbClr val="BFC7D6">
                <a:alpha val="35000"/>
              </a:srgbClr>
            </a:outerShdw>
          </a:effectLst>
        </p:spPr>
      </p:sp>
      <p:sp>
        <p:nvSpPr>
          <p:cNvPr id="21" name="Shape 19"/>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Hidh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LsUy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dhAP///wEAAAAAAAAAAAAAAAAAAAAAAAAAAAAAAAAAAAAAAAAAAAAAAAB/f38A5+bmA8zMzADAwP8Af39/AAAAAAAAAAAAAAAAAAAAAAAAAAAAIQAAABgAAAAUAAAAdz4AANgSAAD3QgAAWBcAABAAAAAmAAAACAAAAP//////////"/>
              </a:ext>
            </a:extLst>
          </p:cNvSpPr>
          <p:nvPr/>
        </p:nvSpPr>
        <p:spPr>
          <a:xfrm>
            <a:off x="10154285" y="3063240"/>
            <a:ext cx="731520" cy="731520"/>
          </a:xfrm>
          <a:prstGeom prst="ellipse">
            <a:avLst/>
          </a:prstGeom>
          <a:solidFill>
            <a:srgbClr val="1E2761"/>
          </a:solidFill>
          <a:ln>
            <a:noFill/>
          </a:ln>
          <a:effectLst/>
        </p:spPr>
      </p:sp>
      <p:sp>
        <p:nvSpPr>
          <p:cNvPr id="22" name="Text 2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BxNz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dz4AANgSAAD3QgAAWBcAABAAAAAmAAAACAAAAP//////////"/>
              </a:ext>
            </a:extLst>
          </p:cNvSpPr>
          <p:nvPr/>
        </p:nvSpPr>
        <p:spPr>
          <a:xfrm>
            <a:off x="10154285" y="3063240"/>
            <a:ext cx="731520" cy="731520"/>
          </a:xfrm>
          <a:prstGeom prst="rect">
            <a:avLst/>
          </a:prstGeom>
          <a:noFill/>
          <a:ln>
            <a:noFill/>
          </a:ln>
          <a:effectLst/>
        </p:spPr>
        <p:txBody>
          <a:bodyPr vert="horz" wrap="square" lIns="0" tIns="0" rIns="0" bIns="0" numCol="1" spcCol="215900" anchor="ctr"/>
          <a:lstStyle/>
          <a:p>
            <a:pPr marL="0" indent="0" algn="ctr">
              <a:buNone/>
            </a:pPr>
            <a:r>
              <a:rPr lang="en-us" sz="2200" b="1" cap="none">
                <a:solidFill>
                  <a:srgbClr val="FFFFFF"/>
                </a:solidFill>
                <a:latin typeface="Cambria" pitchFamily="2" charset="0"/>
                <a:ea typeface="Cambria" pitchFamily="2" charset="0"/>
                <a:cs typeface="Cambria" pitchFamily="2" charset="0"/>
              </a:rPr>
              <a:t>4</a:t>
            </a:r>
            <a:endParaRPr lang="en-us" sz="2200" cap="none"/>
          </a:p>
        </p:txBody>
      </p:sp>
      <p:sp>
        <p:nvSpPr>
          <p:cNvPr id="23" name="Text 2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QzkAAMAYAAArSAAAkBsAABAAAAAmAAAACAAAAP//////////"/>
              </a:ext>
            </a:extLst>
          </p:cNvSpPr>
          <p:nvPr/>
        </p:nvSpPr>
        <p:spPr>
          <a:xfrm>
            <a:off x="9308465" y="4023360"/>
            <a:ext cx="2423160" cy="457200"/>
          </a:xfrm>
          <a:prstGeom prst="rect">
            <a:avLst/>
          </a:prstGeom>
          <a:noFill/>
          <a:ln>
            <a:noFill/>
          </a:ln>
          <a:effectLst/>
        </p:spPr>
        <p:txBody>
          <a:bodyPr vert="horz" wrap="square" lIns="0" tIns="0" rIns="0" bIns="0" numCol="1" spcCol="215900" anchor="ctr"/>
          <a:lstStyle/>
          <a:p>
            <a:pPr marL="0" indent="0" algn="ctr">
              <a:buNone/>
            </a:pPr>
            <a:r>
              <a:rPr lang="en-us" sz="1600" b="1" cap="none">
                <a:solidFill>
                  <a:srgbClr val="1E2761"/>
                </a:solidFill>
                <a:latin typeface="Cambria" pitchFamily="2" charset="0"/>
                <a:ea typeface="Cambria" pitchFamily="2" charset="0"/>
                <a:cs typeface="Cambria" pitchFamily="2" charset="0"/>
              </a:rPr>
              <a:t>Decides Order</a:t>
            </a:r>
            <a:endParaRPr lang="en-us" sz="1600" cap="none"/>
          </a:p>
        </p:txBody>
      </p:sp>
      <p:sp>
        <p:nvSpPr>
          <p:cNvPr id="24" name="Text 2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izkAANgbAADjRwAAcCMAABAAAAAmAAAACAAAAP//////////"/>
              </a:ext>
            </a:extLst>
          </p:cNvSpPr>
          <p:nvPr/>
        </p:nvSpPr>
        <p:spPr>
          <a:xfrm>
            <a:off x="9354185" y="4526280"/>
            <a:ext cx="2331720" cy="1234440"/>
          </a:xfrm>
          <a:prstGeom prst="rect">
            <a:avLst/>
          </a:prstGeom>
          <a:noFill/>
          <a:ln>
            <a:noFill/>
          </a:ln>
          <a:effectLst/>
        </p:spPr>
        <p:txBody>
          <a:bodyPr vert="horz" wrap="square" lIns="0" tIns="0" rIns="0" bIns="0" numCol="1" spcCol="215900" anchor="ctr"/>
          <a:lstStyle/>
          <a:p>
            <a:pPr marL="0" indent="0" algn="ctr">
              <a:lnSpc>
                <a:spcPct val="110000"/>
              </a:lnSpc>
              <a:buNone/>
            </a:pPr>
            <a:r>
              <a:rPr lang="en-us" sz="1250" cap="none">
                <a:solidFill>
                  <a:srgbClr val="36454F"/>
                </a:solidFill>
              </a:rPr>
              <a:t>A separate scorer ranks only the candidates who passed the rules.</a:t>
            </a:r>
            <a:endParaRPr lang="en-us" sz="1250" cap="none"/>
          </a:p>
        </p:txBody>
      </p:sp>
      <p:sp>
        <p:nvSpPr>
          <p:cNvPr id="25" name="Text 2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NMnAADQLwAAgykAABAAAAAmAAAACAAAAP//////////"/>
              </a:ext>
            </a:extLst>
          </p:cNvSpPr>
          <p:nvPr/>
        </p:nvSpPr>
        <p:spPr>
          <a:xfrm>
            <a:off x="457200" y="6473825"/>
            <a:ext cx="7315200" cy="274320"/>
          </a:xfrm>
          <a:prstGeom prst="rect">
            <a:avLst/>
          </a:prstGeom>
          <a:noFill/>
          <a:ln>
            <a:noFill/>
          </a:ln>
          <a:effectLst/>
        </p:spPr>
        <p:txBody>
          <a:bodyPr vert="horz" wrap="square" lIns="0" tIns="0" rIns="0" bIns="0" numCol="1" spcCol="215900" anchor="ctr"/>
          <a:lstStyle/>
          <a:p>
            <a:pPr marL="0" indent="0">
              <a:buNone/>
            </a:pPr>
            <a:r>
              <a:rPr lang="en-us" sz="1000" cap="none">
                <a:solidFill>
                  <a:srgbClr val="8A93A6"/>
                </a:solidFill>
              </a:rPr>
              <a:t>EGCA — Evidence-Governed Candidate Assessment</a:t>
            </a:r>
            <a:endParaRPr lang="en-us" sz="1000" cap="none"/>
          </a:p>
        </p:txBody>
      </p:sp>
      <p:sp>
        <p:nvSpPr>
          <p:cNvPr id="26" name="Text 24"/>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0UAANMnAAArSAAAgykAABAAAAAmAAAACAAAAP//////////"/>
              </a:ext>
            </a:extLst>
          </p:cNvSpPr>
          <p:nvPr/>
        </p:nvSpPr>
        <p:spPr>
          <a:xfrm>
            <a:off x="11274425" y="6473825"/>
            <a:ext cx="457200" cy="274320"/>
          </a:xfrm>
          <a:prstGeom prst="rect">
            <a:avLst/>
          </a:prstGeom>
          <a:noFill/>
          <a:ln>
            <a:noFill/>
          </a:ln>
          <a:effectLst/>
        </p:spPr>
        <p:txBody>
          <a:bodyPr vert="horz" wrap="square" lIns="0" tIns="0" rIns="0" bIns="0" numCol="1" spcCol="215900" anchor="ctr"/>
          <a:lstStyle/>
          <a:p>
            <a:pPr marL="0" indent="0" algn="r">
              <a:buNone/>
            </a:pPr>
            <a:r>
              <a:rPr lang="en-us" sz="1000" cap="none">
                <a:solidFill>
                  <a:srgbClr val="8A93A6"/>
                </a:solidFill>
              </a:rPr>
              <a:t>4</a:t>
            </a:r>
            <a:endParaRPr lang="en-us" sz="1000" cap="none"/>
          </a:p>
        </p:txBody>
      </p:sp>
    </p:spTree>
  </p:cSld>
  <p:clrMapOvr>
    <a:masterClrMapping/>
  </p:clrMapOvr>
  <p:timing>
    <p:tnLst>
      <p:par>
        <p:cTn id="1" dur="indefinite" restart="never" nodeType="tmRoot"/>
      </p:par>
    </p:tnLst>
  </p:timing>
</p:sld>
</file>

<file path=ppt/slides/slide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name="Slide 5">
    <p:bg>
      <p:bgPr>
        <a:solidFill>
          <a:srgbClr val="F7F9FC"/>
        </a:solidFill>
        <a:effectLst/>
      </p:bgPr>
    </p:bg>
    <p:spTree>
      <p:nvGrpSpPr>
        <p:cNvPr id="1" name=""/>
        <p:cNvGrpSpPr/>
        <p:nvPr/>
      </p:nvGrpSpPr>
      <p:grpSpPr>
        <a:xfrm>
          <a:off x="0" y="0"/>
          <a:ext cx="0" cy="0"/>
          <a:chOff x="0" y="0"/>
          <a:chExt cx="0" cy="0"/>
        </a:xfrm>
      </p:grpSpPr>
      <p:sp>
        <p:nvSpPr>
          <p:cNvPr id="2" name="Text 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Y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IgCAADgRgAAgAQAABAAAAAmAAAACAAAAP//////////"/>
              </a:ext>
            </a:extLst>
          </p:cNvSpPr>
          <p:nvPr/>
        </p:nvSpPr>
        <p:spPr>
          <a:xfrm>
            <a:off x="548640" y="411480"/>
            <a:ext cx="10972800" cy="320040"/>
          </a:xfrm>
          <a:prstGeom prst="rect">
            <a:avLst/>
          </a:prstGeom>
          <a:noFill/>
          <a:ln>
            <a:noFill/>
          </a:ln>
          <a:effectLst/>
        </p:spPr>
        <p:txBody>
          <a:bodyPr vert="horz" wrap="square" lIns="0" tIns="0" rIns="0" bIns="0" numCol="1" spcCol="215900" anchor="ctr"/>
          <a:lstStyle/>
          <a:p>
            <a:pPr marL="0" indent="0">
              <a:buNone/>
            </a:pPr>
            <a:r>
              <a:rPr lang="en-us" sz="1300" b="1" cap="none" spc="40">
                <a:solidFill>
                  <a:srgbClr val="C98A2C"/>
                </a:solidFill>
              </a:rPr>
              <a:t>STEP 1 · INGEST</a:t>
            </a:r>
            <a:endParaRPr lang="en-us" sz="1300" cap="none"/>
          </a:p>
        </p:txBody>
      </p:sp>
      <p:sp>
        <p:nvSpPr>
          <p:cNvPr id="3" name="Text 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GMEAABwRwAAcwkAABAAAAAmAAAACAAAAP//////////"/>
              </a:ext>
            </a:extLst>
          </p:cNvSpPr>
          <p:nvPr/>
        </p:nvSpPr>
        <p:spPr>
          <a:xfrm>
            <a:off x="548640" y="713105"/>
            <a:ext cx="11064240" cy="822960"/>
          </a:xfrm>
          <a:prstGeom prst="rect">
            <a:avLst/>
          </a:prstGeom>
          <a:noFill/>
          <a:ln>
            <a:noFill/>
          </a:ln>
          <a:effectLst/>
        </p:spPr>
        <p:txBody>
          <a:bodyPr vert="horz" wrap="square" lIns="0" tIns="0" rIns="0" bIns="0" numCol="1" spcCol="215900" anchor="ctr"/>
          <a:lstStyle/>
          <a:p>
            <a:pPr marL="0" indent="0">
              <a:buNone/>
            </a:pPr>
            <a:r>
              <a:rPr lang="en-us" sz="3000" b="1" cap="none">
                <a:solidFill>
                  <a:srgbClr val="1E2761"/>
                </a:solidFill>
                <a:latin typeface="Cambria" pitchFamily="2" charset="0"/>
                <a:ea typeface="Cambria" pitchFamily="2" charset="0"/>
                <a:cs typeface="Cambria" pitchFamily="2" charset="0"/>
              </a:rPr>
              <a:t>The Front Desk</a:t>
            </a:r>
            <a:endParaRPr lang="en-us" sz="3000" cap="none"/>
          </a:p>
        </p:txBody>
      </p:sp>
      <p:sp>
        <p:nvSpPr>
          <p:cNvPr id="4" name="Shape 2"/>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Hidh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dhAP///wEAAAAAAAAAAAAAAAAAAAAAAAAAAAAAAAAAAAAAAAAAAAAAAAB/f38A5+bmA8zMzADAwP8Af39/AAAAAAAAAAAAAAAAAAAAAAAAAAAAIQAAABgAAAAUAAAA8AMAAEALAABACwAAkBIAABAAAAAmAAAACAAAAP//////////"/>
              </a:ext>
            </a:extLst>
          </p:cNvSpPr>
          <p:nvPr/>
        </p:nvSpPr>
        <p:spPr>
          <a:xfrm>
            <a:off x="640080" y="1828800"/>
            <a:ext cx="1188720" cy="1188720"/>
          </a:xfrm>
          <a:prstGeom prst="ellipse">
            <a:avLst/>
          </a:prstGeom>
          <a:solidFill>
            <a:srgbClr val="1E2761"/>
          </a:solidFill>
          <a:ln>
            <a:noFill/>
          </a:ln>
          <a:effectLst/>
        </p:spPr>
      </p:sp>
      <p:sp>
        <p:nvSpPr>
          <p:cNvPr id="5" name="Text 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GLW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8AMAAEALAABACwAAkBIAABAAAAAmAAAACAAAAP//////////"/>
              </a:ext>
            </a:extLst>
          </p:cNvSpPr>
          <p:nvPr/>
        </p:nvSpPr>
        <p:spPr>
          <a:xfrm>
            <a:off x="640080" y="1828800"/>
            <a:ext cx="1188720" cy="1188720"/>
          </a:xfrm>
          <a:prstGeom prst="rect">
            <a:avLst/>
          </a:prstGeom>
          <a:noFill/>
          <a:ln>
            <a:noFill/>
          </a:ln>
          <a:effectLst/>
        </p:spPr>
        <p:txBody>
          <a:bodyPr vert="horz" wrap="square" lIns="0" tIns="0" rIns="0" bIns="0" numCol="1" spcCol="215900" anchor="ctr"/>
          <a:lstStyle/>
          <a:p>
            <a:pPr marL="0" indent="0" algn="ctr">
              <a:buNone/>
            </a:pPr>
            <a:r>
              <a:rPr lang="en-us" sz="4000" b="1" cap="none">
                <a:solidFill>
                  <a:srgbClr val="FFFFFF"/>
                </a:solidFill>
                <a:latin typeface="Cambria" pitchFamily="2" charset="0"/>
                <a:ea typeface="Cambria" pitchFamily="2" charset="0"/>
                <a:cs typeface="Cambria" pitchFamily="2" charset="0"/>
              </a:rPr>
              <a:t>A</a:t>
            </a:r>
            <a:endParaRPr lang="en-us" sz="4000" cap="none"/>
          </a:p>
        </p:txBody>
      </p:sp>
      <p:sp>
        <p:nvSpPr>
          <p:cNvPr id="6" name="Shape 4"/>
          <p:cNvSpPr>
            <a:extLst>
              <a:ext uri="smNativeData">
                <pr:smNativeData xmlns:pr="smNativeData" xmlns="smNativeData" val="SMDATA_15_ZH+7ahMAAAAlAAAAZQAAAA0AAAAAkAAAAEgAAACQAAAASAAAAAAAAAAAAAAAAAAAAAEAAABQAAAAqYdodAexwz8AAAAAAADwvwAAAAAAAOA/AAAAAAAA4D8AAAAAAADgPwAAAAAAAOA/AAAAAAAA4D8AAAAAAADgPwAAAAAAAOA/AAAAAAAA4D8CAAAAjAAAAAEAAAAAAAAAytz8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HQ1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tz8AP///wEAAAAAAAAAAAAAAAAAAAAAAAAAAAAAAAAAAAAAAAAAAAAAAAB/f38A5+bmA8zMzADAwP8Af39/AAAAAAAAAAAAAAAAAAAAAAAAAAAAIQAAABgAAAAUAAAAOA0AAGgKAAAoRwAAuBEAABAAAAAmAAAACAAAAP//////////"/>
              </a:ext>
            </a:extLst>
          </p:cNvSpPr>
          <p:nvPr/>
        </p:nvSpPr>
        <p:spPr>
          <a:xfrm>
            <a:off x="2148840" y="1691640"/>
            <a:ext cx="9418320" cy="1188720"/>
          </a:xfrm>
          <a:prstGeom prst="roundRect">
            <a:avLst>
              <a:gd name="adj" fmla="val 7692"/>
            </a:avLst>
          </a:prstGeom>
          <a:solidFill>
            <a:srgbClr val="CADCFC"/>
          </a:solidFill>
          <a:ln>
            <a:noFill/>
          </a:ln>
          <a:effectLst/>
        </p:spPr>
      </p:sp>
      <p:sp>
        <p:nvSpPr>
          <p:cNvPr id="7" name="Text 5"/>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C5IN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4AAOoKAADARQAAmgwAABAAAAAmAAAACAAAAP//////////"/>
              </a:ext>
            </a:extLst>
          </p:cNvSpPr>
          <p:nvPr/>
        </p:nvSpPr>
        <p:spPr>
          <a:xfrm>
            <a:off x="2377440" y="1774190"/>
            <a:ext cx="8961120" cy="274320"/>
          </a:xfrm>
          <a:prstGeom prst="rect">
            <a:avLst/>
          </a:prstGeom>
          <a:noFill/>
          <a:ln>
            <a:noFill/>
          </a:ln>
          <a:effectLst/>
        </p:spPr>
        <p:txBody>
          <a:bodyPr vert="horz" wrap="square" lIns="0" tIns="0" rIns="0" bIns="0" numCol="1" spcCol="215900" anchor="ctr"/>
          <a:lstStyle/>
          <a:p>
            <a:pPr marL="0" indent="0">
              <a:buNone/>
            </a:pPr>
            <a:r>
              <a:rPr lang="en-us" sz="1200" b="1" cap="none">
                <a:solidFill>
                  <a:srgbClr val="1E2761"/>
                </a:solidFill>
              </a:rPr>
              <a:t>REAL, DOCUMENTED ATTACK:</a:t>
            </a:r>
            <a:endParaRPr lang="en-us" sz="1200" cap="none"/>
          </a:p>
        </p:txBody>
      </p:sp>
      <p:sp>
        <p:nvSpPr>
          <p:cNvPr id="8" name="Text 6"/>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ZAB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4AAH0MAADARQAARREAABAAAAAmAAAACAAAAP//////////"/>
              </a:ext>
            </a:extLst>
          </p:cNvSpPr>
          <p:nvPr/>
        </p:nvSpPr>
        <p:spPr>
          <a:xfrm>
            <a:off x="2377440" y="2030095"/>
            <a:ext cx="8961120" cy="777240"/>
          </a:xfrm>
          <a:prstGeom prst="rect">
            <a:avLst/>
          </a:prstGeom>
          <a:noFill/>
          <a:ln>
            <a:noFill/>
          </a:ln>
          <a:effectLst/>
        </p:spPr>
        <p:txBody>
          <a:bodyPr vert="horz" wrap="square" lIns="0" tIns="0" rIns="0" bIns="0" numCol="1" spcCol="215900" anchor="ctr"/>
          <a:lstStyle/>
          <a:p>
            <a:pPr marL="0" indent="0">
              <a:lnSpc>
                <a:spcPct val="108000"/>
              </a:lnSpc>
              <a:buNone/>
            </a:pPr>
            <a:r>
              <a:rPr lang="en-us" sz="1350" cap="none">
                <a:solidFill>
                  <a:srgbClr val="1E2761"/>
                </a:solidFill>
              </a:rPr>
              <a:t>Security researchers built “Inject My PDF” — a tool that hides secret AI instructions inside a resume file. White-fonting (keywords hidden in white text) is separately reported as an active practice.</a:t>
            </a:r>
            <a:endParaRPr lang="en-us" sz="1350" cap="none"/>
          </a:p>
        </p:txBody>
      </p:sp>
      <p:sp>
        <p:nvSpPr>
          <p:cNvPr id="9" name="Shape 7"/>
          <p:cNvSpPr>
            <a:extLst>
              <a:ext uri="smNativeData">
                <pr:smNativeData xmlns:pr="smNativeData" xmlns="smNativeData" val="SMDATA_15_ZH+7ahMAAAAlAAAAZgAAAA0AAAAAkAAAAEgAAACQAAAASAAAAAAAAAAAAAAAAAAAAAEAAABQAAAAaDNPtgPI7z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C/A5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OAQAAFYWAAAeBQAAPRcAABAAAAAmAAAACAAAAP//////////"/>
              </a:ext>
            </a:extLst>
          </p:cNvSpPr>
          <p:nvPr/>
        </p:nvSpPr>
        <p:spPr>
          <a:xfrm>
            <a:off x="685800" y="3630930"/>
            <a:ext cx="146050" cy="146685"/>
          </a:xfrm>
          <a:prstGeom prst="pie">
            <a:avLst>
              <a:gd name="adj1" fmla="val 16347618"/>
              <a:gd name="adj2" fmla="val 16200000"/>
            </a:avLst>
          </a:prstGeom>
          <a:solidFill>
            <a:srgbClr val="C98A2C"/>
          </a:solidFill>
          <a:ln>
            <a:noFill/>
          </a:ln>
          <a:effectLst/>
        </p:spPr>
      </p:sp>
      <p:sp>
        <p:nvSpPr>
          <p:cNvPr id="10" name="Text 8"/>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g9BS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YAALATAAAoRwAAWBcAABAAAAAmAAAACAAAAP//////////"/>
              </a:ext>
            </a:extLst>
          </p:cNvSpPr>
          <p:nvPr/>
        </p:nvSpPr>
        <p:spPr>
          <a:xfrm>
            <a:off x="1051560" y="3200400"/>
            <a:ext cx="10515600" cy="594360"/>
          </a:xfrm>
          <a:prstGeom prst="rect">
            <a:avLst/>
          </a:prstGeom>
          <a:noFill/>
          <a:ln>
            <a:noFill/>
          </a:ln>
          <a:effectLst/>
        </p:spPr>
        <p:txBody>
          <a:bodyPr vert="horz" wrap="square" lIns="0" tIns="0" rIns="0" bIns="0" numCol="1" spcCol="215900" anchor="ctr"/>
          <a:lstStyle/>
          <a:p>
            <a:pPr marL="0" indent="0">
              <a:lnSpc>
                <a:spcPct val="110000"/>
              </a:lnSpc>
              <a:buNone/>
            </a:pPr>
            <a:r>
              <a:rPr lang="en-us" sz="1500" cap="none">
                <a:solidFill>
                  <a:srgbClr val="36454F"/>
                </a:solidFill>
              </a:rPr>
              <a:t>The resume is saved exactly as submitted, before anything touches it.</a:t>
            </a:r>
            <a:endParaRPr lang="en-us" sz="1500" cap="none"/>
          </a:p>
        </p:txBody>
      </p:sp>
      <p:sp>
        <p:nvSpPr>
          <p:cNvPr id="11" name="Shape 9"/>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IwQAAHUZAAAJBQAAWxoAABAAAAAmAAAACAAAAP//////////"/>
              </a:ext>
            </a:extLst>
          </p:cNvSpPr>
          <p:nvPr/>
        </p:nvSpPr>
        <p:spPr>
          <a:xfrm>
            <a:off x="672465" y="4138295"/>
            <a:ext cx="146050" cy="146050"/>
          </a:xfrm>
          <a:prstGeom prst="ellipse">
            <a:avLst/>
          </a:prstGeom>
          <a:solidFill>
            <a:srgbClr val="C98A2C"/>
          </a:solidFill>
          <a:ln>
            <a:noFill/>
          </a:ln>
          <a:effectLst/>
        </p:spPr>
      </p:sp>
      <p:sp>
        <p:nvSpPr>
          <p:cNvPr id="12" name="Text 1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YAAL0XAAAoRwAAZRsAABAAAAAmAAAACAAAAP//////////"/>
              </a:ext>
            </a:extLst>
          </p:cNvSpPr>
          <p:nvPr/>
        </p:nvSpPr>
        <p:spPr>
          <a:xfrm>
            <a:off x="1051560" y="3858895"/>
            <a:ext cx="10515600" cy="594360"/>
          </a:xfrm>
          <a:prstGeom prst="rect">
            <a:avLst/>
          </a:prstGeom>
          <a:noFill/>
          <a:ln>
            <a:noFill/>
          </a:ln>
          <a:effectLst/>
        </p:spPr>
        <p:txBody>
          <a:bodyPr vert="horz" wrap="square" lIns="0" tIns="0" rIns="0" bIns="0" numCol="1" spcCol="215900" anchor="ctr"/>
          <a:lstStyle/>
          <a:p>
            <a:pPr marL="0" indent="0">
              <a:lnSpc>
                <a:spcPct val="110000"/>
              </a:lnSpc>
              <a:buNone/>
            </a:pPr>
            <a:r>
              <a:rPr lang="en-us" sz="1500" cap="none">
                <a:solidFill>
                  <a:srgbClr val="36454F"/>
                </a:solidFill>
              </a:rPr>
              <a:t>Hidden tricks — invisible text, disguised instructions — are automatically flagged.</a:t>
            </a:r>
            <a:endParaRPr lang="en-us" sz="1500" cap="none"/>
          </a:p>
        </p:txBody>
      </p:sp>
      <p:sp>
        <p:nvSpPr>
          <p:cNvPr id="13" name="Shape 11"/>
          <p:cNvSpPr>
            <a:extLst>
              <a:ext uri="smNativeData">
                <pr:smNativeData xmlns:pr="smNativeData" xmlns="smNativeData" val="SMDATA_15_ZH+7ahMAAAAlAAAAZgAAAA0AAAAAkAAAAEgAAACQAAAASAAAAAAAAAAAAAAAAAAAAAEAAABQAAAAToGYJTLZ3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OAQAAD0cAAAeBQAAIx0AABAAAAAmAAAACAAAAP//////////"/>
              </a:ext>
            </a:extLst>
          </p:cNvSpPr>
          <p:nvPr/>
        </p:nvSpPr>
        <p:spPr>
          <a:xfrm>
            <a:off x="685800" y="4590415"/>
            <a:ext cx="146050" cy="146050"/>
          </a:xfrm>
          <a:prstGeom prst="pie">
            <a:avLst>
              <a:gd name="adj1" fmla="val 6463658"/>
              <a:gd name="adj2" fmla="val 16200000"/>
            </a:avLst>
          </a:prstGeom>
          <a:solidFill>
            <a:srgbClr val="C98A2C"/>
          </a:solidFill>
          <a:ln>
            <a:noFill/>
          </a:ln>
          <a:effectLst/>
        </p:spPr>
      </p:sp>
      <p:sp>
        <p:nvSpPr>
          <p:cNvPr id="14" name="Text 1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YAAMobAAAoRwAAch8AABAAAAAmAAAACAAAAP//////////"/>
              </a:ext>
            </a:extLst>
          </p:cNvSpPr>
          <p:nvPr/>
        </p:nvSpPr>
        <p:spPr>
          <a:xfrm>
            <a:off x="1051560" y="4517390"/>
            <a:ext cx="10515600" cy="594360"/>
          </a:xfrm>
          <a:prstGeom prst="rect">
            <a:avLst/>
          </a:prstGeom>
          <a:noFill/>
          <a:ln>
            <a:noFill/>
          </a:ln>
          <a:effectLst/>
        </p:spPr>
        <p:txBody>
          <a:bodyPr vert="horz" wrap="square" lIns="0" tIns="0" rIns="0" bIns="0" numCol="1" spcCol="215900" anchor="ctr"/>
          <a:lstStyle/>
          <a:p>
            <a:pPr marL="0" indent="0">
              <a:lnSpc>
                <a:spcPct val="110000"/>
              </a:lnSpc>
              <a:buNone/>
            </a:pPr>
            <a:r>
              <a:rPr lang="en-us" sz="1500" cap="none">
                <a:solidFill>
                  <a:srgbClr val="36454F"/>
                </a:solidFill>
              </a:rPr>
              <a:t>Every claim the AI writes down must point to a real sentence in the resume, or it's thrown out.</a:t>
            </a:r>
            <a:endParaRPr lang="en-us" sz="1500" cap="none"/>
          </a:p>
        </p:txBody>
      </p:sp>
      <p:sp>
        <p:nvSpPr>
          <p:cNvPr id="15" name="Text 1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NMnAADQLwAAgykAABAAAAAmAAAACAAAAP//////////"/>
              </a:ext>
            </a:extLst>
          </p:cNvSpPr>
          <p:nvPr/>
        </p:nvSpPr>
        <p:spPr>
          <a:xfrm>
            <a:off x="457200" y="6473825"/>
            <a:ext cx="7315200" cy="274320"/>
          </a:xfrm>
          <a:prstGeom prst="rect">
            <a:avLst/>
          </a:prstGeom>
          <a:noFill/>
          <a:ln>
            <a:noFill/>
          </a:ln>
          <a:effectLst/>
        </p:spPr>
        <p:txBody>
          <a:bodyPr vert="horz" wrap="square" lIns="0" tIns="0" rIns="0" bIns="0" numCol="1" spcCol="215900" anchor="ctr"/>
          <a:lstStyle/>
          <a:p>
            <a:pPr marL="0" indent="0">
              <a:buNone/>
            </a:pPr>
            <a:r>
              <a:rPr lang="en-us" sz="1000" cap="none">
                <a:solidFill>
                  <a:srgbClr val="8A93A6"/>
                </a:solidFill>
              </a:rPr>
              <a:t>EGCA — Evidence-Governed Candidate Assessment</a:t>
            </a:r>
            <a:endParaRPr lang="en-us" sz="1000" cap="none"/>
          </a:p>
        </p:txBody>
      </p:sp>
      <p:sp>
        <p:nvSpPr>
          <p:cNvPr id="16" name="Text 14"/>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0UAANMnAAArSAAAgykAABAAAAAmAAAACAAAAP//////////"/>
              </a:ext>
            </a:extLst>
          </p:cNvSpPr>
          <p:nvPr/>
        </p:nvSpPr>
        <p:spPr>
          <a:xfrm>
            <a:off x="11274425" y="6473825"/>
            <a:ext cx="457200" cy="274320"/>
          </a:xfrm>
          <a:prstGeom prst="rect">
            <a:avLst/>
          </a:prstGeom>
          <a:noFill/>
          <a:ln>
            <a:noFill/>
          </a:ln>
          <a:effectLst/>
        </p:spPr>
        <p:txBody>
          <a:bodyPr vert="horz" wrap="square" lIns="0" tIns="0" rIns="0" bIns="0" numCol="1" spcCol="215900" anchor="ctr"/>
          <a:lstStyle/>
          <a:p>
            <a:pPr marL="0" indent="0" algn="r">
              <a:buNone/>
            </a:pPr>
            <a:r>
              <a:rPr lang="en-us" sz="1000" cap="none">
                <a:solidFill>
                  <a:srgbClr val="8A93A6"/>
                </a:solidFill>
              </a:rPr>
              <a:t>5</a:t>
            </a:r>
            <a:endParaRPr lang="en-us" sz="1000" cap="none"/>
          </a:p>
        </p:txBody>
      </p:sp>
    </p:spTree>
  </p:cSld>
  <p:clrMapOvr>
    <a:masterClrMapping/>
  </p:clrMapOvr>
  <p:timing>
    <p:tnLst>
      <p:par>
        <p:cTn id="1" dur="indefinite" restart="never" nodeType="tmRoot"/>
      </p:par>
    </p:tnLst>
  </p:timing>
</p:sld>
</file>

<file path=ppt/slides/slide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name="Slide 6">
    <p:bg>
      <p:bgPr>
        <a:solidFill>
          <a:srgbClr val="F7F9FC"/>
        </a:solidFill>
        <a:effectLst/>
      </p:bgPr>
    </p:bg>
    <p:spTree>
      <p:nvGrpSpPr>
        <p:cNvPr id="1" name=""/>
        <p:cNvGrpSpPr/>
        <p:nvPr/>
      </p:nvGrpSpPr>
      <p:grpSpPr>
        <a:xfrm>
          <a:off x="0" y="0"/>
          <a:ext cx="0" cy="0"/>
          <a:chOff x="0" y="0"/>
          <a:chExt cx="0" cy="0"/>
        </a:xfrm>
      </p:grpSpPr>
      <p:sp>
        <p:nvSpPr>
          <p:cNvPr id="2" name="Text 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IgCAADgRgAAgAQAABAAAAAmAAAACAAAAP//////////"/>
              </a:ext>
            </a:extLst>
          </p:cNvSpPr>
          <p:nvPr/>
        </p:nvSpPr>
        <p:spPr>
          <a:xfrm>
            <a:off x="548640" y="411480"/>
            <a:ext cx="10972800" cy="320040"/>
          </a:xfrm>
          <a:prstGeom prst="rect">
            <a:avLst/>
          </a:prstGeom>
          <a:noFill/>
          <a:ln>
            <a:noFill/>
          </a:ln>
          <a:effectLst/>
        </p:spPr>
        <p:txBody>
          <a:bodyPr vert="horz" wrap="square" lIns="0" tIns="0" rIns="0" bIns="0" numCol="1" spcCol="215900" anchor="ctr"/>
          <a:lstStyle/>
          <a:p>
            <a:pPr marL="0" indent="0">
              <a:buNone/>
            </a:pPr>
            <a:r>
              <a:rPr lang="en-us" sz="1300" b="1" cap="none" spc="40">
                <a:solidFill>
                  <a:srgbClr val="C98A2C"/>
                </a:solidFill>
              </a:rPr>
              <a:t>STEP 2 · STAGE 1</a:t>
            </a:r>
            <a:endParaRPr lang="en-us" sz="1300" cap="none"/>
          </a:p>
        </p:txBody>
      </p:sp>
      <p:sp>
        <p:nvSpPr>
          <p:cNvPr id="3" name="Text 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IDNeD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GMEAABwRwAAcwkAABAAAAAmAAAACAAAAP//////////"/>
              </a:ext>
            </a:extLst>
          </p:cNvSpPr>
          <p:nvPr/>
        </p:nvSpPr>
        <p:spPr>
          <a:xfrm>
            <a:off x="548640" y="713105"/>
            <a:ext cx="11064240" cy="822960"/>
          </a:xfrm>
          <a:prstGeom prst="rect">
            <a:avLst/>
          </a:prstGeom>
          <a:noFill/>
          <a:ln>
            <a:noFill/>
          </a:ln>
          <a:effectLst/>
        </p:spPr>
        <p:txBody>
          <a:bodyPr vert="horz" wrap="square" lIns="0" tIns="0" rIns="0" bIns="0" numCol="1" spcCol="215900" anchor="ctr"/>
          <a:lstStyle/>
          <a:p>
            <a:pPr marL="0" indent="0">
              <a:buNone/>
            </a:pPr>
            <a:r>
              <a:rPr lang="en-us" sz="3000" b="1" cap="none">
                <a:solidFill>
                  <a:srgbClr val="1E2761"/>
                </a:solidFill>
                <a:latin typeface="Cambria" pitchFamily="2" charset="0"/>
                <a:ea typeface="Cambria" pitchFamily="2" charset="0"/>
                <a:cs typeface="Cambria" pitchFamily="2" charset="0"/>
              </a:rPr>
              <a:t>A Quick, Honest Glance</a:t>
            </a:r>
            <a:endParaRPr lang="en-us" sz="3000" cap="none"/>
          </a:p>
        </p:txBody>
      </p:sp>
      <p:sp>
        <p:nvSpPr>
          <p:cNvPr id="4" name="Shape 2"/>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Hidh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QJ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dhAP///wEAAAAAAAAAAAAAAAAAAAAAAAAAAAAAAAAAAAAAAAAAAAAAAAB/f38A5+bmA8zMzADAwP8Af39/AAAAAAAAAAAAAAAAAAAAAAAAAAAAIQAAABgAAAAUAAAA8AMAAEALAABACwAAkBIAABAAAAAmAAAACAAAAP//////////"/>
              </a:ext>
            </a:extLst>
          </p:cNvSpPr>
          <p:nvPr/>
        </p:nvSpPr>
        <p:spPr>
          <a:xfrm>
            <a:off x="640080" y="1828800"/>
            <a:ext cx="1188720" cy="1188720"/>
          </a:xfrm>
          <a:prstGeom prst="ellipse">
            <a:avLst/>
          </a:prstGeom>
          <a:solidFill>
            <a:srgbClr val="1E2761"/>
          </a:solidFill>
          <a:ln>
            <a:noFill/>
          </a:ln>
          <a:effectLst/>
        </p:spPr>
      </p:sp>
      <p:sp>
        <p:nvSpPr>
          <p:cNvPr id="5" name="Text 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0N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8AMAAEALAABACwAAkBIAABAAAAAmAAAACAAAAP//////////"/>
              </a:ext>
            </a:extLst>
          </p:cNvSpPr>
          <p:nvPr/>
        </p:nvSpPr>
        <p:spPr>
          <a:xfrm>
            <a:off x="640080" y="1828800"/>
            <a:ext cx="1188720" cy="1188720"/>
          </a:xfrm>
          <a:prstGeom prst="rect">
            <a:avLst/>
          </a:prstGeom>
          <a:noFill/>
          <a:ln>
            <a:noFill/>
          </a:ln>
          <a:effectLst/>
        </p:spPr>
        <p:txBody>
          <a:bodyPr vert="horz" wrap="square" lIns="0" tIns="0" rIns="0" bIns="0" numCol="1" spcCol="215900" anchor="ctr"/>
          <a:lstStyle/>
          <a:p>
            <a:pPr marL="0" indent="0" algn="ctr">
              <a:buNone/>
            </a:pPr>
            <a:r>
              <a:rPr lang="en-us" sz="4000" b="1" cap="none">
                <a:solidFill>
                  <a:srgbClr val="FFFFFF"/>
                </a:solidFill>
                <a:latin typeface="Cambria" pitchFamily="2" charset="0"/>
                <a:ea typeface="Cambria" pitchFamily="2" charset="0"/>
                <a:cs typeface="Cambria" pitchFamily="2" charset="0"/>
              </a:rPr>
              <a:t>B</a:t>
            </a:r>
            <a:endParaRPr lang="en-us" sz="4000" cap="none"/>
          </a:p>
        </p:txBody>
      </p:sp>
      <p:sp>
        <p:nvSpPr>
          <p:cNvPr id="6" name="Shape 4"/>
          <p:cNvSpPr>
            <a:extLst>
              <a:ext uri="smNativeData">
                <pr:smNativeData xmlns:pr="smNativeData" xmlns="smNativeData" val="SMDATA_15_ZH+7ahMAAAAlAAAAZQAAAA0AAAAAkAAAAEgAAACQAAAASAAAAAAAAAAAAAAAAAAAAAEAAABQAAAAqYdodAexwz8AAAAAAADwvwAAAAAAAOA/AAAAAAAA4D8AAAAAAADgPwAAAAAAAOA/AAAAAAAA4D8AAAAAAADgPwAAAAAAAOA/AAAAAAAA4D8CAAAAjAAAAAEAAAAAAAAAytz8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tz8AP///wEAAAAAAAAAAAAAAAAAAAAAAAAAAAAAAAAAAAAAAAAAAAAAAAB/f38A5+bmA8zMzADAwP8Af39/AAAAAAAAAAAAAAAAAAAAAAAAAAAAIQAAABgAAAAUAAAAOA0AAGgKAAAoRwAAuBEAABAAAAAmAAAACAAAAP//////////"/>
              </a:ext>
            </a:extLst>
          </p:cNvSpPr>
          <p:nvPr/>
        </p:nvSpPr>
        <p:spPr>
          <a:xfrm>
            <a:off x="2148840" y="1691640"/>
            <a:ext cx="9418320" cy="1188720"/>
          </a:xfrm>
          <a:prstGeom prst="roundRect">
            <a:avLst>
              <a:gd name="adj" fmla="val 7692"/>
            </a:avLst>
          </a:prstGeom>
          <a:solidFill>
            <a:srgbClr val="CADCFC"/>
          </a:solidFill>
          <a:ln>
            <a:noFill/>
          </a:ln>
          <a:effectLst/>
        </p:spPr>
      </p:sp>
      <p:sp>
        <p:nvSpPr>
          <p:cNvPr id="7" name="Text 5"/>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4AAOoKAADARQAAmgwAABAAAAAmAAAACAAAAP//////////"/>
              </a:ext>
            </a:extLst>
          </p:cNvSpPr>
          <p:nvPr/>
        </p:nvSpPr>
        <p:spPr>
          <a:xfrm>
            <a:off x="2377440" y="1774190"/>
            <a:ext cx="8961120" cy="274320"/>
          </a:xfrm>
          <a:prstGeom prst="rect">
            <a:avLst/>
          </a:prstGeom>
          <a:noFill/>
          <a:ln>
            <a:noFill/>
          </a:ln>
          <a:effectLst/>
        </p:spPr>
        <p:txBody>
          <a:bodyPr vert="horz" wrap="square" lIns="0" tIns="0" rIns="0" bIns="0" numCol="1" spcCol="215900" anchor="ctr"/>
          <a:lstStyle/>
          <a:p>
            <a:pPr marL="0" indent="0">
              <a:buNone/>
            </a:pPr>
            <a:r>
              <a:rPr lang="en-us" sz="1200" b="1" cap="none">
                <a:solidFill>
                  <a:srgbClr val="1E2761"/>
                </a:solidFill>
              </a:rPr>
              <a:t>REAL FINDING:</a:t>
            </a:r>
            <a:endParaRPr lang="en-us" sz="1200" cap="none"/>
          </a:p>
        </p:txBody>
      </p:sp>
      <p:sp>
        <p:nvSpPr>
          <p:cNvPr id="8" name="Text 6"/>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Y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4AAH0MAADARQAARREAABAAAAAmAAAACAAAAP//////////"/>
              </a:ext>
            </a:extLst>
          </p:cNvSpPr>
          <p:nvPr/>
        </p:nvSpPr>
        <p:spPr>
          <a:xfrm>
            <a:off x="2377440" y="2030095"/>
            <a:ext cx="8961120" cy="777240"/>
          </a:xfrm>
          <a:prstGeom prst="rect">
            <a:avLst/>
          </a:prstGeom>
          <a:noFill/>
          <a:ln>
            <a:noFill/>
          </a:ln>
          <a:effectLst/>
        </p:spPr>
        <p:txBody>
          <a:bodyPr vert="horz" wrap="square" lIns="0" tIns="0" rIns="0" bIns="0" numCol="1" spcCol="215900" anchor="ctr"/>
          <a:lstStyle/>
          <a:p>
            <a:pPr marL="0" indent="0">
              <a:lnSpc>
                <a:spcPct val="108000"/>
              </a:lnSpc>
              <a:buNone/>
            </a:pPr>
            <a:r>
              <a:rPr lang="en-us" sz="1350" cap="none">
                <a:solidFill>
                  <a:srgbClr val="1E2761"/>
                </a:solidFill>
              </a:rPr>
              <a:t>Across 10,765 real hires, researchers tested 3,597 resume skills for whether they predicted job performance. The number that did: zero.</a:t>
            </a:r>
            <a:endParaRPr lang="en-us" sz="1350" cap="none"/>
          </a:p>
        </p:txBody>
      </p:sp>
      <p:sp>
        <p:nvSpPr>
          <p:cNvPr id="9" name="Shape 7"/>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OAQAACMUAAAeBQAAChUAABAAAAAmAAAACAAAAP//////////"/>
              </a:ext>
            </a:extLst>
          </p:cNvSpPr>
          <p:nvPr/>
        </p:nvSpPr>
        <p:spPr>
          <a:xfrm>
            <a:off x="685800" y="3273425"/>
            <a:ext cx="146050" cy="146685"/>
          </a:xfrm>
          <a:prstGeom prst="ellipse">
            <a:avLst/>
          </a:prstGeom>
          <a:solidFill>
            <a:srgbClr val="C98A2C"/>
          </a:solidFill>
          <a:ln>
            <a:noFill/>
          </a:ln>
          <a:effectLst/>
        </p:spPr>
      </p:sp>
      <p:sp>
        <p:nvSpPr>
          <p:cNvPr id="10" name="Text 8"/>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YAALATAAAoRwAAWBcAABAAAAAmAAAACAAAAP//////////"/>
              </a:ext>
            </a:extLst>
          </p:cNvSpPr>
          <p:nvPr/>
        </p:nvSpPr>
        <p:spPr>
          <a:xfrm>
            <a:off x="1051560" y="3200400"/>
            <a:ext cx="10515600" cy="594360"/>
          </a:xfrm>
          <a:prstGeom prst="rect">
            <a:avLst/>
          </a:prstGeom>
          <a:noFill/>
          <a:ln>
            <a:noFill/>
          </a:ln>
          <a:effectLst/>
        </p:spPr>
        <p:txBody>
          <a:bodyPr vert="horz" wrap="square" lIns="0" tIns="0" rIns="0" bIns="0" numCol="1" spcCol="215900" anchor="ctr"/>
          <a:lstStyle/>
          <a:p>
            <a:pPr marL="0" indent="0">
              <a:lnSpc>
                <a:spcPct val="110000"/>
              </a:lnSpc>
              <a:buNone/>
            </a:pPr>
            <a:r>
              <a:rPr lang="en-us" sz="1500" cap="none">
                <a:solidFill>
                  <a:srgbClr val="36454F"/>
                </a:solidFill>
              </a:rPr>
              <a:t>Every candidate gets a fast, rough relevance score — nothing more.</a:t>
            </a:r>
            <a:endParaRPr lang="en-us" sz="1500" cap="none"/>
          </a:p>
        </p:txBody>
      </p:sp>
      <p:sp>
        <p:nvSpPr>
          <p:cNvPr id="11" name="Shape 9"/>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OAQAADAYAAAeBQAAFhkAABAAAAAmAAAACAAAAP//////////"/>
              </a:ext>
            </a:extLst>
          </p:cNvSpPr>
          <p:nvPr/>
        </p:nvSpPr>
        <p:spPr>
          <a:xfrm>
            <a:off x="685800" y="3931920"/>
            <a:ext cx="146050" cy="146050"/>
          </a:xfrm>
          <a:prstGeom prst="ellipse">
            <a:avLst/>
          </a:prstGeom>
          <a:solidFill>
            <a:srgbClr val="C98A2C"/>
          </a:solidFill>
          <a:ln>
            <a:noFill/>
          </a:ln>
          <a:effectLst/>
        </p:spPr>
      </p:sp>
      <p:sp>
        <p:nvSpPr>
          <p:cNvPr id="12" name="Text 1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YAAL0XAAAoRwAAZRsAABAAAAAmAAAACAAAAP//////////"/>
              </a:ext>
            </a:extLst>
          </p:cNvSpPr>
          <p:nvPr/>
        </p:nvSpPr>
        <p:spPr>
          <a:xfrm>
            <a:off x="1051560" y="3858895"/>
            <a:ext cx="10515600" cy="594360"/>
          </a:xfrm>
          <a:prstGeom prst="rect">
            <a:avLst/>
          </a:prstGeom>
          <a:noFill/>
          <a:ln>
            <a:noFill/>
          </a:ln>
          <a:effectLst/>
        </p:spPr>
        <p:txBody>
          <a:bodyPr vert="horz" wrap="square" lIns="0" tIns="0" rIns="0" bIns="0" numCol="1" spcCol="215900" anchor="ctr"/>
          <a:lstStyle/>
          <a:p>
            <a:pPr marL="0" indent="0">
              <a:lnSpc>
                <a:spcPct val="110000"/>
              </a:lnSpc>
              <a:buNone/>
            </a:pPr>
            <a:r>
              <a:rPr lang="en-us" sz="1500" cap="none">
                <a:solidFill>
                  <a:srgbClr val="36454F"/>
                </a:solidFill>
              </a:rPr>
              <a:t>Because keyword-style matching is proven unreliable, this step is never allowed to reject or confirm anyone on its own.</a:t>
            </a:r>
            <a:endParaRPr lang="en-us" sz="1500" cap="none"/>
          </a:p>
        </p:txBody>
      </p:sp>
      <p:sp>
        <p:nvSpPr>
          <p:cNvPr id="13" name="Text 1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DheD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NMnAADQLwAAgykAABAAAAAmAAAACAAAAP//////////"/>
              </a:ext>
            </a:extLst>
          </p:cNvSpPr>
          <p:nvPr/>
        </p:nvSpPr>
        <p:spPr>
          <a:xfrm>
            <a:off x="457200" y="6473825"/>
            <a:ext cx="7315200" cy="274320"/>
          </a:xfrm>
          <a:prstGeom prst="rect">
            <a:avLst/>
          </a:prstGeom>
          <a:noFill/>
          <a:ln>
            <a:noFill/>
          </a:ln>
          <a:effectLst/>
        </p:spPr>
        <p:txBody>
          <a:bodyPr vert="horz" wrap="square" lIns="0" tIns="0" rIns="0" bIns="0" numCol="1" spcCol="215900" anchor="ctr"/>
          <a:lstStyle/>
          <a:p>
            <a:pPr marL="0" indent="0">
              <a:buNone/>
            </a:pPr>
            <a:r>
              <a:rPr lang="en-us" sz="1000" cap="none">
                <a:solidFill>
                  <a:srgbClr val="8A93A6"/>
                </a:solidFill>
              </a:rPr>
              <a:t>EGCA — Evidence-Governed Candidate Assessment</a:t>
            </a:r>
            <a:endParaRPr lang="en-us" sz="1000" cap="none"/>
          </a:p>
        </p:txBody>
      </p:sp>
      <p:sp>
        <p:nvSpPr>
          <p:cNvPr id="14" name="Text 1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0UAANMnAAArSAAAgykAABAAAAAmAAAACAAAAP//////////"/>
              </a:ext>
            </a:extLst>
          </p:cNvSpPr>
          <p:nvPr/>
        </p:nvSpPr>
        <p:spPr>
          <a:xfrm>
            <a:off x="11274425" y="6473825"/>
            <a:ext cx="457200" cy="274320"/>
          </a:xfrm>
          <a:prstGeom prst="rect">
            <a:avLst/>
          </a:prstGeom>
          <a:noFill/>
          <a:ln>
            <a:noFill/>
          </a:ln>
          <a:effectLst/>
        </p:spPr>
        <p:txBody>
          <a:bodyPr vert="horz" wrap="square" lIns="0" tIns="0" rIns="0" bIns="0" numCol="1" spcCol="215900" anchor="ctr"/>
          <a:lstStyle/>
          <a:p>
            <a:pPr marL="0" indent="0" algn="r">
              <a:buNone/>
            </a:pPr>
            <a:r>
              <a:rPr lang="en-us" sz="1000" cap="none">
                <a:solidFill>
                  <a:srgbClr val="8A93A6"/>
                </a:solidFill>
              </a:rPr>
              <a:t>6</a:t>
            </a:r>
            <a:endParaRPr lang="en-us" sz="1000" cap="none"/>
          </a:p>
        </p:txBody>
      </p:sp>
    </p:spTree>
  </p:cSld>
  <p:clrMapOvr>
    <a:masterClrMapping/>
  </p:clrMapOvr>
  <p:timing>
    <p:tnLst>
      <p:par>
        <p:cTn id="1" dur="indefinite" restart="never" nodeType="tmRoot"/>
      </p:par>
    </p:tnLst>
  </p:timing>
</p:sld>
</file>

<file path=ppt/slides/slide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name="Slide 7">
    <p:bg>
      <p:bgPr>
        <a:solidFill>
          <a:srgbClr val="F7F9FC"/>
        </a:solidFill>
        <a:effectLst/>
      </p:bgPr>
    </p:bg>
    <p:spTree>
      <p:nvGrpSpPr>
        <p:cNvPr id="1" name=""/>
        <p:cNvGrpSpPr/>
        <p:nvPr/>
      </p:nvGrpSpPr>
      <p:grpSpPr>
        <a:xfrm>
          <a:off x="0" y="0"/>
          <a:ext cx="0" cy="0"/>
          <a:chOff x="0" y="0"/>
          <a:chExt cx="0" cy="0"/>
        </a:xfrm>
      </p:grpSpPr>
      <p:sp>
        <p:nvSpPr>
          <p:cNvPr id="2" name="Text 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IgCAADgRgAAgAQAABAAAAAmAAAACAAAAP//////////"/>
              </a:ext>
            </a:extLst>
          </p:cNvSpPr>
          <p:nvPr/>
        </p:nvSpPr>
        <p:spPr>
          <a:xfrm>
            <a:off x="548640" y="411480"/>
            <a:ext cx="10972800" cy="320040"/>
          </a:xfrm>
          <a:prstGeom prst="rect">
            <a:avLst/>
          </a:prstGeom>
          <a:noFill/>
          <a:ln>
            <a:noFill/>
          </a:ln>
          <a:effectLst/>
        </p:spPr>
        <p:txBody>
          <a:bodyPr vert="horz" wrap="square" lIns="0" tIns="0" rIns="0" bIns="0" numCol="1" spcCol="215900" anchor="ctr"/>
          <a:lstStyle/>
          <a:p>
            <a:pPr marL="0" indent="0">
              <a:buNone/>
            </a:pPr>
            <a:r>
              <a:rPr lang="en-us" sz="1300" b="1" cap="none" spc="40">
                <a:solidFill>
                  <a:srgbClr val="C98A2C"/>
                </a:solidFill>
              </a:rPr>
              <a:t>STEP 3 · THE GATE</a:t>
            </a:r>
            <a:endParaRPr lang="en-us" sz="1300" cap="none"/>
          </a:p>
        </p:txBody>
      </p:sp>
      <p:sp>
        <p:nvSpPr>
          <p:cNvPr id="3" name="Text 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GMEAABwRwAAcwkAABAAAAAmAAAACAAAAP//////////"/>
              </a:ext>
            </a:extLst>
          </p:cNvSpPr>
          <p:nvPr/>
        </p:nvSpPr>
        <p:spPr>
          <a:xfrm>
            <a:off x="548640" y="713105"/>
            <a:ext cx="11064240" cy="822960"/>
          </a:xfrm>
          <a:prstGeom prst="rect">
            <a:avLst/>
          </a:prstGeom>
          <a:noFill/>
          <a:ln>
            <a:noFill/>
          </a:ln>
          <a:effectLst/>
        </p:spPr>
        <p:txBody>
          <a:bodyPr vert="horz" wrap="square" lIns="0" tIns="0" rIns="0" bIns="0" numCol="1" spcCol="215900" anchor="ctr"/>
          <a:lstStyle/>
          <a:p>
            <a:pPr marL="0" indent="0">
              <a:buNone/>
            </a:pPr>
            <a:r>
              <a:rPr lang="en-us" sz="3000" b="1" cap="none">
                <a:solidFill>
                  <a:srgbClr val="1E2761"/>
                </a:solidFill>
                <a:latin typeface="Cambria" pitchFamily="2" charset="0"/>
                <a:ea typeface="Cambria" pitchFamily="2" charset="0"/>
                <a:cs typeface="Cambria" pitchFamily="2" charset="0"/>
              </a:rPr>
              <a:t>Spending Effort Where It Counts</a:t>
            </a:r>
            <a:endParaRPr lang="en-us" sz="3000" cap="none"/>
          </a:p>
        </p:txBody>
      </p:sp>
      <p:sp>
        <p:nvSpPr>
          <p:cNvPr id="4" name="Shape 2"/>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Hidh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dhAP///wEAAAAAAAAAAAAAAAAAAAAAAAAAAAAAAAAAAAAAAAAAAAAAAAB/f38A5+bmA8zMzADAwP8Af39/AAAAAAAAAAAAAAAAAAAAAAAAAAAAIQAAABgAAAAUAAAA8AMAAEALAABACwAAkBIAABAAAAAmAAAACAAAAP//////////"/>
              </a:ext>
            </a:extLst>
          </p:cNvSpPr>
          <p:nvPr/>
        </p:nvSpPr>
        <p:spPr>
          <a:xfrm>
            <a:off x="640080" y="1828800"/>
            <a:ext cx="1188720" cy="1188720"/>
          </a:xfrm>
          <a:prstGeom prst="ellipse">
            <a:avLst/>
          </a:prstGeom>
          <a:solidFill>
            <a:srgbClr val="1E2761"/>
          </a:solidFill>
          <a:ln>
            <a:noFill/>
          </a:ln>
          <a:effectLst/>
        </p:spPr>
      </p:sp>
      <p:sp>
        <p:nvSpPr>
          <p:cNvPr id="5" name="Text 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8AMAAEALAABACwAAkBIAABAAAAAmAAAACAAAAP//////////"/>
              </a:ext>
            </a:extLst>
          </p:cNvSpPr>
          <p:nvPr/>
        </p:nvSpPr>
        <p:spPr>
          <a:xfrm>
            <a:off x="640080" y="1828800"/>
            <a:ext cx="1188720" cy="1188720"/>
          </a:xfrm>
          <a:prstGeom prst="rect">
            <a:avLst/>
          </a:prstGeom>
          <a:noFill/>
          <a:ln>
            <a:noFill/>
          </a:ln>
          <a:effectLst/>
        </p:spPr>
        <p:txBody>
          <a:bodyPr vert="horz" wrap="square" lIns="0" tIns="0" rIns="0" bIns="0" numCol="1" spcCol="215900" anchor="ctr"/>
          <a:lstStyle/>
          <a:p>
            <a:pPr marL="0" indent="0" algn="ctr">
              <a:buNone/>
            </a:pPr>
            <a:r>
              <a:rPr lang="en-us" sz="4000" b="1" cap="none">
                <a:solidFill>
                  <a:srgbClr val="FFFFFF"/>
                </a:solidFill>
                <a:latin typeface="Cambria" pitchFamily="2" charset="0"/>
                <a:ea typeface="Cambria" pitchFamily="2" charset="0"/>
                <a:cs typeface="Cambria" pitchFamily="2" charset="0"/>
              </a:rPr>
              <a:t>C</a:t>
            </a:r>
            <a:endParaRPr lang="en-us" sz="4000" cap="none"/>
          </a:p>
        </p:txBody>
      </p:sp>
      <p:sp>
        <p:nvSpPr>
          <p:cNvPr id="6" name="Shape 4"/>
          <p:cNvSpPr>
            <a:extLst>
              <a:ext uri="smNativeData">
                <pr:smNativeData xmlns:pr="smNativeData" xmlns="smNativeData" val="SMDATA_15_ZH+7ahMAAAAlAAAAZQAAAA0AAAAAkAAAAEgAAACQAAAASAAAAAAAAAAAAAAAAAAAAAEAAABQAAAAqYdodAexwz8AAAAAAADwvwAAAAAAAOA/AAAAAAAA4D8AAAAAAADgPwAAAAAAAOA/AAAAAAAA4D8AAAAAAADgPwAAAAAAAOA/AAAAAAAA4D8CAAAAjAAAAAEAAAAAAAAAytz8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tz8AP///wEAAAAAAAAAAAAAAAAAAAAAAAAAAAAAAAAAAAAAAAAAAAAAAAB/f38A5+bmA8zMzADAwP8Af39/AAAAAAAAAAAAAAAAAAAAAAAAAAAAIQAAABgAAAAUAAAAOA0AAGgKAAAoRwAAuBEAABAAAAAmAAAACAAAAP//////////"/>
              </a:ext>
            </a:extLst>
          </p:cNvSpPr>
          <p:nvPr/>
        </p:nvSpPr>
        <p:spPr>
          <a:xfrm>
            <a:off x="2148840" y="1691640"/>
            <a:ext cx="9418320" cy="1188720"/>
          </a:xfrm>
          <a:prstGeom prst="roundRect">
            <a:avLst>
              <a:gd name="adj" fmla="val 7692"/>
            </a:avLst>
          </a:prstGeom>
          <a:solidFill>
            <a:srgbClr val="CADCFC"/>
          </a:solidFill>
          <a:ln>
            <a:noFill/>
          </a:ln>
          <a:effectLst/>
        </p:spPr>
      </p:sp>
      <p:sp>
        <p:nvSpPr>
          <p:cNvPr id="7" name="Text 5"/>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4AAOoKAADARQAAmgwAABAAAAAmAAAACAAAAP//////////"/>
              </a:ext>
            </a:extLst>
          </p:cNvSpPr>
          <p:nvPr/>
        </p:nvSpPr>
        <p:spPr>
          <a:xfrm>
            <a:off x="2377440" y="1774190"/>
            <a:ext cx="8961120" cy="274320"/>
          </a:xfrm>
          <a:prstGeom prst="rect">
            <a:avLst/>
          </a:prstGeom>
          <a:noFill/>
          <a:ln>
            <a:noFill/>
          </a:ln>
          <a:effectLst/>
        </p:spPr>
        <p:txBody>
          <a:bodyPr vert="horz" wrap="square" lIns="0" tIns="0" rIns="0" bIns="0" numCol="1" spcCol="215900" anchor="ctr"/>
          <a:lstStyle/>
          <a:p>
            <a:pPr marL="0" indent="0">
              <a:buNone/>
            </a:pPr>
            <a:r>
              <a:rPr lang="en-us" sz="1200" b="1" cap="none">
                <a:solidFill>
                  <a:srgbClr val="1E2761"/>
                </a:solidFill>
              </a:rPr>
              <a:t>REAL COST:</a:t>
            </a:r>
            <a:endParaRPr lang="en-us" sz="1200" cap="none"/>
          </a:p>
        </p:txBody>
      </p:sp>
      <p:sp>
        <p:nvSpPr>
          <p:cNvPr id="8" name="Text 6"/>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4AAH0MAADARQAARREAABAAAAAmAAAACAAAAP//////////"/>
              </a:ext>
            </a:extLst>
          </p:cNvSpPr>
          <p:nvPr/>
        </p:nvSpPr>
        <p:spPr>
          <a:xfrm>
            <a:off x="2377440" y="2030095"/>
            <a:ext cx="8961120" cy="777240"/>
          </a:xfrm>
          <a:prstGeom prst="rect">
            <a:avLst/>
          </a:prstGeom>
          <a:noFill/>
          <a:ln>
            <a:noFill/>
          </a:ln>
          <a:effectLst/>
        </p:spPr>
        <p:txBody>
          <a:bodyPr vert="horz" wrap="square" lIns="0" tIns="0" rIns="0" bIns="0" numCol="1" spcCol="215900" anchor="ctr"/>
          <a:lstStyle/>
          <a:p>
            <a:pPr marL="0" indent="0">
              <a:lnSpc>
                <a:spcPct val="108000"/>
              </a:lnSpc>
              <a:buNone/>
            </a:pPr>
            <a:r>
              <a:rPr lang="en-us" sz="1350" cap="none">
                <a:solidFill>
                  <a:srgbClr val="1E2761"/>
                </a:solidFill>
              </a:rPr>
              <a:t>Accounting for hidden costs, a single hire is estimated to cost a company roughly $22,750. Carefully evaluating every applicant in full is expensive — it has to be spent wisely, not everywhere.</a:t>
            </a:r>
            <a:endParaRPr lang="en-us" sz="1350" cap="none"/>
          </a:p>
        </p:txBody>
      </p:sp>
      <p:sp>
        <p:nvSpPr>
          <p:cNvPr id="9" name="Shape 7"/>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OAQAACMUAAAeBQAAChUAABAAAAAmAAAACAAAAP//////////"/>
              </a:ext>
            </a:extLst>
          </p:cNvSpPr>
          <p:nvPr/>
        </p:nvSpPr>
        <p:spPr>
          <a:xfrm>
            <a:off x="685800" y="3273425"/>
            <a:ext cx="146050" cy="146685"/>
          </a:xfrm>
          <a:prstGeom prst="ellipse">
            <a:avLst/>
          </a:prstGeom>
          <a:solidFill>
            <a:srgbClr val="C98A2C"/>
          </a:solidFill>
          <a:ln>
            <a:noFill/>
          </a:ln>
          <a:effectLst/>
        </p:spPr>
      </p:sp>
      <p:sp>
        <p:nvSpPr>
          <p:cNvPr id="10" name="Text 8"/>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YAALATAAAoRwAAWBcAABAAAAAmAAAACAAAAP//////////"/>
              </a:ext>
            </a:extLst>
          </p:cNvSpPr>
          <p:nvPr/>
        </p:nvSpPr>
        <p:spPr>
          <a:xfrm>
            <a:off x="1051560" y="3200400"/>
            <a:ext cx="10515600" cy="594360"/>
          </a:xfrm>
          <a:prstGeom prst="rect">
            <a:avLst/>
          </a:prstGeom>
          <a:noFill/>
          <a:ln>
            <a:noFill/>
          </a:ln>
          <a:effectLst/>
        </p:spPr>
        <p:txBody>
          <a:bodyPr vert="horz" wrap="square" lIns="0" tIns="0" rIns="0" bIns="0" numCol="1" spcCol="215900" anchor="ctr"/>
          <a:lstStyle/>
          <a:p>
            <a:pPr marL="0" indent="0">
              <a:lnSpc>
                <a:spcPct val="110000"/>
              </a:lnSpc>
              <a:buNone/>
            </a:pPr>
            <a:r>
              <a:rPr lang="en-us" sz="1500" cap="none">
                <a:solidFill>
                  <a:srgbClr val="36454F"/>
                </a:solidFill>
              </a:rPr>
              <a:t>Careful checking is expensive, so it isn't done for everyone.</a:t>
            </a:r>
            <a:endParaRPr lang="en-us" sz="1500" cap="none"/>
          </a:p>
        </p:txBody>
      </p:sp>
      <p:sp>
        <p:nvSpPr>
          <p:cNvPr id="11" name="Shape 9"/>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OAQAADAYAAAeBQAAFhkAABAAAAAmAAAACAAAAP//////////"/>
              </a:ext>
            </a:extLst>
          </p:cNvSpPr>
          <p:nvPr/>
        </p:nvSpPr>
        <p:spPr>
          <a:xfrm>
            <a:off x="685800" y="3931920"/>
            <a:ext cx="146050" cy="146050"/>
          </a:xfrm>
          <a:prstGeom prst="ellipse">
            <a:avLst/>
          </a:prstGeom>
          <a:solidFill>
            <a:srgbClr val="C98A2C"/>
          </a:solidFill>
          <a:ln>
            <a:noFill/>
          </a:ln>
          <a:effectLst/>
        </p:spPr>
      </p:sp>
      <p:sp>
        <p:nvSpPr>
          <p:cNvPr id="12" name="Text 1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YAAL0XAAAoRwAAZRsAABAAAAAmAAAACAAAAP//////////"/>
              </a:ext>
            </a:extLst>
          </p:cNvSpPr>
          <p:nvPr/>
        </p:nvSpPr>
        <p:spPr>
          <a:xfrm>
            <a:off x="1051560" y="3858895"/>
            <a:ext cx="10515600" cy="594360"/>
          </a:xfrm>
          <a:prstGeom prst="rect">
            <a:avLst/>
          </a:prstGeom>
          <a:noFill/>
          <a:ln>
            <a:noFill/>
          </a:ln>
          <a:effectLst/>
        </p:spPr>
        <p:txBody>
          <a:bodyPr vert="horz" wrap="square" lIns="0" tIns="0" rIns="0" bIns="0" numCol="1" spcCol="215900" anchor="ctr"/>
          <a:lstStyle/>
          <a:p>
            <a:pPr marL="0" indent="0">
              <a:lnSpc>
                <a:spcPct val="110000"/>
              </a:lnSpc>
              <a:buNone/>
            </a:pPr>
            <a:r>
              <a:rPr lang="en-us" sz="1500" cap="none">
                <a:solidFill>
                  <a:srgbClr val="36454F"/>
                </a:solidFill>
              </a:rPr>
              <a:t>The system calculates — not guesses — how many extra candidates to pull forward, so nobody good slips through the cracks later.</a:t>
            </a:r>
            <a:endParaRPr lang="en-us" sz="1500" cap="none"/>
          </a:p>
        </p:txBody>
      </p:sp>
      <p:sp>
        <p:nvSpPr>
          <p:cNvPr id="13" name="Text 1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NMnAADQLwAAgykAABAAAAAmAAAACAAAAP//////////"/>
              </a:ext>
            </a:extLst>
          </p:cNvSpPr>
          <p:nvPr/>
        </p:nvSpPr>
        <p:spPr>
          <a:xfrm>
            <a:off x="457200" y="6473825"/>
            <a:ext cx="7315200" cy="274320"/>
          </a:xfrm>
          <a:prstGeom prst="rect">
            <a:avLst/>
          </a:prstGeom>
          <a:noFill/>
          <a:ln>
            <a:noFill/>
          </a:ln>
          <a:effectLst/>
        </p:spPr>
        <p:txBody>
          <a:bodyPr vert="horz" wrap="square" lIns="0" tIns="0" rIns="0" bIns="0" numCol="1" spcCol="215900" anchor="ctr"/>
          <a:lstStyle/>
          <a:p>
            <a:pPr marL="0" indent="0">
              <a:buNone/>
            </a:pPr>
            <a:r>
              <a:rPr lang="en-us" sz="1000" cap="none">
                <a:solidFill>
                  <a:srgbClr val="8A93A6"/>
                </a:solidFill>
              </a:rPr>
              <a:t>EGCA — Evidence-Governed Candidate Assessment</a:t>
            </a:r>
            <a:endParaRPr lang="en-us" sz="1000" cap="none"/>
          </a:p>
        </p:txBody>
      </p:sp>
      <p:sp>
        <p:nvSpPr>
          <p:cNvPr id="14" name="Text 1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0UAANMnAAArSAAAgykAABAAAAAmAAAACAAAAP//////////"/>
              </a:ext>
            </a:extLst>
          </p:cNvSpPr>
          <p:nvPr/>
        </p:nvSpPr>
        <p:spPr>
          <a:xfrm>
            <a:off x="11274425" y="6473825"/>
            <a:ext cx="457200" cy="274320"/>
          </a:xfrm>
          <a:prstGeom prst="rect">
            <a:avLst/>
          </a:prstGeom>
          <a:noFill/>
          <a:ln>
            <a:noFill/>
          </a:ln>
          <a:effectLst/>
        </p:spPr>
        <p:txBody>
          <a:bodyPr vert="horz" wrap="square" lIns="0" tIns="0" rIns="0" bIns="0" numCol="1" spcCol="215900" anchor="ctr"/>
          <a:lstStyle/>
          <a:p>
            <a:pPr marL="0" indent="0" algn="r">
              <a:buNone/>
            </a:pPr>
            <a:r>
              <a:rPr lang="en-us" sz="1000" cap="none">
                <a:solidFill>
                  <a:srgbClr val="8A93A6"/>
                </a:solidFill>
              </a:rPr>
              <a:t>7</a:t>
            </a:r>
            <a:endParaRPr lang="en-us" sz="1000" cap="none"/>
          </a:p>
        </p:txBody>
      </p:sp>
    </p:spTree>
  </p:cSld>
  <p:clrMapOvr>
    <a:masterClrMapping/>
  </p:clrMapOvr>
  <p:timing>
    <p:tnLst>
      <p:par>
        <p:cTn id="1" dur="indefinite" restart="never" nodeType="tmRoot"/>
      </p:par>
    </p:tnLst>
  </p:timing>
</p:sld>
</file>

<file path=ppt/slides/slide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name="Slide 8">
    <p:bg>
      <p:bgPr>
        <a:solidFill>
          <a:srgbClr val="F7F9FC"/>
        </a:solidFill>
        <a:effectLst/>
      </p:bgPr>
    </p:bg>
    <p:spTree>
      <p:nvGrpSpPr>
        <p:cNvPr id="1" name=""/>
        <p:cNvGrpSpPr/>
        <p:nvPr/>
      </p:nvGrpSpPr>
      <p:grpSpPr>
        <a:xfrm>
          <a:off x="0" y="0"/>
          <a:ext cx="0" cy="0"/>
          <a:chOff x="0" y="0"/>
          <a:chExt cx="0" cy="0"/>
        </a:xfrm>
      </p:grpSpPr>
      <p:sp>
        <p:nvSpPr>
          <p:cNvPr id="2" name="Text 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IgCAADgRgAAgAQAABAAAAAmAAAACAAAAP//////////"/>
              </a:ext>
            </a:extLst>
          </p:cNvSpPr>
          <p:nvPr/>
        </p:nvSpPr>
        <p:spPr>
          <a:xfrm>
            <a:off x="548640" y="411480"/>
            <a:ext cx="10972800" cy="320040"/>
          </a:xfrm>
          <a:prstGeom prst="rect">
            <a:avLst/>
          </a:prstGeom>
          <a:noFill/>
          <a:ln>
            <a:noFill/>
          </a:ln>
          <a:effectLst/>
        </p:spPr>
        <p:txBody>
          <a:bodyPr vert="horz" wrap="square" lIns="0" tIns="0" rIns="0" bIns="0" numCol="1" spcCol="215900" anchor="ctr"/>
          <a:lstStyle/>
          <a:p>
            <a:pPr marL="0" indent="0">
              <a:buNone/>
            </a:pPr>
            <a:r>
              <a:rPr lang="en-us" sz="1300" b="1" cap="none" spc="40">
                <a:solidFill>
                  <a:srgbClr val="C98A2C"/>
                </a:solidFill>
              </a:rPr>
              <a:t>STEP 4 · THE REAL CHECK</a:t>
            </a:r>
            <a:endParaRPr lang="en-us" sz="1300" cap="none"/>
          </a:p>
        </p:txBody>
      </p:sp>
      <p:sp>
        <p:nvSpPr>
          <p:cNvPr id="3" name="Text 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GMEAABwRwAAcwkAABAAAAAmAAAACAAAAP//////////"/>
              </a:ext>
            </a:extLst>
          </p:cNvSpPr>
          <p:nvPr/>
        </p:nvSpPr>
        <p:spPr>
          <a:xfrm>
            <a:off x="548640" y="713105"/>
            <a:ext cx="11064240" cy="822960"/>
          </a:xfrm>
          <a:prstGeom prst="rect">
            <a:avLst/>
          </a:prstGeom>
          <a:noFill/>
          <a:ln>
            <a:noFill/>
          </a:ln>
          <a:effectLst/>
        </p:spPr>
        <p:txBody>
          <a:bodyPr vert="horz" wrap="square" lIns="0" tIns="0" rIns="0" bIns="0" numCol="1" spcCol="215900" anchor="ctr"/>
          <a:lstStyle/>
          <a:p>
            <a:pPr marL="0" indent="0">
              <a:buNone/>
            </a:pPr>
            <a:r>
              <a:rPr lang="en-us" sz="3000" b="1" cap="none">
                <a:solidFill>
                  <a:srgbClr val="1E2761"/>
                </a:solidFill>
                <a:latin typeface="Cambria" pitchFamily="2" charset="0"/>
                <a:ea typeface="Cambria" pitchFamily="2" charset="0"/>
                <a:cs typeface="Cambria" pitchFamily="2" charset="0"/>
              </a:rPr>
              <a:t>Evidence and Rules, Kept Separate</a:t>
            </a:r>
            <a:endParaRPr lang="en-us" sz="3000" cap="none"/>
          </a:p>
        </p:txBody>
      </p:sp>
      <p:sp>
        <p:nvSpPr>
          <p:cNvPr id="4" name="Shape 2"/>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Hidh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dhAP///wEAAAAAAAAAAAAAAAAAAAAAAAAAAAAAAAAAAAAAAAAAAAAAAAB/f38A5+bmA8zMzADAwP8Af39/AAAAAAAAAAAAAAAAAAAAAAAAAAAAIQAAABgAAAAUAAAA8AMAAEALAABACwAAkBIAABAAAAAmAAAACAAAAP//////////"/>
              </a:ext>
            </a:extLst>
          </p:cNvSpPr>
          <p:nvPr/>
        </p:nvSpPr>
        <p:spPr>
          <a:xfrm>
            <a:off x="640080" y="1828800"/>
            <a:ext cx="1188720" cy="1188720"/>
          </a:xfrm>
          <a:prstGeom prst="ellipse">
            <a:avLst/>
          </a:prstGeom>
          <a:solidFill>
            <a:srgbClr val="1E2761"/>
          </a:solidFill>
          <a:ln>
            <a:noFill/>
          </a:ln>
          <a:effectLst/>
        </p:spPr>
      </p:sp>
      <p:sp>
        <p:nvSpPr>
          <p:cNvPr id="5" name="Text 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8AMAAEALAABACwAAkBIAABAAAAAmAAAACAAAAP//////////"/>
              </a:ext>
            </a:extLst>
          </p:cNvSpPr>
          <p:nvPr/>
        </p:nvSpPr>
        <p:spPr>
          <a:xfrm>
            <a:off x="640080" y="1828800"/>
            <a:ext cx="1188720" cy="1188720"/>
          </a:xfrm>
          <a:prstGeom prst="rect">
            <a:avLst/>
          </a:prstGeom>
          <a:noFill/>
          <a:ln>
            <a:noFill/>
          </a:ln>
          <a:effectLst/>
        </p:spPr>
        <p:txBody>
          <a:bodyPr vert="horz" wrap="square" lIns="0" tIns="0" rIns="0" bIns="0" numCol="1" spcCol="215900" anchor="ctr"/>
          <a:lstStyle/>
          <a:p>
            <a:pPr marL="0" indent="0" algn="ctr">
              <a:buNone/>
            </a:pPr>
            <a:r>
              <a:rPr lang="en-us" sz="4000" b="1" cap="none">
                <a:solidFill>
                  <a:srgbClr val="FFFFFF"/>
                </a:solidFill>
                <a:latin typeface="Cambria" pitchFamily="2" charset="0"/>
                <a:ea typeface="Cambria" pitchFamily="2" charset="0"/>
                <a:cs typeface="Cambria" pitchFamily="2" charset="0"/>
              </a:rPr>
              <a:t>D</a:t>
            </a:r>
            <a:endParaRPr lang="en-us" sz="4000" cap="none"/>
          </a:p>
        </p:txBody>
      </p:sp>
      <p:sp>
        <p:nvSpPr>
          <p:cNvPr id="6" name="Shape 4"/>
          <p:cNvSpPr>
            <a:extLst>
              <a:ext uri="smNativeData">
                <pr:smNativeData xmlns:pr="smNativeData" xmlns="smNativeData" val="SMDATA_15_ZH+7ahMAAAAlAAAAZQAAAA0AAAAAkAAAAEgAAACQAAAASAAAAAAAAAAAAAAAAAAAAAEAAABQAAAAqYdodAexwz8AAAAAAADwvwAAAAAAAOA/AAAAAAAA4D8AAAAAAADgPwAAAAAAAOA/AAAAAAAA4D8AAAAAAADgPwAAAAAAAOA/AAAAAAAA4D8CAAAAjAAAAAEAAAAAAAAAytz8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Fl+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tz8AP///wEAAAAAAAAAAAAAAAAAAAAAAAAAAAAAAAAAAAAAAAAAAAAAAAB/f38A5+bmA8zMzADAwP8Af39/AAAAAAAAAAAAAAAAAAAAAAAAAAAAIQAAABgAAAAUAAAAOA0AAGgKAAAoRwAAuBEAABAAAAAmAAAACAAAAP//////////"/>
              </a:ext>
            </a:extLst>
          </p:cNvSpPr>
          <p:nvPr/>
        </p:nvSpPr>
        <p:spPr>
          <a:xfrm>
            <a:off x="2148840" y="1691640"/>
            <a:ext cx="9418320" cy="1188720"/>
          </a:xfrm>
          <a:prstGeom prst="roundRect">
            <a:avLst>
              <a:gd name="adj" fmla="val 7692"/>
            </a:avLst>
          </a:prstGeom>
          <a:solidFill>
            <a:srgbClr val="CADCFC"/>
          </a:solidFill>
          <a:ln>
            <a:noFill/>
          </a:ln>
          <a:effectLst/>
        </p:spPr>
      </p:sp>
      <p:sp>
        <p:nvSpPr>
          <p:cNvPr id="7" name="Text 5"/>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GeA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4AAOoKAADARQAAmgwAABAAAAAmAAAACAAAAP//////////"/>
              </a:ext>
            </a:extLst>
          </p:cNvSpPr>
          <p:nvPr/>
        </p:nvSpPr>
        <p:spPr>
          <a:xfrm>
            <a:off x="2377440" y="1774190"/>
            <a:ext cx="8961120" cy="274320"/>
          </a:xfrm>
          <a:prstGeom prst="rect">
            <a:avLst/>
          </a:prstGeom>
          <a:noFill/>
          <a:ln>
            <a:noFill/>
          </a:ln>
          <a:effectLst/>
        </p:spPr>
        <p:txBody>
          <a:bodyPr vert="horz" wrap="square" lIns="0" tIns="0" rIns="0" bIns="0" numCol="1" spcCol="215900" anchor="ctr"/>
          <a:lstStyle/>
          <a:p>
            <a:pPr marL="0" indent="0">
              <a:buNone/>
            </a:pPr>
            <a:r>
              <a:rPr lang="en-us" sz="1200" b="1" cap="none">
                <a:solidFill>
                  <a:srgbClr val="1E2761"/>
                </a:solidFill>
              </a:rPr>
              <a:t>REAL FINDINGS:</a:t>
            </a:r>
            <a:endParaRPr lang="en-us" sz="1200" cap="none"/>
          </a:p>
        </p:txBody>
      </p:sp>
      <p:sp>
        <p:nvSpPr>
          <p:cNvPr id="8" name="Text 6"/>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HZ8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4AAH0MAADARQAARREAABAAAAAmAAAACAAAAP//////////"/>
              </a:ext>
            </a:extLst>
          </p:cNvSpPr>
          <p:nvPr/>
        </p:nvSpPr>
        <p:spPr>
          <a:xfrm>
            <a:off x="2377440" y="2030095"/>
            <a:ext cx="8961120" cy="777240"/>
          </a:xfrm>
          <a:prstGeom prst="rect">
            <a:avLst/>
          </a:prstGeom>
          <a:noFill/>
          <a:ln>
            <a:noFill/>
          </a:ln>
          <a:effectLst/>
        </p:spPr>
        <p:txBody>
          <a:bodyPr vert="horz" wrap="square" lIns="0" tIns="0" rIns="0" bIns="0" numCol="1" spcCol="215900" anchor="ctr"/>
          <a:lstStyle/>
          <a:p>
            <a:pPr marL="0" indent="0">
              <a:lnSpc>
                <a:spcPct val="108000"/>
              </a:lnSpc>
              <a:buNone/>
            </a:pPr>
            <a:r>
              <a:rPr lang="en-us" sz="1350" cap="none">
                <a:solidFill>
                  <a:srgbClr val="1E2761"/>
                </a:solidFill>
              </a:rPr>
              <a:t>An AI enforcing its own policy got it wrong 3 times out of 4. Separately, some resume keywords whose presence correlated with roughly 25% lower odds of strong job performance were still being rewarded by ordinary screening.</a:t>
            </a:r>
            <a:endParaRPr lang="en-us" sz="1350" cap="none"/>
          </a:p>
        </p:txBody>
      </p:sp>
      <p:sp>
        <p:nvSpPr>
          <p:cNvPr id="9" name="Shape 7"/>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OAQAACMUAAAeBQAAChUAABAAAAAmAAAACAAAAP//////////"/>
              </a:ext>
            </a:extLst>
          </p:cNvSpPr>
          <p:nvPr/>
        </p:nvSpPr>
        <p:spPr>
          <a:xfrm>
            <a:off x="685800" y="3273425"/>
            <a:ext cx="146050" cy="146685"/>
          </a:xfrm>
          <a:prstGeom prst="ellipse">
            <a:avLst/>
          </a:prstGeom>
          <a:solidFill>
            <a:srgbClr val="C98A2C"/>
          </a:solidFill>
          <a:ln>
            <a:noFill/>
          </a:ln>
          <a:effectLst/>
        </p:spPr>
      </p:sp>
      <p:sp>
        <p:nvSpPr>
          <p:cNvPr id="10" name="Text 8"/>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YAALATAAAoRwAAWBcAABAAAAAmAAAACAAAAP//////////"/>
              </a:ext>
            </a:extLst>
          </p:cNvSpPr>
          <p:nvPr/>
        </p:nvSpPr>
        <p:spPr>
          <a:xfrm>
            <a:off x="1051560" y="3200400"/>
            <a:ext cx="10515600" cy="594360"/>
          </a:xfrm>
          <a:prstGeom prst="rect">
            <a:avLst/>
          </a:prstGeom>
          <a:noFill/>
          <a:ln>
            <a:noFill/>
          </a:ln>
          <a:effectLst/>
        </p:spPr>
        <p:txBody>
          <a:bodyPr vert="horz" wrap="square" lIns="0" tIns="0" rIns="0" bIns="0" numCol="1" spcCol="215900" anchor="ctr"/>
          <a:lstStyle/>
          <a:p>
            <a:pPr marL="0" indent="0">
              <a:lnSpc>
                <a:spcPct val="110000"/>
              </a:lnSpc>
              <a:buNone/>
            </a:pPr>
            <a:r>
              <a:rPr lang="en-us" sz="1500" cap="none">
                <a:solidFill>
                  <a:srgbClr val="36454F"/>
                </a:solidFill>
              </a:rPr>
              <a:t>Every claim is graded: unsupported, guessed from a related skill, or backed by real proof.</a:t>
            </a:r>
            <a:endParaRPr lang="en-us" sz="1500" cap="none"/>
          </a:p>
        </p:txBody>
      </p:sp>
      <p:sp>
        <p:nvSpPr>
          <p:cNvPr id="11" name="Shape 9"/>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OAQAADAYAAAeBQAAFhkAABAAAAAmAAAACAAAAP//////////"/>
              </a:ext>
            </a:extLst>
          </p:cNvSpPr>
          <p:nvPr/>
        </p:nvSpPr>
        <p:spPr>
          <a:xfrm>
            <a:off x="685800" y="3931920"/>
            <a:ext cx="146050" cy="146050"/>
          </a:xfrm>
          <a:prstGeom prst="ellipse">
            <a:avLst/>
          </a:prstGeom>
          <a:solidFill>
            <a:srgbClr val="C98A2C"/>
          </a:solidFill>
          <a:ln>
            <a:noFill/>
          </a:ln>
          <a:effectLst/>
        </p:spPr>
      </p:sp>
      <p:sp>
        <p:nvSpPr>
          <p:cNvPr id="12" name="Text 1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YAAL0XAAAoRwAAZRsAABAAAAAmAAAACAAAAP//////////"/>
              </a:ext>
            </a:extLst>
          </p:cNvSpPr>
          <p:nvPr/>
        </p:nvSpPr>
        <p:spPr>
          <a:xfrm>
            <a:off x="1051560" y="3858895"/>
            <a:ext cx="10515600" cy="594360"/>
          </a:xfrm>
          <a:prstGeom prst="rect">
            <a:avLst/>
          </a:prstGeom>
          <a:noFill/>
          <a:ln>
            <a:noFill/>
          </a:ln>
          <a:effectLst/>
        </p:spPr>
        <p:txBody>
          <a:bodyPr vert="horz" wrap="square" lIns="0" tIns="0" rIns="0" bIns="0" numCol="1" spcCol="215900" anchor="ctr"/>
          <a:lstStyle/>
          <a:p>
            <a:pPr marL="0" indent="0">
              <a:lnSpc>
                <a:spcPct val="110000"/>
              </a:lnSpc>
              <a:buNone/>
            </a:pPr>
            <a:r>
              <a:rPr lang="en-us" sz="1500" cap="none">
                <a:solidFill>
                  <a:srgbClr val="36454F"/>
                </a:solidFill>
              </a:rPr>
              <a:t>Mandatory rules are checked by a completely separate rulebook the AI cannot influence.</a:t>
            </a:r>
            <a:endParaRPr lang="en-us" sz="1500" cap="none"/>
          </a:p>
        </p:txBody>
      </p:sp>
      <p:sp>
        <p:nvSpPr>
          <p:cNvPr id="13" name="Shape 11"/>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s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OAQAAD0cAAAeBQAAIx0AABAAAAAmAAAACAAAAP//////////"/>
              </a:ext>
            </a:extLst>
          </p:cNvSpPr>
          <p:nvPr/>
        </p:nvSpPr>
        <p:spPr>
          <a:xfrm>
            <a:off x="685800" y="4590415"/>
            <a:ext cx="146050" cy="146050"/>
          </a:xfrm>
          <a:prstGeom prst="ellipse">
            <a:avLst/>
          </a:prstGeom>
          <a:solidFill>
            <a:srgbClr val="C98A2C"/>
          </a:solidFill>
          <a:ln>
            <a:noFill/>
          </a:ln>
          <a:effectLst/>
        </p:spPr>
      </p:sp>
      <p:sp>
        <p:nvSpPr>
          <p:cNvPr id="14" name="Text 1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YAAMobAAAoRwAAch8AABAAAAAmAAAACAAAAP//////////"/>
              </a:ext>
            </a:extLst>
          </p:cNvSpPr>
          <p:nvPr/>
        </p:nvSpPr>
        <p:spPr>
          <a:xfrm>
            <a:off x="1051560" y="4517390"/>
            <a:ext cx="10515600" cy="594360"/>
          </a:xfrm>
          <a:prstGeom prst="rect">
            <a:avLst/>
          </a:prstGeom>
          <a:noFill/>
          <a:ln>
            <a:noFill/>
          </a:ln>
          <a:effectLst/>
        </p:spPr>
        <p:txBody>
          <a:bodyPr vert="horz" wrap="square" lIns="0" tIns="0" rIns="0" bIns="0" numCol="1" spcCol="215900" anchor="ctr"/>
          <a:lstStyle/>
          <a:p>
            <a:pPr marL="0" indent="0">
              <a:lnSpc>
                <a:spcPct val="110000"/>
              </a:lnSpc>
              <a:buNone/>
            </a:pPr>
            <a:r>
              <a:rPr lang="en-us" sz="1500" cap="none">
                <a:solidFill>
                  <a:srgbClr val="36454F"/>
                </a:solidFill>
              </a:rPr>
              <a:t>“No proof found” is never treated as “doesn't have it” — only ever as “we don't know yet.”</a:t>
            </a:r>
            <a:endParaRPr lang="en-us" sz="1500" cap="none"/>
          </a:p>
        </p:txBody>
      </p:sp>
      <p:sp>
        <p:nvSpPr>
          <p:cNvPr id="15" name="Text 1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KIJ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NMnAADQLwAAgykAABAAAAAmAAAACAAAAP//////////"/>
              </a:ext>
            </a:extLst>
          </p:cNvSpPr>
          <p:nvPr/>
        </p:nvSpPr>
        <p:spPr>
          <a:xfrm>
            <a:off x="457200" y="6473825"/>
            <a:ext cx="7315200" cy="274320"/>
          </a:xfrm>
          <a:prstGeom prst="rect">
            <a:avLst/>
          </a:prstGeom>
          <a:noFill/>
          <a:ln>
            <a:noFill/>
          </a:ln>
          <a:effectLst/>
        </p:spPr>
        <p:txBody>
          <a:bodyPr vert="horz" wrap="square" lIns="0" tIns="0" rIns="0" bIns="0" numCol="1" spcCol="215900" anchor="ctr"/>
          <a:lstStyle/>
          <a:p>
            <a:pPr marL="0" indent="0">
              <a:buNone/>
            </a:pPr>
            <a:r>
              <a:rPr lang="en-us" sz="1000" cap="none">
                <a:solidFill>
                  <a:srgbClr val="8A93A6"/>
                </a:solidFill>
              </a:rPr>
              <a:t>EGCA — Evidence-Governed Candidate Assessment</a:t>
            </a:r>
            <a:endParaRPr lang="en-us" sz="1000" cap="none"/>
          </a:p>
        </p:txBody>
      </p:sp>
      <p:sp>
        <p:nvSpPr>
          <p:cNvPr id="16" name="Text 14"/>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0UAANMnAAArSAAAgykAABAAAAAmAAAACAAAAP//////////"/>
              </a:ext>
            </a:extLst>
          </p:cNvSpPr>
          <p:nvPr/>
        </p:nvSpPr>
        <p:spPr>
          <a:xfrm>
            <a:off x="11274425" y="6473825"/>
            <a:ext cx="457200" cy="274320"/>
          </a:xfrm>
          <a:prstGeom prst="rect">
            <a:avLst/>
          </a:prstGeom>
          <a:noFill/>
          <a:ln>
            <a:noFill/>
          </a:ln>
          <a:effectLst/>
        </p:spPr>
        <p:txBody>
          <a:bodyPr vert="horz" wrap="square" lIns="0" tIns="0" rIns="0" bIns="0" numCol="1" spcCol="215900" anchor="ctr"/>
          <a:lstStyle/>
          <a:p>
            <a:pPr marL="0" indent="0" algn="r">
              <a:buNone/>
            </a:pPr>
            <a:r>
              <a:rPr lang="en-us" sz="1000" cap="none">
                <a:solidFill>
                  <a:srgbClr val="8A93A6"/>
                </a:solidFill>
              </a:rPr>
              <a:t>8</a:t>
            </a:r>
            <a:endParaRPr lang="en-us" sz="1000" cap="none"/>
          </a:p>
        </p:txBody>
      </p:sp>
    </p:spTree>
  </p:cSld>
  <p:clrMapOvr>
    <a:masterClrMapping/>
  </p:clrMapOvr>
  <p:timing>
    <p:tnLst>
      <p:par>
        <p:cTn id="1" dur="indefinite" restart="never" nodeType="tmRoot"/>
      </p:par>
    </p:tnLst>
  </p:timing>
</p:sld>
</file>

<file path=ppt/slides/slide9.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name="Slide 9">
    <p:bg>
      <p:bgPr>
        <a:solidFill>
          <a:srgbClr val="F7F9FC"/>
        </a:solidFill>
        <a:effectLst/>
      </p:bgPr>
    </p:bg>
    <p:spTree>
      <p:nvGrpSpPr>
        <p:cNvPr id="1" name=""/>
        <p:cNvGrpSpPr/>
        <p:nvPr/>
      </p:nvGrpSpPr>
      <p:grpSpPr>
        <a:xfrm>
          <a:off x="0" y="0"/>
          <a:ext cx="0" cy="0"/>
          <a:chOff x="0" y="0"/>
          <a:chExt cx="0" cy="0"/>
        </a:xfrm>
      </p:grpSpPr>
      <p:sp>
        <p:nvSpPr>
          <p:cNvPr id="2" name="Text 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0D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IgCAADgRgAAgAQAABAAAAAmAAAACAAAAP//////////"/>
              </a:ext>
            </a:extLst>
          </p:cNvSpPr>
          <p:nvPr/>
        </p:nvSpPr>
        <p:spPr>
          <a:xfrm>
            <a:off x="548640" y="411480"/>
            <a:ext cx="10972800" cy="320040"/>
          </a:xfrm>
          <a:prstGeom prst="rect">
            <a:avLst/>
          </a:prstGeom>
          <a:noFill/>
          <a:ln>
            <a:noFill/>
          </a:ln>
          <a:effectLst/>
        </p:spPr>
        <p:txBody>
          <a:bodyPr vert="horz" wrap="square" lIns="0" tIns="0" rIns="0" bIns="0" numCol="1" spcCol="215900" anchor="ctr"/>
          <a:lstStyle/>
          <a:p>
            <a:pPr marL="0" indent="0">
              <a:buNone/>
            </a:pPr>
            <a:r>
              <a:rPr lang="en-us" sz="1300" b="1" cap="none" spc="40">
                <a:solidFill>
                  <a:srgbClr val="C98A2C"/>
                </a:solidFill>
              </a:rPr>
              <a:t>STEP 5 · FILLING THE SHORTLIST</a:t>
            </a:r>
            <a:endParaRPr lang="en-us" sz="1300" cap="none"/>
          </a:p>
        </p:txBody>
      </p:sp>
      <p:sp>
        <p:nvSpPr>
          <p:cNvPr id="3" name="Text 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GMEAABwRwAAcwkAABAAAAAmAAAACAAAAP//////////"/>
              </a:ext>
            </a:extLst>
          </p:cNvSpPr>
          <p:nvPr/>
        </p:nvSpPr>
        <p:spPr>
          <a:xfrm>
            <a:off x="548640" y="713105"/>
            <a:ext cx="11064240" cy="822960"/>
          </a:xfrm>
          <a:prstGeom prst="rect">
            <a:avLst/>
          </a:prstGeom>
          <a:noFill/>
          <a:ln>
            <a:noFill/>
          </a:ln>
          <a:effectLst/>
        </p:spPr>
        <p:txBody>
          <a:bodyPr vert="horz" wrap="square" lIns="0" tIns="0" rIns="0" bIns="0" numCol="1" spcCol="215900" anchor="ctr"/>
          <a:lstStyle/>
          <a:p>
            <a:pPr marL="0" indent="0">
              <a:buNone/>
            </a:pPr>
            <a:r>
              <a:rPr lang="en-us" sz="3000" b="1" cap="none">
                <a:solidFill>
                  <a:srgbClr val="1E2761"/>
                </a:solidFill>
                <a:latin typeface="Cambria" pitchFamily="2" charset="0"/>
                <a:ea typeface="Cambria" pitchFamily="2" charset="0"/>
                <a:cs typeface="Cambria" pitchFamily="2" charset="0"/>
              </a:rPr>
              <a:t>Fairly, Never by Lowering the Bar</a:t>
            </a:r>
            <a:endParaRPr lang="en-us" sz="3000" cap="none"/>
          </a:p>
        </p:txBody>
      </p:sp>
      <p:sp>
        <p:nvSpPr>
          <p:cNvPr id="4" name="Shape 2"/>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Hidh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dhAP///wEAAAAAAAAAAAAAAAAAAAAAAAAAAAAAAAAAAAAAAAAAAAAAAAB/f38A5+bmA8zMzADAwP8Af39/AAAAAAAAAAAAAAAAAAAAAAAAAAAAIQAAABgAAAAUAAAA8AMAAEALAABACwAAkBIAABAAAAAmAAAACAAAAP//////////"/>
              </a:ext>
            </a:extLst>
          </p:cNvSpPr>
          <p:nvPr/>
        </p:nvSpPr>
        <p:spPr>
          <a:xfrm>
            <a:off x="640080" y="1828800"/>
            <a:ext cx="1188720" cy="1188720"/>
          </a:xfrm>
          <a:prstGeom prst="ellipse">
            <a:avLst/>
          </a:prstGeom>
          <a:solidFill>
            <a:srgbClr val="1E2761"/>
          </a:solidFill>
          <a:ln>
            <a:noFill/>
          </a:ln>
          <a:effectLst/>
        </p:spPr>
      </p:sp>
      <p:sp>
        <p:nvSpPr>
          <p:cNvPr id="5" name="Text 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8AMAAEALAABACwAAkBIAABAAAAAmAAAACAAAAP//////////"/>
              </a:ext>
            </a:extLst>
          </p:cNvSpPr>
          <p:nvPr/>
        </p:nvSpPr>
        <p:spPr>
          <a:xfrm>
            <a:off x="640080" y="1828800"/>
            <a:ext cx="1188720" cy="1188720"/>
          </a:xfrm>
          <a:prstGeom prst="rect">
            <a:avLst/>
          </a:prstGeom>
          <a:noFill/>
          <a:ln>
            <a:noFill/>
          </a:ln>
          <a:effectLst/>
        </p:spPr>
        <p:txBody>
          <a:bodyPr vert="horz" wrap="square" lIns="0" tIns="0" rIns="0" bIns="0" numCol="1" spcCol="215900" anchor="ctr"/>
          <a:lstStyle/>
          <a:p>
            <a:pPr marL="0" indent="0" algn="ctr">
              <a:buNone/>
            </a:pPr>
            <a:r>
              <a:rPr lang="en-us" sz="4000" b="1" cap="none">
                <a:solidFill>
                  <a:srgbClr val="FFFFFF"/>
                </a:solidFill>
                <a:latin typeface="Cambria" pitchFamily="2" charset="0"/>
                <a:ea typeface="Cambria" pitchFamily="2" charset="0"/>
                <a:cs typeface="Cambria" pitchFamily="2" charset="0"/>
              </a:rPr>
              <a:t>E</a:t>
            </a:r>
            <a:endParaRPr lang="en-us" sz="4000" cap="none"/>
          </a:p>
        </p:txBody>
      </p:sp>
      <p:sp>
        <p:nvSpPr>
          <p:cNvPr id="6" name="Shape 4"/>
          <p:cNvSpPr>
            <a:extLst>
              <a:ext uri="smNativeData">
                <pr:smNativeData xmlns:pr="smNativeData" xmlns="smNativeData" val="SMDATA_15_ZH+7ahMAAAAlAAAAZQAAAA0AAAAAkAAAAEgAAACQAAAASAAAAAAAAAAAAAAAAAAAAAEAAABQAAAAqYdodAexwz8AAAAAAADwvwAAAAAAAOA/AAAAAAAA4D8AAAAAAADgPwAAAAAAAOA/AAAAAAAA4D8AAAAAAADgPwAAAAAAAOA/AAAAAAAA4D8CAAAAjAAAAAEAAAAAAAAAytz8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tz8AP///wEAAAAAAAAAAAAAAAAAAAAAAAAAAAAAAAAAAAAAAAAAAAAAAAB/f38A5+bmA8zMzADAwP8Af39/AAAAAAAAAAAAAAAAAAAAAAAAAAAAIQAAABgAAAAUAAAAOA0AAGgKAAAoRwAAuBEAABAAAAAmAAAACAAAAP//////////"/>
              </a:ext>
            </a:extLst>
          </p:cNvSpPr>
          <p:nvPr/>
        </p:nvSpPr>
        <p:spPr>
          <a:xfrm>
            <a:off x="2148840" y="1691640"/>
            <a:ext cx="9418320" cy="1188720"/>
          </a:xfrm>
          <a:prstGeom prst="roundRect">
            <a:avLst>
              <a:gd name="adj" fmla="val 7692"/>
            </a:avLst>
          </a:prstGeom>
          <a:solidFill>
            <a:srgbClr val="CADCFC"/>
          </a:solidFill>
          <a:ln>
            <a:noFill/>
          </a:ln>
          <a:effectLst/>
        </p:spPr>
      </p:sp>
      <p:sp>
        <p:nvSpPr>
          <p:cNvPr id="7" name="Text 5"/>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OUI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4AAOoKAADARQAAmgwAABAAAAAmAAAACAAAAP//////////"/>
              </a:ext>
            </a:extLst>
          </p:cNvSpPr>
          <p:nvPr/>
        </p:nvSpPr>
        <p:spPr>
          <a:xfrm>
            <a:off x="2377440" y="1774190"/>
            <a:ext cx="8961120" cy="274320"/>
          </a:xfrm>
          <a:prstGeom prst="rect">
            <a:avLst/>
          </a:prstGeom>
          <a:noFill/>
          <a:ln>
            <a:noFill/>
          </a:ln>
          <a:effectLst/>
        </p:spPr>
        <p:txBody>
          <a:bodyPr vert="horz" wrap="square" lIns="0" tIns="0" rIns="0" bIns="0" numCol="1" spcCol="215900" anchor="ctr"/>
          <a:lstStyle/>
          <a:p>
            <a:pPr marL="0" indent="0">
              <a:buNone/>
            </a:pPr>
            <a:r>
              <a:rPr lang="en-us" sz="1200" b="1" cap="none">
                <a:solidFill>
                  <a:srgbClr val="1E2761"/>
                </a:solidFill>
              </a:rPr>
              <a:t>REAL CONSEQUENCE:</a:t>
            </a:r>
            <a:endParaRPr lang="en-us" sz="1200" cap="none"/>
          </a:p>
        </p:txBody>
      </p:sp>
      <p:sp>
        <p:nvSpPr>
          <p:cNvPr id="8" name="Text 6"/>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4AAH0MAADARQAARREAABAAAAAmAAAACAAAAP//////////"/>
              </a:ext>
            </a:extLst>
          </p:cNvSpPr>
          <p:nvPr/>
        </p:nvSpPr>
        <p:spPr>
          <a:xfrm>
            <a:off x="2377440" y="2030095"/>
            <a:ext cx="8961120" cy="777240"/>
          </a:xfrm>
          <a:prstGeom prst="rect">
            <a:avLst/>
          </a:prstGeom>
          <a:noFill/>
          <a:ln>
            <a:noFill/>
          </a:ln>
          <a:effectLst/>
        </p:spPr>
        <p:txBody>
          <a:bodyPr vert="horz" wrap="square" lIns="0" tIns="0" rIns="0" bIns="0" numCol="1" spcCol="215900" anchor="ctr"/>
          <a:lstStyle/>
          <a:p>
            <a:pPr marL="0" indent="0">
              <a:lnSpc>
                <a:spcPct val="108000"/>
              </a:lnSpc>
              <a:buNone/>
            </a:pPr>
            <a:r>
              <a:rPr lang="en-us" sz="1350" cap="none">
                <a:solidFill>
                  <a:srgbClr val="1E2761"/>
                </a:solidFill>
              </a:rPr>
              <a:t>At one real company, a single overly strict requirement rejected 2,863 people who would have gone on to produce $17.7 million in business — and nobody was tracking which rule was responsible.</a:t>
            </a:r>
            <a:endParaRPr lang="en-us" sz="1350" cap="none"/>
          </a:p>
        </p:txBody>
      </p:sp>
      <p:sp>
        <p:nvSpPr>
          <p:cNvPr id="9" name="Shape 7"/>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OAQAACMUAAAeBQAAChUAABAAAAAmAAAACAAAAP//////////"/>
              </a:ext>
            </a:extLst>
          </p:cNvSpPr>
          <p:nvPr/>
        </p:nvSpPr>
        <p:spPr>
          <a:xfrm>
            <a:off x="685800" y="3273425"/>
            <a:ext cx="146050" cy="146685"/>
          </a:xfrm>
          <a:prstGeom prst="ellipse">
            <a:avLst/>
          </a:prstGeom>
          <a:solidFill>
            <a:srgbClr val="C98A2C"/>
          </a:solidFill>
          <a:ln>
            <a:noFill/>
          </a:ln>
          <a:effectLst/>
        </p:spPr>
      </p:sp>
      <p:sp>
        <p:nvSpPr>
          <p:cNvPr id="10" name="Text 8"/>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YAALATAAAoRwAAWBcAABAAAAAmAAAACAAAAP//////////"/>
              </a:ext>
            </a:extLst>
          </p:cNvSpPr>
          <p:nvPr/>
        </p:nvSpPr>
        <p:spPr>
          <a:xfrm>
            <a:off x="1051560" y="3200400"/>
            <a:ext cx="10515600" cy="594360"/>
          </a:xfrm>
          <a:prstGeom prst="rect">
            <a:avLst/>
          </a:prstGeom>
          <a:noFill/>
          <a:ln>
            <a:noFill/>
          </a:ln>
          <a:effectLst/>
        </p:spPr>
        <p:txBody>
          <a:bodyPr vert="horz" wrap="square" lIns="0" tIns="0" rIns="0" bIns="0" numCol="1" spcCol="215900" anchor="ctr"/>
          <a:lstStyle/>
          <a:p>
            <a:pPr marL="0" indent="0">
              <a:lnSpc>
                <a:spcPct val="110000"/>
              </a:lnSpc>
              <a:buNone/>
            </a:pPr>
            <a:r>
              <a:rPr lang="en-us" sz="1500" cap="none">
                <a:solidFill>
                  <a:srgbClr val="36454F"/>
                </a:solidFill>
              </a:rPr>
              <a:t>If not enough candidates qualify, the system pulls in more and re-checks — it never relaxes the rules to fill a quota.</a:t>
            </a:r>
            <a:endParaRPr lang="en-us" sz="1500" cap="none"/>
          </a:p>
        </p:txBody>
      </p:sp>
      <p:sp>
        <p:nvSpPr>
          <p:cNvPr id="11" name="Shape 9"/>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OAQAADAYAAAeBQAAFhkAABAAAAAmAAAACAAAAP//////////"/>
              </a:ext>
            </a:extLst>
          </p:cNvSpPr>
          <p:nvPr/>
        </p:nvSpPr>
        <p:spPr>
          <a:xfrm>
            <a:off x="685800" y="3931920"/>
            <a:ext cx="146050" cy="146050"/>
          </a:xfrm>
          <a:prstGeom prst="ellipse">
            <a:avLst/>
          </a:prstGeom>
          <a:solidFill>
            <a:srgbClr val="C98A2C"/>
          </a:solidFill>
          <a:ln>
            <a:noFill/>
          </a:ln>
          <a:effectLst/>
        </p:spPr>
      </p:sp>
      <p:sp>
        <p:nvSpPr>
          <p:cNvPr id="12" name="Text 1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mVCZ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YAAL0XAAAoRwAAZRsAABAAAAAmAAAACAAAAP//////////"/>
              </a:ext>
            </a:extLst>
          </p:cNvSpPr>
          <p:nvPr/>
        </p:nvSpPr>
        <p:spPr>
          <a:xfrm>
            <a:off x="1051560" y="3858895"/>
            <a:ext cx="10515600" cy="594360"/>
          </a:xfrm>
          <a:prstGeom prst="rect">
            <a:avLst/>
          </a:prstGeom>
          <a:noFill/>
          <a:ln>
            <a:noFill/>
          </a:ln>
          <a:effectLst/>
        </p:spPr>
        <p:txBody>
          <a:bodyPr vert="horz" wrap="square" lIns="0" tIns="0" rIns="0" bIns="0" numCol="1" spcCol="215900" anchor="ctr"/>
          <a:lstStyle/>
          <a:p>
            <a:pPr marL="0" indent="0">
              <a:lnSpc>
                <a:spcPct val="110000"/>
              </a:lnSpc>
              <a:buNone/>
            </a:pPr>
            <a:r>
              <a:rPr lang="en-us" sz="1500" cap="none">
                <a:solidFill>
                  <a:srgbClr val="36454F"/>
                </a:solidFill>
              </a:rPr>
              <a:t>If the whole pool runs out, it reports exactly which requirement was rejecting the most people.</a:t>
            </a:r>
            <a:endParaRPr lang="en-us" sz="1500" cap="none"/>
          </a:p>
        </p:txBody>
      </p:sp>
      <p:sp>
        <p:nvSpPr>
          <p:cNvPr id="13" name="Text 1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oR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NMnAADQLwAAgykAABAAAAAmAAAACAAAAP//////////"/>
              </a:ext>
            </a:extLst>
          </p:cNvSpPr>
          <p:nvPr/>
        </p:nvSpPr>
        <p:spPr>
          <a:xfrm>
            <a:off x="457200" y="6473825"/>
            <a:ext cx="7315200" cy="274320"/>
          </a:xfrm>
          <a:prstGeom prst="rect">
            <a:avLst/>
          </a:prstGeom>
          <a:noFill/>
          <a:ln>
            <a:noFill/>
          </a:ln>
          <a:effectLst/>
        </p:spPr>
        <p:txBody>
          <a:bodyPr vert="horz" wrap="square" lIns="0" tIns="0" rIns="0" bIns="0" numCol="1" spcCol="215900" anchor="ctr"/>
          <a:lstStyle/>
          <a:p>
            <a:pPr marL="0" indent="0">
              <a:buNone/>
            </a:pPr>
            <a:r>
              <a:rPr lang="en-us" sz="1000" cap="none">
                <a:solidFill>
                  <a:srgbClr val="8A93A6"/>
                </a:solidFill>
              </a:rPr>
              <a:t>EGCA — Evidence-Governed Candidate Assessment</a:t>
            </a:r>
            <a:endParaRPr lang="en-us" sz="1000" cap="none"/>
          </a:p>
        </p:txBody>
      </p:sp>
      <p:sp>
        <p:nvSpPr>
          <p:cNvPr id="14" name="Text 1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0UAANMnAAArSAAAgykAABAAAAAmAAAACAAAAP//////////"/>
              </a:ext>
            </a:extLst>
          </p:cNvSpPr>
          <p:nvPr/>
        </p:nvSpPr>
        <p:spPr>
          <a:xfrm>
            <a:off x="11274425" y="6473825"/>
            <a:ext cx="457200" cy="274320"/>
          </a:xfrm>
          <a:prstGeom prst="rect">
            <a:avLst/>
          </a:prstGeom>
          <a:noFill/>
          <a:ln>
            <a:noFill/>
          </a:ln>
          <a:effectLst/>
        </p:spPr>
        <p:txBody>
          <a:bodyPr vert="horz" wrap="square" lIns="0" tIns="0" rIns="0" bIns="0" numCol="1" spcCol="215900" anchor="ctr"/>
          <a:lstStyle/>
          <a:p>
            <a:pPr marL="0" indent="0" algn="r">
              <a:buNone/>
            </a:pPr>
            <a:r>
              <a:rPr lang="en-us" sz="1000" cap="none">
                <a:solidFill>
                  <a:srgbClr val="8A93A6"/>
                </a:solidFill>
              </a:rPr>
              <a:t>9</a:t>
            </a:r>
            <a:endParaRPr lang="en-us" sz="1000" cap="none"/>
          </a:p>
        </p:txBody>
      </p:sp>
    </p:spTree>
  </p:cSld>
  <p:clrMapOvr>
    <a:masterClrMapping/>
  </p:clrMapOvr>
  <p:timing>
    <p:tnLst>
      <p:par>
        <p:cTn id="1" dur="indefinite" restart="never" nodeType="tmRoot"/>
      </p:par>
    </p:tnLst>
  </p:timing>
</p:sld>
</file>

<file path=ppt/slides/slide10.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name="Slide 10">
    <p:bg>
      <p:bgPr>
        <a:solidFill>
          <a:srgbClr val="F7F9FC"/>
        </a:solidFill>
        <a:effectLst/>
      </p:bgPr>
    </p:bg>
    <p:spTree>
      <p:nvGrpSpPr>
        <p:cNvPr id="1" name=""/>
        <p:cNvGrpSpPr/>
        <p:nvPr/>
      </p:nvGrpSpPr>
      <p:grpSpPr>
        <a:xfrm>
          <a:off x="0" y="0"/>
          <a:ext cx="0" cy="0"/>
          <a:chOff x="0" y="0"/>
          <a:chExt cx="0" cy="0"/>
        </a:xfrm>
      </p:grpSpPr>
      <p:sp>
        <p:nvSpPr>
          <p:cNvPr id="2" name="Text 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IgCAADgRgAAgAQAABAAAAAmAAAACAAAAP//////////"/>
              </a:ext>
            </a:extLst>
          </p:cNvSpPr>
          <p:nvPr/>
        </p:nvSpPr>
        <p:spPr>
          <a:xfrm>
            <a:off x="548640" y="411480"/>
            <a:ext cx="10972800" cy="320040"/>
          </a:xfrm>
          <a:prstGeom prst="rect">
            <a:avLst/>
          </a:prstGeom>
          <a:noFill/>
          <a:ln>
            <a:noFill/>
          </a:ln>
          <a:effectLst/>
        </p:spPr>
        <p:txBody>
          <a:bodyPr vert="horz" wrap="square" lIns="0" tIns="0" rIns="0" bIns="0" numCol="1" spcCol="215900" anchor="ctr"/>
          <a:lstStyle/>
          <a:p>
            <a:pPr marL="0" indent="0">
              <a:buNone/>
            </a:pPr>
            <a:r>
              <a:rPr lang="en-us" sz="1300" b="1" cap="none" spc="40">
                <a:solidFill>
                  <a:srgbClr val="C98A2C"/>
                </a:solidFill>
              </a:rPr>
              <a:t>STEP 6 · THE HANDOFF</a:t>
            </a:r>
            <a:endParaRPr lang="en-us" sz="1300" cap="none"/>
          </a:p>
        </p:txBody>
      </p:sp>
      <p:sp>
        <p:nvSpPr>
          <p:cNvPr id="3" name="Text 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GMEAABwRwAAcwkAABAAAAAmAAAACAAAAP//////////"/>
              </a:ext>
            </a:extLst>
          </p:cNvSpPr>
          <p:nvPr/>
        </p:nvSpPr>
        <p:spPr>
          <a:xfrm>
            <a:off x="548640" y="713105"/>
            <a:ext cx="11064240" cy="822960"/>
          </a:xfrm>
          <a:prstGeom prst="rect">
            <a:avLst/>
          </a:prstGeom>
          <a:noFill/>
          <a:ln>
            <a:noFill/>
          </a:ln>
          <a:effectLst/>
        </p:spPr>
        <p:txBody>
          <a:bodyPr vert="horz" wrap="square" lIns="0" tIns="0" rIns="0" bIns="0" numCol="1" spcCol="215900" anchor="ctr"/>
          <a:lstStyle/>
          <a:p>
            <a:pPr marL="0" indent="0">
              <a:buNone/>
            </a:pPr>
            <a:r>
              <a:rPr lang="en-us" sz="3000" b="1" cap="none">
                <a:solidFill>
                  <a:srgbClr val="1E2761"/>
                </a:solidFill>
                <a:latin typeface="Cambria" pitchFamily="2" charset="0"/>
                <a:ea typeface="Cambria" pitchFamily="2" charset="0"/>
                <a:cs typeface="Cambria" pitchFamily="2" charset="0"/>
              </a:rPr>
              <a:t>A Briefing, Not Just a Verdict</a:t>
            </a:r>
            <a:endParaRPr lang="en-us" sz="3000" cap="none"/>
          </a:p>
        </p:txBody>
      </p:sp>
      <p:sp>
        <p:nvSpPr>
          <p:cNvPr id="4" name="Shape 2"/>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Hidh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dhAP///wEAAAAAAAAAAAAAAAAAAAAAAAAAAAAAAAAAAAAAAAAAAAAAAAB/f38A5+bmA8zMzADAwP8Af39/AAAAAAAAAAAAAAAAAAAAAAAAAAAAIQAAABgAAAAUAAAA8AMAAEALAABACwAAkBIAABAAAAAmAAAACAAAAP//////////"/>
              </a:ext>
            </a:extLst>
          </p:cNvSpPr>
          <p:nvPr/>
        </p:nvSpPr>
        <p:spPr>
          <a:xfrm>
            <a:off x="640080" y="1828800"/>
            <a:ext cx="1188720" cy="1188720"/>
          </a:xfrm>
          <a:prstGeom prst="ellipse">
            <a:avLst/>
          </a:prstGeom>
          <a:solidFill>
            <a:srgbClr val="1E2761"/>
          </a:solidFill>
          <a:ln>
            <a:noFill/>
          </a:ln>
          <a:effectLst/>
        </p:spPr>
      </p:sp>
      <p:sp>
        <p:nvSpPr>
          <p:cNvPr id="5" name="Text 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8AMAAEALAABACwAAkBIAABAAAAAmAAAACAAAAP//////////"/>
              </a:ext>
            </a:extLst>
          </p:cNvSpPr>
          <p:nvPr/>
        </p:nvSpPr>
        <p:spPr>
          <a:xfrm>
            <a:off x="640080" y="1828800"/>
            <a:ext cx="1188720" cy="1188720"/>
          </a:xfrm>
          <a:prstGeom prst="rect">
            <a:avLst/>
          </a:prstGeom>
          <a:noFill/>
          <a:ln>
            <a:noFill/>
          </a:ln>
          <a:effectLst/>
        </p:spPr>
        <p:txBody>
          <a:bodyPr vert="horz" wrap="square" lIns="0" tIns="0" rIns="0" bIns="0" numCol="1" spcCol="215900" anchor="ctr"/>
          <a:lstStyle/>
          <a:p>
            <a:pPr marL="0" indent="0" algn="ctr">
              <a:buNone/>
            </a:pPr>
            <a:r>
              <a:rPr lang="en-us" sz="4000" b="1" cap="none">
                <a:solidFill>
                  <a:srgbClr val="FFFFFF"/>
                </a:solidFill>
                <a:latin typeface="Cambria" pitchFamily="2" charset="0"/>
                <a:ea typeface="Cambria" pitchFamily="2" charset="0"/>
                <a:cs typeface="Cambria" pitchFamily="2" charset="0"/>
              </a:rPr>
              <a:t>F</a:t>
            </a:r>
            <a:endParaRPr lang="en-us" sz="4000" cap="none"/>
          </a:p>
        </p:txBody>
      </p:sp>
      <p:sp>
        <p:nvSpPr>
          <p:cNvPr id="6" name="Shape 4"/>
          <p:cNvSpPr>
            <a:extLst>
              <a:ext uri="smNativeData">
                <pr:smNativeData xmlns:pr="smNativeData" xmlns="smNativeData" val="SMDATA_15_ZH+7ahMAAAAlAAAAZQAAAA0AAAAAkAAAAEgAAACQAAAASAAAAAAAAAAAAAAAAAAAAAEAAABQAAAAqYdodAexwz8AAAAAAADwvwAAAAAAAOA/AAAAAAAA4D8AAAAAAADgPwAAAAAAAOA/AAAAAAAA4D8AAAAAAADgPwAAAAAAAOA/AAAAAAAA4D8CAAAAjAAAAAEAAAAAAAAAytz8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tz8AP///wEAAAAAAAAAAAAAAAAAAAAAAAAAAAAAAAAAAAAAAAAAAAAAAAB/f38A5+bmA8zMzADAwP8Af39/AAAAAAAAAAAAAAAAAAAAAAAAAAAAIQAAABgAAAAUAAAAOA0AAGgKAAAoRwAAuBEAABAAAAAmAAAACAAAAP//////////"/>
              </a:ext>
            </a:extLst>
          </p:cNvSpPr>
          <p:nvPr/>
        </p:nvSpPr>
        <p:spPr>
          <a:xfrm>
            <a:off x="2148840" y="1691640"/>
            <a:ext cx="9418320" cy="1188720"/>
          </a:xfrm>
          <a:prstGeom prst="roundRect">
            <a:avLst>
              <a:gd name="adj" fmla="val 7692"/>
            </a:avLst>
          </a:prstGeom>
          <a:solidFill>
            <a:srgbClr val="CADCFC"/>
          </a:solidFill>
          <a:ln>
            <a:noFill/>
          </a:ln>
          <a:effectLst/>
        </p:spPr>
      </p:sp>
      <p:sp>
        <p:nvSpPr>
          <p:cNvPr id="7" name="Text 5"/>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4AAOoKAADARQAAmgwAABAAAAAmAAAACAAAAP//////////"/>
              </a:ext>
            </a:extLst>
          </p:cNvSpPr>
          <p:nvPr/>
        </p:nvSpPr>
        <p:spPr>
          <a:xfrm>
            <a:off x="2377440" y="1774190"/>
            <a:ext cx="8961120" cy="274320"/>
          </a:xfrm>
          <a:prstGeom prst="rect">
            <a:avLst/>
          </a:prstGeom>
          <a:noFill/>
          <a:ln>
            <a:noFill/>
          </a:ln>
          <a:effectLst/>
        </p:spPr>
        <p:txBody>
          <a:bodyPr vert="horz" wrap="square" lIns="0" tIns="0" rIns="0" bIns="0" numCol="1" spcCol="215900" anchor="ctr"/>
          <a:lstStyle/>
          <a:p>
            <a:pPr marL="0" indent="0">
              <a:buNone/>
            </a:pPr>
            <a:r>
              <a:rPr lang="en-us" sz="1200" b="1" cap="none">
                <a:solidFill>
                  <a:srgbClr val="1E2761"/>
                </a:solidFill>
              </a:rPr>
              <a:t>REAL COMPLAINT:</a:t>
            </a:r>
            <a:endParaRPr lang="en-us" sz="1200" cap="none"/>
          </a:p>
        </p:txBody>
      </p:sp>
      <p:sp>
        <p:nvSpPr>
          <p:cNvPr id="8" name="Text 6"/>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4AAH0MAADARQAARREAABAAAAAmAAAACAAAAP//////////"/>
              </a:ext>
            </a:extLst>
          </p:cNvSpPr>
          <p:nvPr/>
        </p:nvSpPr>
        <p:spPr>
          <a:xfrm>
            <a:off x="2377440" y="2030095"/>
            <a:ext cx="8961120" cy="777240"/>
          </a:xfrm>
          <a:prstGeom prst="rect">
            <a:avLst/>
          </a:prstGeom>
          <a:noFill/>
          <a:ln>
            <a:noFill/>
          </a:ln>
          <a:effectLst/>
        </p:spPr>
        <p:txBody>
          <a:bodyPr vert="horz" wrap="square" lIns="0" tIns="0" rIns="0" bIns="0" numCol="1" spcCol="215900" anchor="ctr"/>
          <a:lstStyle/>
          <a:p>
            <a:pPr marL="0" indent="0">
              <a:lnSpc>
                <a:spcPct val="108000"/>
              </a:lnSpc>
              <a:buNone/>
            </a:pPr>
            <a:r>
              <a:rPr lang="en-us" sz="1350" cap="none">
                <a:solidFill>
                  <a:srgbClr val="1E2761"/>
                </a:solidFill>
              </a:rPr>
              <a:t>A documented, common experience: rejected candidates are told only a number like “64% match” — no explanation, no evidence shown, no way to appeal.</a:t>
            </a:r>
            <a:endParaRPr lang="en-us" sz="1350" cap="none"/>
          </a:p>
        </p:txBody>
      </p:sp>
      <p:sp>
        <p:nvSpPr>
          <p:cNvPr id="9" name="Shape 7"/>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OAQAACMUAAAeBQAAChUAABAAAAAmAAAACAAAAP//////////"/>
              </a:ext>
            </a:extLst>
          </p:cNvSpPr>
          <p:nvPr/>
        </p:nvSpPr>
        <p:spPr>
          <a:xfrm>
            <a:off x="685800" y="3273425"/>
            <a:ext cx="146050" cy="146685"/>
          </a:xfrm>
          <a:prstGeom prst="ellipse">
            <a:avLst/>
          </a:prstGeom>
          <a:solidFill>
            <a:srgbClr val="C98A2C"/>
          </a:solidFill>
          <a:ln>
            <a:noFill/>
          </a:ln>
          <a:effectLst/>
        </p:spPr>
      </p:sp>
      <p:sp>
        <p:nvSpPr>
          <p:cNvPr id="10" name="Text 8"/>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YAALATAAAoRwAAWBcAABAAAAAmAAAACAAAAP//////////"/>
              </a:ext>
            </a:extLst>
          </p:cNvSpPr>
          <p:nvPr/>
        </p:nvSpPr>
        <p:spPr>
          <a:xfrm>
            <a:off x="1051560" y="3200400"/>
            <a:ext cx="10515600" cy="594360"/>
          </a:xfrm>
          <a:prstGeom prst="rect">
            <a:avLst/>
          </a:prstGeom>
          <a:noFill/>
          <a:ln>
            <a:noFill/>
          </a:ln>
          <a:effectLst/>
        </p:spPr>
        <p:txBody>
          <a:bodyPr vert="horz" wrap="square" lIns="0" tIns="0" rIns="0" bIns="0" numCol="1" spcCol="215900" anchor="ctr"/>
          <a:lstStyle/>
          <a:p>
            <a:pPr marL="0" indent="0">
              <a:lnSpc>
                <a:spcPct val="110000"/>
              </a:lnSpc>
              <a:buNone/>
            </a:pPr>
            <a:r>
              <a:rPr lang="en-us" sz="1500" cap="none">
                <a:solidFill>
                  <a:srgbClr val="36454F"/>
                </a:solidFill>
              </a:rPr>
              <a:t>Interviewers get targeted questions instead of a blank resume to re-read from scratch.</a:t>
            </a:r>
            <a:endParaRPr lang="en-us" sz="1500" cap="none"/>
          </a:p>
        </p:txBody>
      </p:sp>
      <p:sp>
        <p:nvSpPr>
          <p:cNvPr id="11" name="Shape 9"/>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OAQAADAYAAAeBQAAFhkAABAAAAAmAAAACAAAAP//////////"/>
              </a:ext>
            </a:extLst>
          </p:cNvSpPr>
          <p:nvPr/>
        </p:nvSpPr>
        <p:spPr>
          <a:xfrm>
            <a:off x="685800" y="3931920"/>
            <a:ext cx="146050" cy="146050"/>
          </a:xfrm>
          <a:prstGeom prst="ellipse">
            <a:avLst/>
          </a:prstGeom>
          <a:solidFill>
            <a:srgbClr val="C98A2C"/>
          </a:solidFill>
          <a:ln>
            <a:noFill/>
          </a:ln>
          <a:effectLst/>
        </p:spPr>
      </p:sp>
      <p:sp>
        <p:nvSpPr>
          <p:cNvPr id="12" name="Text 1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YAAL0XAAAoRwAAZRsAABAAAAAmAAAACAAAAP//////////"/>
              </a:ext>
            </a:extLst>
          </p:cNvSpPr>
          <p:nvPr/>
        </p:nvSpPr>
        <p:spPr>
          <a:xfrm>
            <a:off x="1051560" y="3858895"/>
            <a:ext cx="10515600" cy="594360"/>
          </a:xfrm>
          <a:prstGeom prst="rect">
            <a:avLst/>
          </a:prstGeom>
          <a:noFill/>
          <a:ln>
            <a:noFill/>
          </a:ln>
          <a:effectLst/>
        </p:spPr>
        <p:txBody>
          <a:bodyPr vert="horz" wrap="square" lIns="0" tIns="0" rIns="0" bIns="0" numCol="1" spcCol="215900" anchor="ctr"/>
          <a:lstStyle/>
          <a:p>
            <a:pPr marL="0" indent="0">
              <a:lnSpc>
                <a:spcPct val="110000"/>
              </a:lnSpc>
              <a:buNone/>
            </a:pPr>
            <a:r>
              <a:rPr lang="en-us" sz="1500" cap="none">
                <a:solidFill>
                  <a:srgbClr val="36454F"/>
                </a:solidFill>
              </a:rPr>
              <a:t>HR gets a clear checklist of what still needs confirming before an offer.</a:t>
            </a:r>
            <a:endParaRPr lang="en-us" sz="1500" cap="none"/>
          </a:p>
        </p:txBody>
      </p:sp>
      <p:sp>
        <p:nvSpPr>
          <p:cNvPr id="13" name="Shape 11"/>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OAQAAD0cAAAeBQAAIx0AABAAAAAmAAAACAAAAP//////////"/>
              </a:ext>
            </a:extLst>
          </p:cNvSpPr>
          <p:nvPr/>
        </p:nvSpPr>
        <p:spPr>
          <a:xfrm>
            <a:off x="685800" y="4590415"/>
            <a:ext cx="146050" cy="146050"/>
          </a:xfrm>
          <a:prstGeom prst="ellipse">
            <a:avLst/>
          </a:prstGeom>
          <a:solidFill>
            <a:srgbClr val="C98A2C"/>
          </a:solidFill>
          <a:ln>
            <a:noFill/>
          </a:ln>
          <a:effectLst/>
        </p:spPr>
      </p:sp>
      <p:sp>
        <p:nvSpPr>
          <p:cNvPr id="14" name="Text 1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YAAMobAAAoRwAAch8AABAAAAAmAAAACAAAAP//////////"/>
              </a:ext>
            </a:extLst>
          </p:cNvSpPr>
          <p:nvPr/>
        </p:nvSpPr>
        <p:spPr>
          <a:xfrm>
            <a:off x="1051560" y="4517390"/>
            <a:ext cx="10515600" cy="594360"/>
          </a:xfrm>
          <a:prstGeom prst="rect">
            <a:avLst/>
          </a:prstGeom>
          <a:noFill/>
          <a:ln>
            <a:noFill/>
          </a:ln>
          <a:effectLst/>
        </p:spPr>
        <p:txBody>
          <a:bodyPr vert="horz" wrap="square" lIns="0" tIns="0" rIns="0" bIns="0" numCol="1" spcCol="215900" anchor="ctr"/>
          <a:lstStyle/>
          <a:p>
            <a:pPr marL="0" indent="0">
              <a:lnSpc>
                <a:spcPct val="110000"/>
              </a:lnSpc>
              <a:buNone/>
            </a:pPr>
            <a:r>
              <a:rPr lang="en-us" sz="1500" cap="none">
                <a:solidFill>
                  <a:srgbClr val="36454F"/>
                </a:solidFill>
              </a:rPr>
              <a:t>Every decision leaves a record ready for review or appeal.</a:t>
            </a:r>
            <a:endParaRPr lang="en-us" sz="1500" cap="none"/>
          </a:p>
        </p:txBody>
      </p:sp>
      <p:sp>
        <p:nvSpPr>
          <p:cNvPr id="15" name="Text 1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NMnAADQLwAAgykAABAAAAAmAAAACAAAAP//////////"/>
              </a:ext>
            </a:extLst>
          </p:cNvSpPr>
          <p:nvPr/>
        </p:nvSpPr>
        <p:spPr>
          <a:xfrm>
            <a:off x="457200" y="6473825"/>
            <a:ext cx="7315200" cy="274320"/>
          </a:xfrm>
          <a:prstGeom prst="rect">
            <a:avLst/>
          </a:prstGeom>
          <a:noFill/>
          <a:ln>
            <a:noFill/>
          </a:ln>
          <a:effectLst/>
        </p:spPr>
        <p:txBody>
          <a:bodyPr vert="horz" wrap="square" lIns="0" tIns="0" rIns="0" bIns="0" numCol="1" spcCol="215900" anchor="ctr"/>
          <a:lstStyle/>
          <a:p>
            <a:pPr marL="0" indent="0">
              <a:buNone/>
            </a:pPr>
            <a:r>
              <a:rPr lang="en-us" sz="1000" cap="none">
                <a:solidFill>
                  <a:srgbClr val="8A93A6"/>
                </a:solidFill>
              </a:rPr>
              <a:t>EGCA — Evidence-Governed Candidate Assessment</a:t>
            </a:r>
            <a:endParaRPr lang="en-us" sz="1000" cap="none"/>
          </a:p>
        </p:txBody>
      </p:sp>
      <p:sp>
        <p:nvSpPr>
          <p:cNvPr id="16" name="Text 14"/>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0UAANMnAAArSAAAgykAABAAAAAmAAAACAAAAP//////////"/>
              </a:ext>
            </a:extLst>
          </p:cNvSpPr>
          <p:nvPr/>
        </p:nvSpPr>
        <p:spPr>
          <a:xfrm>
            <a:off x="11274425" y="6473825"/>
            <a:ext cx="457200" cy="274320"/>
          </a:xfrm>
          <a:prstGeom prst="rect">
            <a:avLst/>
          </a:prstGeom>
          <a:noFill/>
          <a:ln>
            <a:noFill/>
          </a:ln>
          <a:effectLst/>
        </p:spPr>
        <p:txBody>
          <a:bodyPr vert="horz" wrap="square" lIns="0" tIns="0" rIns="0" bIns="0" numCol="1" spcCol="215900" anchor="ctr"/>
          <a:lstStyle/>
          <a:p>
            <a:pPr marL="0" indent="0" algn="r">
              <a:buNone/>
            </a:pPr>
            <a:r>
              <a:rPr lang="en-us" sz="1000" cap="none">
                <a:solidFill>
                  <a:srgbClr val="8A93A6"/>
                </a:solidFill>
              </a:rPr>
              <a:t>10</a:t>
            </a:r>
            <a:endParaRPr lang="en-us" sz="1000" cap="none"/>
          </a:p>
        </p:txBody>
      </p:sp>
    </p:spTree>
  </p:cSld>
  <p:clrMapOvr>
    <a:masterClrMapping/>
  </p:clrMapOvr>
  <p:timing>
    <p:tnLst>
      <p:par>
        <p:cTn id="1" dur="indefinite" restart="never" nodeType="tmRoot"/>
      </p:par>
    </p:tnLst>
  </p:timing>
</p:sld>
</file>

<file path=ppt/slides/slide1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name="Slide 11">
    <p:bg>
      <p:bgPr>
        <a:solidFill>
          <a:srgbClr val="F7F9FC"/>
        </a:solidFill>
        <a:effectLst/>
      </p:bgPr>
    </p:bg>
    <p:spTree>
      <p:nvGrpSpPr>
        <p:cNvPr id="1" name=""/>
        <p:cNvGrpSpPr/>
        <p:nvPr/>
      </p:nvGrpSpPr>
      <p:grpSpPr>
        <a:xfrm>
          <a:off x="0" y="0"/>
          <a:ext cx="0" cy="0"/>
          <a:chOff x="0" y="0"/>
          <a:chExt cx="0" cy="0"/>
        </a:xfrm>
      </p:grpSpPr>
      <p:sp>
        <p:nvSpPr>
          <p:cNvPr id="2" name="Text 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IgCAADgRgAAgAQAABAAAAAmAAAACAAAAP//////////"/>
              </a:ext>
            </a:extLst>
          </p:cNvSpPr>
          <p:nvPr/>
        </p:nvSpPr>
        <p:spPr>
          <a:xfrm>
            <a:off x="548640" y="411480"/>
            <a:ext cx="10972800" cy="320040"/>
          </a:xfrm>
          <a:prstGeom prst="rect">
            <a:avLst/>
          </a:prstGeom>
          <a:noFill/>
          <a:ln>
            <a:noFill/>
          </a:ln>
          <a:effectLst/>
        </p:spPr>
        <p:txBody>
          <a:bodyPr vert="horz" wrap="square" lIns="0" tIns="0" rIns="0" bIns="0" numCol="1" spcCol="215900" anchor="ctr"/>
          <a:lstStyle/>
          <a:p>
            <a:pPr marL="0" indent="0">
              <a:buNone/>
            </a:pPr>
            <a:r>
              <a:rPr lang="en-us" sz="1300" b="1" cap="none" spc="40">
                <a:solidFill>
                  <a:srgbClr val="C98A2C"/>
                </a:solidFill>
              </a:rPr>
              <a:t>THE PROMISES THIS SYSTEM MAKES</a:t>
            </a:r>
            <a:endParaRPr lang="en-us" sz="1300" cap="none"/>
          </a:p>
        </p:txBody>
      </p:sp>
      <p:sp>
        <p:nvSpPr>
          <p:cNvPr id="3" name="Text 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GMEAABwRwAAcwkAABAAAAAmAAAACAAAAP//////////"/>
              </a:ext>
            </a:extLst>
          </p:cNvSpPr>
          <p:nvPr/>
        </p:nvSpPr>
        <p:spPr>
          <a:xfrm>
            <a:off x="548640" y="713105"/>
            <a:ext cx="11064240" cy="822960"/>
          </a:xfrm>
          <a:prstGeom prst="rect">
            <a:avLst/>
          </a:prstGeom>
          <a:noFill/>
          <a:ln>
            <a:noFill/>
          </a:ln>
          <a:effectLst/>
        </p:spPr>
        <p:txBody>
          <a:bodyPr vert="horz" wrap="square" lIns="0" tIns="0" rIns="0" bIns="0" numCol="1" spcCol="215900" anchor="ctr"/>
          <a:lstStyle/>
          <a:p>
            <a:pPr marL="0" indent="0">
              <a:buNone/>
            </a:pPr>
            <a:r>
              <a:rPr lang="en-us" sz="3000" b="1" cap="none">
                <a:solidFill>
                  <a:srgbClr val="1E2761"/>
                </a:solidFill>
                <a:latin typeface="Cambria" pitchFamily="2" charset="0"/>
                <a:ea typeface="Cambria" pitchFamily="2" charset="0"/>
                <a:cs typeface="Cambria" pitchFamily="2" charset="0"/>
              </a:rPr>
              <a:t>What EGCA Guarantees, Every Time</a:t>
            </a:r>
            <a:endParaRPr lang="en-us" sz="3000" cap="none"/>
          </a:p>
        </p:txBody>
      </p:sp>
      <p:sp>
        <p:nvSpPr>
          <p:cNvPr id="4" name="Shape 2"/>
          <p:cNvSpPr>
            <a:extLst>
              <a:ext uri="smNativeData">
                <pr:smNativeData xmlns:pr="smNativeData" xmlns="smNativeData" val="SMDATA_15_ZH+7ahMAAAAlAAAAZQAAAA0AAAAAkAAAAEgAAACQAAAASAAAAAAAAAAAAAAAAAAAAAEAAABQAAAA8UbmkT8YyD8AAAAAAADwv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Mrc/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Mrc/AB/f38A5+bmA8zMzADAwP8Af39/AAAAAAAAAAAAAAAAAAAAAAAAAAAAIQAAABgAAAAUAAAA8AMAAIgLAAALRwAAUBAAABAAAAAmAAAACAAAAP//////////"/>
              </a:ext>
            </a:extLst>
          </p:cNvSpPr>
          <p:nvPr/>
        </p:nvSpPr>
        <p:spPr>
          <a:xfrm>
            <a:off x="640080" y="1874520"/>
            <a:ext cx="10908665" cy="777240"/>
          </a:xfrm>
          <a:prstGeom prst="roundRect">
            <a:avLst>
              <a:gd name="adj" fmla="val 9412"/>
            </a:avLst>
          </a:prstGeom>
          <a:solidFill>
            <a:srgbClr val="FFFFFF"/>
          </a:solidFill>
          <a:ln w="12700" cap="flat" cmpd="sng" algn="ctr">
            <a:solidFill>
              <a:srgbClr val="CADCFC"/>
            </a:solidFill>
            <a:prstDash val="solid"/>
            <a:headEnd type="none"/>
            <a:tailEnd type="none"/>
          </a:ln>
          <a:effectLst/>
        </p:spPr>
      </p:sp>
      <p:sp>
        <p:nvSpPr>
          <p:cNvPr id="5" name="Shape 3"/>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EAUAADUMAABwCAAAlQ8AABAAAAAmAAAACAAAAP//////////"/>
              </a:ext>
            </a:extLst>
          </p:cNvSpPr>
          <p:nvPr/>
        </p:nvSpPr>
        <p:spPr>
          <a:xfrm>
            <a:off x="822960" y="1984375"/>
            <a:ext cx="548640" cy="548640"/>
          </a:xfrm>
          <a:prstGeom prst="ellipse">
            <a:avLst/>
          </a:prstGeom>
          <a:solidFill>
            <a:srgbClr val="C98A2C"/>
          </a:solidFill>
          <a:ln>
            <a:noFill/>
          </a:ln>
          <a:effectLst/>
        </p:spPr>
      </p:sp>
      <p:sp>
        <p:nvSpPr>
          <p:cNvPr id="6" name="Text 4"/>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UAADUMAABwCAAAlQ8AABAAAAAmAAAACAAAAP//////////"/>
              </a:ext>
            </a:extLst>
          </p:cNvSpPr>
          <p:nvPr/>
        </p:nvSpPr>
        <p:spPr>
          <a:xfrm>
            <a:off x="822960" y="1984375"/>
            <a:ext cx="548640" cy="548640"/>
          </a:xfrm>
          <a:prstGeom prst="rect">
            <a:avLst/>
          </a:prstGeom>
          <a:noFill/>
          <a:ln>
            <a:noFill/>
          </a:ln>
          <a:effectLst/>
        </p:spPr>
        <p:txBody>
          <a:bodyPr vert="horz" wrap="square" lIns="0" tIns="0" rIns="0" bIns="0" numCol="1" spcCol="215900" anchor="ctr"/>
          <a:lstStyle/>
          <a:p>
            <a:pPr marL="0" indent="0" algn="ctr">
              <a:buNone/>
            </a:pPr>
            <a:r>
              <a:rPr lang="en-us" b="1" cap="none">
                <a:solidFill>
                  <a:srgbClr val="1E2761"/>
                </a:solidFill>
                <a:latin typeface="Cambria" pitchFamily="2" charset="0"/>
                <a:ea typeface="Cambria" pitchFamily="2" charset="0"/>
                <a:cs typeface="Cambria" pitchFamily="2" charset="0"/>
              </a:rPr>
              <a:t>✓</a:t>
            </a:r>
            <a:endParaRPr lang="en-us" cap="none"/>
          </a:p>
        </p:txBody>
      </p:sp>
      <p:sp>
        <p:nvSpPr>
          <p:cNvPr id="7" name="Text 5"/>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2AkAAN4LAAB4RQAAFhAAABAAAAAmAAAACAAAAP//////////"/>
              </a:ext>
            </a:extLst>
          </p:cNvSpPr>
          <p:nvPr/>
        </p:nvSpPr>
        <p:spPr>
          <a:xfrm>
            <a:off x="1600200" y="1929130"/>
            <a:ext cx="9692640" cy="685800"/>
          </a:xfrm>
          <a:prstGeom prst="rect">
            <a:avLst/>
          </a:prstGeom>
          <a:noFill/>
          <a:ln>
            <a:noFill/>
          </a:ln>
          <a:effectLst/>
        </p:spPr>
        <p:txBody>
          <a:bodyPr vert="horz" wrap="square" lIns="0" tIns="0" rIns="0" bIns="0" numCol="1" spcCol="215900" anchor="ctr"/>
          <a:lstStyle/>
          <a:p>
            <a:pPr marL="0" indent="0">
              <a:buNone/>
            </a:pPr>
            <a:r>
              <a:rPr lang="en-us" sz="1450" cap="none">
                <a:solidFill>
                  <a:srgbClr val="36454F"/>
                </a:solidFill>
              </a:rPr>
              <a:t>Missing evidence is never punished — it only ever means “we don't know yet.”</a:t>
            </a:r>
            <a:endParaRPr lang="en-us" sz="1450" cap="none"/>
          </a:p>
        </p:txBody>
      </p:sp>
      <p:sp>
        <p:nvSpPr>
          <p:cNvPr id="8" name="Shape 6"/>
          <p:cNvSpPr>
            <a:extLst>
              <a:ext uri="smNativeData">
                <pr:smNativeData xmlns:pr="smNativeData" xmlns="smNativeData" val="SMDATA_15_ZH+7ahMAAAAlAAAAZQAAAA0AAAAAkAAAAEgAAACQAAAASAAAAAAAAAAAAAAAAAAAAAEAAABQAAAA8UbmkT8YyD8AAAAAAADwv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Mrc/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Mrc/AB/f38A5+bmA8zMzADAwP8Af39/AAAAAAAAAAAAAAAAAAAAAAAAAAAAIQAAABgAAAAUAAAA8AMAACgRAAALRwAA8BUAABAAAAAmAAAACAAAAP//////////"/>
              </a:ext>
            </a:extLst>
          </p:cNvSpPr>
          <p:nvPr/>
        </p:nvSpPr>
        <p:spPr>
          <a:xfrm>
            <a:off x="640080" y="2788920"/>
            <a:ext cx="10908665" cy="777240"/>
          </a:xfrm>
          <a:prstGeom prst="roundRect">
            <a:avLst>
              <a:gd name="adj" fmla="val 9412"/>
            </a:avLst>
          </a:prstGeom>
          <a:solidFill>
            <a:srgbClr val="FFFFFF"/>
          </a:solidFill>
          <a:ln w="12700" cap="flat" cmpd="sng" algn="ctr">
            <a:solidFill>
              <a:srgbClr val="CADCFC"/>
            </a:solidFill>
            <a:prstDash val="solid"/>
            <a:headEnd type="none"/>
            <a:tailEnd type="none"/>
          </a:ln>
          <a:effectLst/>
        </p:spPr>
      </p:sp>
      <p:sp>
        <p:nvSpPr>
          <p:cNvPr id="9" name="Shape 7"/>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EAUAANURAABwCAAANRUAABAAAAAmAAAACAAAAP//////////"/>
              </a:ext>
            </a:extLst>
          </p:cNvSpPr>
          <p:nvPr/>
        </p:nvSpPr>
        <p:spPr>
          <a:xfrm>
            <a:off x="822960" y="2898775"/>
            <a:ext cx="548640" cy="548640"/>
          </a:xfrm>
          <a:prstGeom prst="ellipse">
            <a:avLst/>
          </a:prstGeom>
          <a:solidFill>
            <a:srgbClr val="C98A2C"/>
          </a:solidFill>
          <a:ln>
            <a:noFill/>
          </a:ln>
          <a:effectLst/>
        </p:spPr>
      </p:sp>
      <p:sp>
        <p:nvSpPr>
          <p:cNvPr id="10" name="Text 8"/>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UAANURAABwCAAANRUAABAAAAAmAAAACAAAAP//////////"/>
              </a:ext>
            </a:extLst>
          </p:cNvSpPr>
          <p:nvPr/>
        </p:nvSpPr>
        <p:spPr>
          <a:xfrm>
            <a:off x="822960" y="2898775"/>
            <a:ext cx="548640" cy="548640"/>
          </a:xfrm>
          <a:prstGeom prst="rect">
            <a:avLst/>
          </a:prstGeom>
          <a:noFill/>
          <a:ln>
            <a:noFill/>
          </a:ln>
          <a:effectLst/>
        </p:spPr>
        <p:txBody>
          <a:bodyPr vert="horz" wrap="square" lIns="0" tIns="0" rIns="0" bIns="0" numCol="1" spcCol="215900" anchor="ctr"/>
          <a:lstStyle/>
          <a:p>
            <a:pPr marL="0" indent="0" algn="ctr">
              <a:buNone/>
            </a:pPr>
            <a:r>
              <a:rPr lang="en-us" b="1" cap="none">
                <a:solidFill>
                  <a:srgbClr val="1E2761"/>
                </a:solidFill>
                <a:latin typeface="Cambria" pitchFamily="2" charset="0"/>
                <a:ea typeface="Cambria" pitchFamily="2" charset="0"/>
                <a:cs typeface="Cambria" pitchFamily="2" charset="0"/>
              </a:rPr>
              <a:t>✓</a:t>
            </a:r>
            <a:endParaRPr lang="en-us" cap="none"/>
          </a:p>
        </p:txBody>
      </p:sp>
      <p:sp>
        <p:nvSpPr>
          <p:cNvPr id="11" name="Text 9"/>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2AkAAH4RAAB4RQAAthUAABAAAAAmAAAACAAAAP//////////"/>
              </a:ext>
            </a:extLst>
          </p:cNvSpPr>
          <p:nvPr/>
        </p:nvSpPr>
        <p:spPr>
          <a:xfrm>
            <a:off x="1600200" y="2843530"/>
            <a:ext cx="9692640" cy="685800"/>
          </a:xfrm>
          <a:prstGeom prst="rect">
            <a:avLst/>
          </a:prstGeom>
          <a:noFill/>
          <a:ln>
            <a:noFill/>
          </a:ln>
          <a:effectLst/>
        </p:spPr>
        <p:txBody>
          <a:bodyPr vert="horz" wrap="square" lIns="0" tIns="0" rIns="0" bIns="0" numCol="1" spcCol="215900" anchor="ctr"/>
          <a:lstStyle/>
          <a:p>
            <a:pPr marL="0" indent="0">
              <a:buNone/>
            </a:pPr>
            <a:r>
              <a:rPr lang="en-us" sz="1450" cap="none">
                <a:solidFill>
                  <a:srgbClr val="36454F"/>
                </a:solidFill>
              </a:rPr>
              <a:t>A hard, mandatory rule can never be bought off by an impressive score.</a:t>
            </a:r>
            <a:endParaRPr lang="en-us" sz="1450" cap="none"/>
          </a:p>
        </p:txBody>
      </p:sp>
      <p:sp>
        <p:nvSpPr>
          <p:cNvPr id="12" name="Shape 10"/>
          <p:cNvSpPr>
            <a:extLst>
              <a:ext uri="smNativeData">
                <pr:smNativeData xmlns:pr="smNativeData" xmlns="smNativeData" val="SMDATA_15_ZH+7ahMAAAAlAAAAZQAAAA0AAAAAkAAAAEgAAACQAAAASAAAAAAAAAAAAAAAAAAAAAEAAABQAAAA8UbmkT8YyD8AAAAAAADwv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Mrc/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Mrc/AB/f38A5+bmA8zMzADAwP8Af39/AAAAAAAAAAAAAAAAAAAAAAAAAAAAIQAAABgAAAAUAAAA8AMAAMgWAAALRwAAkBsAABAAAAAmAAAACAAAAP//////////"/>
              </a:ext>
            </a:extLst>
          </p:cNvSpPr>
          <p:nvPr/>
        </p:nvSpPr>
        <p:spPr>
          <a:xfrm>
            <a:off x="640080" y="3703320"/>
            <a:ext cx="10908665" cy="777240"/>
          </a:xfrm>
          <a:prstGeom prst="roundRect">
            <a:avLst>
              <a:gd name="adj" fmla="val 9412"/>
            </a:avLst>
          </a:prstGeom>
          <a:solidFill>
            <a:srgbClr val="FFFFFF"/>
          </a:solidFill>
          <a:ln w="12700" cap="flat" cmpd="sng" algn="ctr">
            <a:solidFill>
              <a:srgbClr val="CADCFC"/>
            </a:solidFill>
            <a:prstDash val="solid"/>
            <a:headEnd type="none"/>
            <a:tailEnd type="none"/>
          </a:ln>
          <a:effectLst/>
        </p:spPr>
      </p:sp>
      <p:sp>
        <p:nvSpPr>
          <p:cNvPr id="13" name="Shape 11"/>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EAUAAHUXAABwCAAA1RoAABAAAAAmAAAACAAAAP//////////"/>
              </a:ext>
            </a:extLst>
          </p:cNvSpPr>
          <p:nvPr/>
        </p:nvSpPr>
        <p:spPr>
          <a:xfrm>
            <a:off x="822960" y="3813175"/>
            <a:ext cx="548640" cy="548640"/>
          </a:xfrm>
          <a:prstGeom prst="ellipse">
            <a:avLst/>
          </a:prstGeom>
          <a:solidFill>
            <a:srgbClr val="C98A2C"/>
          </a:solidFill>
          <a:ln>
            <a:noFill/>
          </a:ln>
          <a:effectLst/>
        </p:spPr>
      </p:sp>
      <p:sp>
        <p:nvSpPr>
          <p:cNvPr id="14" name="Text 1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UAAHUXAABwCAAA1RoAABAAAAAmAAAACAAAAP//////////"/>
              </a:ext>
            </a:extLst>
          </p:cNvSpPr>
          <p:nvPr/>
        </p:nvSpPr>
        <p:spPr>
          <a:xfrm>
            <a:off x="822960" y="3813175"/>
            <a:ext cx="548640" cy="548640"/>
          </a:xfrm>
          <a:prstGeom prst="rect">
            <a:avLst/>
          </a:prstGeom>
          <a:noFill/>
          <a:ln>
            <a:noFill/>
          </a:ln>
          <a:effectLst/>
        </p:spPr>
        <p:txBody>
          <a:bodyPr vert="horz" wrap="square" lIns="0" tIns="0" rIns="0" bIns="0" numCol="1" spcCol="215900" anchor="ctr"/>
          <a:lstStyle/>
          <a:p>
            <a:pPr marL="0" indent="0" algn="ctr">
              <a:buNone/>
            </a:pPr>
            <a:r>
              <a:rPr lang="en-us" b="1" cap="none">
                <a:solidFill>
                  <a:srgbClr val="1E2761"/>
                </a:solidFill>
                <a:latin typeface="Cambria" pitchFamily="2" charset="0"/>
                <a:ea typeface="Cambria" pitchFamily="2" charset="0"/>
                <a:cs typeface="Cambria" pitchFamily="2" charset="0"/>
              </a:rPr>
              <a:t>✓</a:t>
            </a:r>
            <a:endParaRPr lang="en-us" cap="none"/>
          </a:p>
        </p:txBody>
      </p:sp>
      <p:sp>
        <p:nvSpPr>
          <p:cNvPr id="15" name="Text 1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2AkAAB4XAAB4RQAAVhsAABAAAAAmAAAACAAAAP//////////"/>
              </a:ext>
            </a:extLst>
          </p:cNvSpPr>
          <p:nvPr/>
        </p:nvSpPr>
        <p:spPr>
          <a:xfrm>
            <a:off x="1600200" y="3757930"/>
            <a:ext cx="9692640" cy="685800"/>
          </a:xfrm>
          <a:prstGeom prst="rect">
            <a:avLst/>
          </a:prstGeom>
          <a:noFill/>
          <a:ln>
            <a:noFill/>
          </a:ln>
          <a:effectLst/>
        </p:spPr>
        <p:txBody>
          <a:bodyPr vert="horz" wrap="square" lIns="0" tIns="0" rIns="0" bIns="0" numCol="1" spcCol="215900" anchor="ctr"/>
          <a:lstStyle/>
          <a:p>
            <a:pPr marL="0" indent="0">
              <a:buNone/>
            </a:pPr>
            <a:r>
              <a:rPr lang="en-us" sz="1450" cap="none">
                <a:solidFill>
                  <a:srgbClr val="36454F"/>
                </a:solidFill>
              </a:rPr>
              <a:t>The system never quietly lowers the bar just to fill a shortlist.</a:t>
            </a:r>
            <a:endParaRPr lang="en-us" sz="1450" cap="none"/>
          </a:p>
        </p:txBody>
      </p:sp>
      <p:sp>
        <p:nvSpPr>
          <p:cNvPr id="16" name="Shape 14"/>
          <p:cNvSpPr>
            <a:extLst>
              <a:ext uri="smNativeData">
                <pr:smNativeData xmlns:pr="smNativeData" xmlns="smNativeData" val="SMDATA_15_ZH+7ahMAAAAlAAAAZQAAAA0AAAAAkAAAAEgAAACQAAAASAAAAAAAAAAAAAAAAAAAAAEAAABQAAAA8UbmkT8YyD8AAAAAAADwv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Mrc/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Mrc/AB/f38A5+bmA8zMzADAwP8Af39/AAAAAAAAAAAAAAAAAAAAAAAAAAAAIQAAABgAAAAUAAAA8AMAAGgcAAALRwAAMCEAABAAAAAmAAAACAAAAP//////////"/>
              </a:ext>
            </a:extLst>
          </p:cNvSpPr>
          <p:nvPr/>
        </p:nvSpPr>
        <p:spPr>
          <a:xfrm>
            <a:off x="640080" y="4617720"/>
            <a:ext cx="10908665" cy="777240"/>
          </a:xfrm>
          <a:prstGeom prst="roundRect">
            <a:avLst>
              <a:gd name="adj" fmla="val 9412"/>
            </a:avLst>
          </a:prstGeom>
          <a:solidFill>
            <a:srgbClr val="FFFFFF"/>
          </a:solidFill>
          <a:ln w="12700" cap="flat" cmpd="sng" algn="ctr">
            <a:solidFill>
              <a:srgbClr val="CADCFC"/>
            </a:solidFill>
            <a:prstDash val="solid"/>
            <a:headEnd type="none"/>
            <a:tailEnd type="none"/>
          </a:ln>
          <a:effectLst/>
        </p:spPr>
      </p:sp>
      <p:sp>
        <p:nvSpPr>
          <p:cNvPr id="17" name="Shape 15"/>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EAUAABUdAABwCAAAdSAAABAAAAAmAAAACAAAAP//////////"/>
              </a:ext>
            </a:extLst>
          </p:cNvSpPr>
          <p:nvPr/>
        </p:nvSpPr>
        <p:spPr>
          <a:xfrm>
            <a:off x="822960" y="4727575"/>
            <a:ext cx="548640" cy="548640"/>
          </a:xfrm>
          <a:prstGeom prst="ellipse">
            <a:avLst/>
          </a:prstGeom>
          <a:solidFill>
            <a:srgbClr val="C98A2C"/>
          </a:solidFill>
          <a:ln>
            <a:noFill/>
          </a:ln>
          <a:effectLst/>
        </p:spPr>
      </p:sp>
      <p:sp>
        <p:nvSpPr>
          <p:cNvPr id="18" name="Text 16"/>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UAABUdAABwCAAAdSAAABAAAAAmAAAACAAAAP//////////"/>
              </a:ext>
            </a:extLst>
          </p:cNvSpPr>
          <p:nvPr/>
        </p:nvSpPr>
        <p:spPr>
          <a:xfrm>
            <a:off x="822960" y="4727575"/>
            <a:ext cx="548640" cy="548640"/>
          </a:xfrm>
          <a:prstGeom prst="rect">
            <a:avLst/>
          </a:prstGeom>
          <a:noFill/>
          <a:ln>
            <a:noFill/>
          </a:ln>
          <a:effectLst/>
        </p:spPr>
        <p:txBody>
          <a:bodyPr vert="horz" wrap="square" lIns="0" tIns="0" rIns="0" bIns="0" numCol="1" spcCol="215900" anchor="ctr"/>
          <a:lstStyle/>
          <a:p>
            <a:pPr marL="0" indent="0" algn="ctr">
              <a:buNone/>
            </a:pPr>
            <a:r>
              <a:rPr lang="en-us" b="1" cap="none">
                <a:solidFill>
                  <a:srgbClr val="1E2761"/>
                </a:solidFill>
                <a:latin typeface="Cambria" pitchFamily="2" charset="0"/>
                <a:ea typeface="Cambria" pitchFamily="2" charset="0"/>
                <a:cs typeface="Cambria" pitchFamily="2" charset="0"/>
              </a:rPr>
              <a:t>✓</a:t>
            </a:r>
            <a:endParaRPr lang="en-us" cap="none"/>
          </a:p>
        </p:txBody>
      </p:sp>
      <p:sp>
        <p:nvSpPr>
          <p:cNvPr id="19" name="Text 17"/>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2AkAAL4cAAB4RQAA9iAAABAAAAAmAAAACAAAAP//////////"/>
              </a:ext>
            </a:extLst>
          </p:cNvSpPr>
          <p:nvPr/>
        </p:nvSpPr>
        <p:spPr>
          <a:xfrm>
            <a:off x="1600200" y="4672330"/>
            <a:ext cx="9692640" cy="685800"/>
          </a:xfrm>
          <a:prstGeom prst="rect">
            <a:avLst/>
          </a:prstGeom>
          <a:noFill/>
          <a:ln>
            <a:noFill/>
          </a:ln>
          <a:effectLst/>
        </p:spPr>
        <p:txBody>
          <a:bodyPr vert="horz" wrap="square" lIns="0" tIns="0" rIns="0" bIns="0" numCol="1" spcCol="215900" anchor="ctr"/>
          <a:lstStyle/>
          <a:p>
            <a:pPr marL="0" indent="0">
              <a:buNone/>
            </a:pPr>
            <a:r>
              <a:rPr lang="en-us" sz="1450" cap="none">
                <a:solidFill>
                  <a:srgbClr val="36454F"/>
                </a:solidFill>
              </a:rPr>
              <a:t>No personality judgments are drawn from how someone writes.</a:t>
            </a:r>
            <a:endParaRPr lang="en-us" sz="1450" cap="none"/>
          </a:p>
        </p:txBody>
      </p:sp>
      <p:sp>
        <p:nvSpPr>
          <p:cNvPr id="20" name="Shape 18"/>
          <p:cNvSpPr>
            <a:extLst>
              <a:ext uri="smNativeData">
                <pr:smNativeData xmlns:pr="smNativeData" xmlns="smNativeData" val="SMDATA_15_ZH+7ahMAAAAlAAAAZQAAAA0AAAAAkAAAAEgAAACQAAAASAAAAAAAAAAAAAAAAAAAAAEAAABQAAAA8UbmkT8YyD8AAAAAAADwv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Mrc/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Mrc/AB/f38A5+bmA8zMzADAwP8Af39/AAAAAAAAAAAAAAAAAAAAAAAAAAAAIQAAABgAAAAUAAAA8AMAAAgiAAALRwAA0CYAABAAAAAmAAAACAAAAP//////////"/>
              </a:ext>
            </a:extLst>
          </p:cNvSpPr>
          <p:nvPr/>
        </p:nvSpPr>
        <p:spPr>
          <a:xfrm>
            <a:off x="640080" y="5532120"/>
            <a:ext cx="10908665" cy="777240"/>
          </a:xfrm>
          <a:prstGeom prst="roundRect">
            <a:avLst>
              <a:gd name="adj" fmla="val 9412"/>
            </a:avLst>
          </a:prstGeom>
          <a:solidFill>
            <a:srgbClr val="FFFFFF"/>
          </a:solidFill>
          <a:ln w="12700" cap="flat" cmpd="sng" algn="ctr">
            <a:solidFill>
              <a:srgbClr val="CADCFC"/>
            </a:solidFill>
            <a:prstDash val="solid"/>
            <a:headEnd type="none"/>
            <a:tailEnd type="none"/>
          </a:ln>
          <a:effectLst/>
        </p:spPr>
      </p:sp>
      <p:sp>
        <p:nvSpPr>
          <p:cNvPr id="21" name="Shape 19"/>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EAUAALUiAABwCAAAFSYAABAAAAAmAAAACAAAAP//////////"/>
              </a:ext>
            </a:extLst>
          </p:cNvSpPr>
          <p:nvPr/>
        </p:nvSpPr>
        <p:spPr>
          <a:xfrm>
            <a:off x="822960" y="5641975"/>
            <a:ext cx="548640" cy="548640"/>
          </a:xfrm>
          <a:prstGeom prst="ellipse">
            <a:avLst/>
          </a:prstGeom>
          <a:solidFill>
            <a:srgbClr val="C98A2C"/>
          </a:solidFill>
          <a:ln>
            <a:noFill/>
          </a:ln>
          <a:effectLst/>
        </p:spPr>
      </p:sp>
      <p:sp>
        <p:nvSpPr>
          <p:cNvPr id="22" name="Text 2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UAALUiAABwCAAAFSYAABAAAAAmAAAACAAAAP//////////"/>
              </a:ext>
            </a:extLst>
          </p:cNvSpPr>
          <p:nvPr/>
        </p:nvSpPr>
        <p:spPr>
          <a:xfrm>
            <a:off x="822960" y="5641975"/>
            <a:ext cx="548640" cy="548640"/>
          </a:xfrm>
          <a:prstGeom prst="rect">
            <a:avLst/>
          </a:prstGeom>
          <a:noFill/>
          <a:ln>
            <a:noFill/>
          </a:ln>
          <a:effectLst/>
        </p:spPr>
        <p:txBody>
          <a:bodyPr vert="horz" wrap="square" lIns="0" tIns="0" rIns="0" bIns="0" numCol="1" spcCol="215900" anchor="ctr"/>
          <a:lstStyle/>
          <a:p>
            <a:pPr marL="0" indent="0" algn="ctr">
              <a:buNone/>
            </a:pPr>
            <a:r>
              <a:rPr lang="en-us" b="1" cap="none">
                <a:solidFill>
                  <a:srgbClr val="1E2761"/>
                </a:solidFill>
                <a:latin typeface="Cambria" pitchFamily="2" charset="0"/>
                <a:ea typeface="Cambria" pitchFamily="2" charset="0"/>
                <a:cs typeface="Cambria" pitchFamily="2" charset="0"/>
              </a:rPr>
              <a:t>✓</a:t>
            </a:r>
            <a:endParaRPr lang="en-us" cap="none"/>
          </a:p>
        </p:txBody>
      </p:sp>
      <p:sp>
        <p:nvSpPr>
          <p:cNvPr id="23" name="Text 2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2AkAAF4iAAB4RQAAliYAABAAAAAmAAAACAAAAP//////////"/>
              </a:ext>
            </a:extLst>
          </p:cNvSpPr>
          <p:nvPr/>
        </p:nvSpPr>
        <p:spPr>
          <a:xfrm>
            <a:off x="1600200" y="5586730"/>
            <a:ext cx="9692640" cy="685800"/>
          </a:xfrm>
          <a:prstGeom prst="rect">
            <a:avLst/>
          </a:prstGeom>
          <a:noFill/>
          <a:ln>
            <a:noFill/>
          </a:ln>
          <a:effectLst/>
        </p:spPr>
        <p:txBody>
          <a:bodyPr vert="horz" wrap="square" lIns="0" tIns="0" rIns="0" bIns="0" numCol="1" spcCol="215900" anchor="ctr"/>
          <a:lstStyle/>
          <a:p>
            <a:pPr marL="0" indent="0">
              <a:buNone/>
            </a:pPr>
            <a:r>
              <a:rPr lang="en-us" sz="1450" cap="none">
                <a:solidFill>
                  <a:srgbClr val="36454F"/>
                </a:solidFill>
              </a:rPr>
              <a:t>Every decision leaves a paper trail that can be automatically checked for correctness.</a:t>
            </a:r>
            <a:endParaRPr lang="en-us" sz="1450" cap="none"/>
          </a:p>
        </p:txBody>
      </p:sp>
      <p:sp>
        <p:nvSpPr>
          <p:cNvPr id="24" name="Text 2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NMnAADQLwAAgykAABAAAAAmAAAACAAAAP//////////"/>
              </a:ext>
            </a:extLst>
          </p:cNvSpPr>
          <p:nvPr/>
        </p:nvSpPr>
        <p:spPr>
          <a:xfrm>
            <a:off x="457200" y="6473825"/>
            <a:ext cx="7315200" cy="274320"/>
          </a:xfrm>
          <a:prstGeom prst="rect">
            <a:avLst/>
          </a:prstGeom>
          <a:noFill/>
          <a:ln>
            <a:noFill/>
          </a:ln>
          <a:effectLst/>
        </p:spPr>
        <p:txBody>
          <a:bodyPr vert="horz" wrap="square" lIns="0" tIns="0" rIns="0" bIns="0" numCol="1" spcCol="215900" anchor="ctr"/>
          <a:lstStyle/>
          <a:p>
            <a:pPr marL="0" indent="0">
              <a:buNone/>
            </a:pPr>
            <a:r>
              <a:rPr lang="en-us" sz="1000" cap="none">
                <a:solidFill>
                  <a:srgbClr val="8A93A6"/>
                </a:solidFill>
              </a:rPr>
              <a:t>EGCA — Evidence-Governed Candidate Assessment</a:t>
            </a:r>
            <a:endParaRPr lang="en-us" sz="1000" cap="none"/>
          </a:p>
        </p:txBody>
      </p:sp>
      <p:sp>
        <p:nvSpPr>
          <p:cNvPr id="25" name="Text 2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0UAANMnAAArSAAAgykAABAAAAAmAAAACAAAAP//////////"/>
              </a:ext>
            </a:extLst>
          </p:cNvSpPr>
          <p:nvPr/>
        </p:nvSpPr>
        <p:spPr>
          <a:xfrm>
            <a:off x="11274425" y="6473825"/>
            <a:ext cx="457200" cy="274320"/>
          </a:xfrm>
          <a:prstGeom prst="rect">
            <a:avLst/>
          </a:prstGeom>
          <a:noFill/>
          <a:ln>
            <a:noFill/>
          </a:ln>
          <a:effectLst/>
        </p:spPr>
        <p:txBody>
          <a:bodyPr vert="horz" wrap="square" lIns="0" tIns="0" rIns="0" bIns="0" numCol="1" spcCol="215900" anchor="ctr"/>
          <a:lstStyle/>
          <a:p>
            <a:pPr marL="0" indent="0" algn="r">
              <a:buNone/>
            </a:pPr>
            <a:r>
              <a:rPr lang="en-us" sz="1000" cap="none">
                <a:solidFill>
                  <a:srgbClr val="8A93A6"/>
                </a:solidFill>
              </a:rPr>
              <a:t>11</a:t>
            </a:r>
            <a:endParaRPr lang="en-us" sz="1000" cap="none"/>
          </a:p>
        </p:txBody>
      </p:sp>
    </p:spTree>
  </p:cSld>
  <p:clrMapOvr>
    <a:masterClrMapping/>
  </p:clrMapOvr>
  <p:timing>
    <p:tnLst>
      <p:par>
        <p:cTn id="1" dur="indefinite" restart="never" nodeType="tmRoot"/>
      </p:par>
    </p:tnLst>
  </p:timing>
</p:sld>
</file>

<file path=ppt/slides/slide1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name="Slide 13">
    <p:bg>
      <p:bgPr>
        <a:solidFill>
          <a:srgbClr val="F7F9FC"/>
        </a:solidFill>
        <a:effectLst/>
      </p:bgPr>
    </p:bg>
    <p:spTree>
      <p:nvGrpSpPr>
        <p:cNvPr id="1" name=""/>
        <p:cNvGrpSpPr/>
        <p:nvPr/>
      </p:nvGrpSpPr>
      <p:grpSpPr>
        <a:xfrm>
          <a:off x="0" y="0"/>
          <a:ext cx="0" cy="0"/>
          <a:chOff x="0" y="0"/>
          <a:chExt cx="0" cy="0"/>
        </a:xfrm>
      </p:grpSpPr>
      <p:sp>
        <p:nvSpPr>
          <p:cNvPr id="2" name="Text 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IgCAADgRgAAgAQAABAAAAAmAAAACAAAAP//////////"/>
              </a:ext>
            </a:extLst>
          </p:cNvSpPr>
          <p:nvPr/>
        </p:nvSpPr>
        <p:spPr>
          <a:xfrm>
            <a:off x="548640" y="411480"/>
            <a:ext cx="10972800" cy="320040"/>
          </a:xfrm>
          <a:prstGeom prst="rect">
            <a:avLst/>
          </a:prstGeom>
          <a:noFill/>
          <a:ln>
            <a:noFill/>
          </a:ln>
          <a:effectLst/>
        </p:spPr>
        <p:txBody>
          <a:bodyPr vert="horz" wrap="square" lIns="0" tIns="0" rIns="0" bIns="0" numCol="1" spcCol="215900" anchor="ctr"/>
          <a:lstStyle/>
          <a:p>
            <a:pPr marL="0" indent="0">
              <a:buNone/>
            </a:pPr>
            <a:r>
              <a:rPr lang="en-us" sz="1300" b="1" cap="none" spc="40">
                <a:solidFill>
                  <a:srgbClr val="C98A2C"/>
                </a:solidFill>
              </a:rPr>
              <a:t>THE BIG PICTURE</a:t>
            </a:r>
            <a:endParaRPr lang="en-us" sz="1300" cap="none"/>
          </a:p>
        </p:txBody>
      </p:sp>
      <p:sp>
        <p:nvSpPr>
          <p:cNvPr id="3" name="Text 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YT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GMEAABwRwAAcwkAABAAAAAmAAAACAAAAP//////////"/>
              </a:ext>
            </a:extLst>
          </p:cNvSpPr>
          <p:nvPr/>
        </p:nvSpPr>
        <p:spPr>
          <a:xfrm>
            <a:off x="548640" y="713105"/>
            <a:ext cx="11064240" cy="822960"/>
          </a:xfrm>
          <a:prstGeom prst="rect">
            <a:avLst/>
          </a:prstGeom>
          <a:noFill/>
          <a:ln>
            <a:noFill/>
          </a:ln>
          <a:effectLst/>
        </p:spPr>
        <p:txBody>
          <a:bodyPr vert="horz" wrap="square" lIns="0" tIns="0" rIns="0" bIns="0" numCol="1" spcCol="215900" anchor="ctr"/>
          <a:lstStyle/>
          <a:p>
            <a:pPr marL="0" indent="0">
              <a:buNone/>
            </a:pPr>
            <a:r>
              <a:rPr lang="en-us" sz="3000" b="1" cap="none">
                <a:solidFill>
                  <a:srgbClr val="1E2761"/>
                </a:solidFill>
                <a:latin typeface="Cambria" pitchFamily="2" charset="0"/>
                <a:ea typeface="Cambria" pitchFamily="2" charset="0"/>
                <a:cs typeface="Cambria" pitchFamily="2" charset="0"/>
              </a:rPr>
              <a:t>One Resume, Six Checkpoints</a:t>
            </a:r>
            <a:endParaRPr lang="en-us" sz="3000" cap="none"/>
          </a:p>
        </p:txBody>
      </p:sp>
      <p:sp>
        <p:nvSpPr>
          <p:cNvPr id="4" name="Shape 2"/>
          <p:cNvSpPr>
            <a:extLst>
              <a:ext uri="smNativeData">
                <pr:smNativeData xmlns:pr="smNativeData" xmlns="smNativeData" val="SMDATA_15_ZH+7ahMAAAAlAAAAZQAAAA0AAAAAkAAAAEgAAACQAAAASAAAAAAAAAAAAAAAAAAAAAEAAABQAAAAqYdodAexwz8AAAAAAADwvwAAAAAAAOA/AAAAAAAA4D8AAAAAAADgPwAAAAAAAOA/AAAAAAAA4D8AAAAAAADgPwAAAAAAAOA/AAAAAAAA4D8CAAAAjAAAAAEAAAAAAAAAHidh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cI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dhAP///wEAAAAAAAAAAAAAAAAAAAAAAAAAAAAAAAAAAAAAAAAAAAAAAAB/f38A5+bmA8zMzADAwP8Af39/AAAAAAAAAAAAAAAAAAAAAAAAAAAAIQAAABgAAAAUAAAALgMAAHARAACWDQAAwBgAABAAAAAmAAAACAAAAP//////////"/>
              </a:ext>
            </a:extLst>
          </p:cNvSpPr>
          <p:nvPr/>
        </p:nvSpPr>
        <p:spPr>
          <a:xfrm>
            <a:off x="516890" y="2834640"/>
            <a:ext cx="1691640" cy="1188720"/>
          </a:xfrm>
          <a:prstGeom prst="roundRect">
            <a:avLst>
              <a:gd name="adj" fmla="val 7692"/>
            </a:avLst>
          </a:prstGeom>
          <a:solidFill>
            <a:srgbClr val="1E2761"/>
          </a:solidFill>
          <a:ln>
            <a:noFill/>
          </a:ln>
          <a:effectLst/>
        </p:spPr>
      </p:sp>
      <p:sp>
        <p:nvSpPr>
          <p:cNvPr id="5" name="Text 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LgMAAHARAACWDQAAwBgAABAAAAAmAAAACAAAAP//////////"/>
              </a:ext>
            </a:extLst>
          </p:cNvSpPr>
          <p:nvPr/>
        </p:nvSpPr>
        <p:spPr>
          <a:xfrm>
            <a:off x="516890" y="2834640"/>
            <a:ext cx="1691640" cy="1188720"/>
          </a:xfrm>
          <a:prstGeom prst="rect">
            <a:avLst/>
          </a:prstGeom>
          <a:noFill/>
          <a:ln>
            <a:noFill/>
          </a:ln>
          <a:effectLst/>
        </p:spPr>
        <p:txBody>
          <a:bodyPr vert="horz" wrap="square" lIns="0" tIns="0" rIns="0" bIns="0" numCol="1" spcCol="215900" anchor="ctr"/>
          <a:lstStyle/>
          <a:p>
            <a:pPr marL="0" indent="0" algn="ctr">
              <a:lnSpc>
                <a:spcPct val="105000"/>
              </a:lnSpc>
              <a:buNone/>
            </a:pPr>
            <a:r>
              <a:rPr lang="en-us" sz="1400" b="1" cap="none">
                <a:solidFill>
                  <a:srgbClr val="FFFFFF"/>
                </a:solidFill>
                <a:latin typeface="Cambria" pitchFamily="2" charset="0"/>
                <a:ea typeface="Cambria" pitchFamily="2" charset="0"/>
                <a:cs typeface="Cambria" pitchFamily="2" charset="0"/>
              </a:rPr>
              <a:t>A</a:t>
            </a:r>
            <a:endParaRPr lang="en-us" sz="1400" cap="none"/>
          </a:p>
          <a:p>
            <a:pPr marL="0" indent="0" algn="ctr">
              <a:lnSpc>
                <a:spcPct val="105000"/>
              </a:lnSpc>
              <a:buNone/>
            </a:pPr>
            <a:r>
              <a:rPr lang="en-us" sz="1400" b="1" cap="none">
                <a:solidFill>
                  <a:srgbClr val="FFFFFF"/>
                </a:solidFill>
                <a:latin typeface="Cambria" pitchFamily="2" charset="0"/>
                <a:ea typeface="Cambria" pitchFamily="2" charset="0"/>
                <a:cs typeface="Cambria" pitchFamily="2" charset="0"/>
              </a:rPr>
              <a:t>Ingest</a:t>
            </a:r>
            <a:endParaRPr lang="en-us" sz="1400" cap="none"/>
          </a:p>
        </p:txBody>
      </p:sp>
      <p:sp>
        <p:nvSpPr>
          <p:cNvPr id="6" name="Text 4"/>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lg0AAHARAAAaDwAAwBgAABAAAAAmAAAACAAAAP//////////"/>
              </a:ext>
            </a:extLst>
          </p:cNvSpPr>
          <p:nvPr/>
        </p:nvSpPr>
        <p:spPr>
          <a:xfrm>
            <a:off x="2208530" y="2834640"/>
            <a:ext cx="246380" cy="1188720"/>
          </a:xfrm>
          <a:prstGeom prst="rect">
            <a:avLst/>
          </a:prstGeom>
          <a:noFill/>
          <a:ln>
            <a:noFill/>
          </a:ln>
          <a:effectLst/>
        </p:spPr>
        <p:txBody>
          <a:bodyPr vert="horz" wrap="square" lIns="0" tIns="0" rIns="0" bIns="0" numCol="1" spcCol="215900" anchor="ctr"/>
          <a:lstStyle/>
          <a:p>
            <a:pPr marL="0" indent="0" algn="ctr">
              <a:buNone/>
            </a:pPr>
            <a:r>
              <a:rPr lang="en-us" b="1" cap="none">
                <a:solidFill>
                  <a:srgbClr val="36454F"/>
                </a:solidFill>
              </a:rPr>
              <a:t>→</a:t>
            </a:r>
            <a:endParaRPr lang="en-us" cap="none"/>
          </a:p>
        </p:txBody>
      </p:sp>
      <p:sp>
        <p:nvSpPr>
          <p:cNvPr id="7" name="Shape 5"/>
          <p:cNvSpPr>
            <a:extLst>
              <a:ext uri="smNativeData">
                <pr:smNativeData xmlns:pr="smNativeData" xmlns="smNativeData" val="SMDATA_15_ZH+7ahMAAAAlAAAAZQAAAA0AAAAAkAAAAEgAAACQAAAASAAAAAAAAAAAAAAAAAAAAAEAAABQAAAAqYdodAexwz8AAAAAAADwv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48L2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0g4AAHARAAA6GQAAwBgAABAAAAAmAAAACAAAAP//////////"/>
              </a:ext>
            </a:extLst>
          </p:cNvSpPr>
          <p:nvPr/>
        </p:nvSpPr>
        <p:spPr>
          <a:xfrm>
            <a:off x="2409190" y="2834640"/>
            <a:ext cx="1691640" cy="1188720"/>
          </a:xfrm>
          <a:prstGeom prst="roundRect">
            <a:avLst>
              <a:gd name="adj" fmla="val 7692"/>
            </a:avLst>
          </a:prstGeom>
          <a:solidFill>
            <a:srgbClr val="C98A2C"/>
          </a:solidFill>
          <a:ln>
            <a:noFill/>
          </a:ln>
          <a:effectLst/>
        </p:spPr>
      </p:sp>
      <p:sp>
        <p:nvSpPr>
          <p:cNvPr id="8" name="Text 6"/>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NoRm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g4AAHARAAA6GQAAwBgAABAAAAAmAAAACAAAAP//////////"/>
              </a:ext>
            </a:extLst>
          </p:cNvSpPr>
          <p:nvPr/>
        </p:nvSpPr>
        <p:spPr>
          <a:xfrm>
            <a:off x="2409190" y="2834640"/>
            <a:ext cx="1691640" cy="1188720"/>
          </a:xfrm>
          <a:prstGeom prst="rect">
            <a:avLst/>
          </a:prstGeom>
          <a:noFill/>
          <a:ln>
            <a:noFill/>
          </a:ln>
          <a:effectLst/>
        </p:spPr>
        <p:txBody>
          <a:bodyPr vert="horz" wrap="square" lIns="0" tIns="0" rIns="0" bIns="0" numCol="1" spcCol="215900" anchor="ctr"/>
          <a:lstStyle/>
          <a:p>
            <a:pPr marL="0" indent="0" algn="ctr">
              <a:lnSpc>
                <a:spcPct val="105000"/>
              </a:lnSpc>
              <a:buNone/>
            </a:pPr>
            <a:r>
              <a:rPr lang="en-us" sz="1400" b="1" cap="none">
                <a:solidFill>
                  <a:srgbClr val="1E2761"/>
                </a:solidFill>
                <a:latin typeface="Cambria" pitchFamily="2" charset="0"/>
                <a:ea typeface="Cambria" pitchFamily="2" charset="0"/>
                <a:cs typeface="Cambria" pitchFamily="2" charset="0"/>
              </a:rPr>
              <a:t>B</a:t>
            </a:r>
            <a:endParaRPr lang="en-us" sz="1400" cap="none"/>
          </a:p>
          <a:p>
            <a:pPr marL="0" indent="0" algn="ctr">
              <a:lnSpc>
                <a:spcPct val="105000"/>
              </a:lnSpc>
              <a:buNone/>
            </a:pPr>
            <a:r>
              <a:rPr lang="en-us" sz="1400" b="1" cap="none">
                <a:solidFill>
                  <a:srgbClr val="1E2761"/>
                </a:solidFill>
                <a:latin typeface="Cambria" pitchFamily="2" charset="0"/>
                <a:ea typeface="Cambria" pitchFamily="2" charset="0"/>
                <a:cs typeface="Cambria" pitchFamily="2" charset="0"/>
              </a:rPr>
              <a:t>Quick Glance</a:t>
            </a:r>
            <a:endParaRPr lang="en-us" sz="1400" cap="none"/>
          </a:p>
        </p:txBody>
      </p:sp>
      <p:sp>
        <p:nvSpPr>
          <p:cNvPr id="9" name="Text 7"/>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hlIH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hkAAHARAAC/GgAAwBgAABAAAAAmAAAACAAAAP//////////"/>
              </a:ext>
            </a:extLst>
          </p:cNvSpPr>
          <p:nvPr/>
        </p:nvSpPr>
        <p:spPr>
          <a:xfrm>
            <a:off x="4100830" y="2834640"/>
            <a:ext cx="247015" cy="1188720"/>
          </a:xfrm>
          <a:prstGeom prst="rect">
            <a:avLst/>
          </a:prstGeom>
          <a:noFill/>
          <a:ln>
            <a:noFill/>
          </a:ln>
          <a:effectLst/>
        </p:spPr>
        <p:txBody>
          <a:bodyPr vert="horz" wrap="square" lIns="0" tIns="0" rIns="0" bIns="0" numCol="1" spcCol="215900" anchor="ctr"/>
          <a:lstStyle/>
          <a:p>
            <a:pPr marL="0" indent="0" algn="ctr">
              <a:buNone/>
            </a:pPr>
            <a:r>
              <a:rPr lang="en-us" b="1" cap="none">
                <a:solidFill>
                  <a:srgbClr val="36454F"/>
                </a:solidFill>
              </a:rPr>
              <a:t>→</a:t>
            </a:r>
            <a:endParaRPr lang="en-us" cap="none"/>
          </a:p>
        </p:txBody>
      </p:sp>
      <p:sp>
        <p:nvSpPr>
          <p:cNvPr id="10" name="Shape 8"/>
          <p:cNvSpPr>
            <a:extLst>
              <a:ext uri="smNativeData">
                <pr:smNativeData xmlns:pr="smNativeData" xmlns="smNativeData" val="SMDATA_15_ZH+7ahMAAAAlAAAAZQAAAA0AAAAAkAAAAEgAAACQAAAASAAAAAAAAAAAAAAAAAAAAAEAAABQAAAAqYdodAexwz8AAAAAAADwvwAAAAAAAOA/AAAAAAAA4D8AAAAAAADgPwAAAAAAAOA/AAAAAAAA4D8AAAAAAADgPwAAAAAAAOA/AAAAAAAA4D8CAAAAjAAAAAEAAAAAAAAAHidh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IiIH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dhAP///wEAAAAAAAAAAAAAAAAAAAAAAAAAAAAAAAAAAAAAAAAAAAAAAAB/f38A5+bmA8zMzADAwP8Af39/AAAAAAAAAAAAAAAAAAAAAAAAAAAAIQAAABgAAAAUAAAAdxoAAHARAADfJAAAwBgAABAAAAAmAAAACAAAAP//////////"/>
              </a:ext>
            </a:extLst>
          </p:cNvSpPr>
          <p:nvPr/>
        </p:nvSpPr>
        <p:spPr>
          <a:xfrm>
            <a:off x="4302125" y="2834640"/>
            <a:ext cx="1691640" cy="1188720"/>
          </a:xfrm>
          <a:prstGeom prst="roundRect">
            <a:avLst>
              <a:gd name="adj" fmla="val 7692"/>
            </a:avLst>
          </a:prstGeom>
          <a:solidFill>
            <a:srgbClr val="1E2761"/>
          </a:solidFill>
          <a:ln>
            <a:noFill/>
          </a:ln>
          <a:effectLst/>
        </p:spPr>
      </p:sp>
      <p:sp>
        <p:nvSpPr>
          <p:cNvPr id="11" name="Text 9"/>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dxoAAHARAADfJAAAwBgAABAAAAAmAAAACAAAAP//////////"/>
              </a:ext>
            </a:extLst>
          </p:cNvSpPr>
          <p:nvPr/>
        </p:nvSpPr>
        <p:spPr>
          <a:xfrm>
            <a:off x="4302125" y="2834640"/>
            <a:ext cx="1691640" cy="1188720"/>
          </a:xfrm>
          <a:prstGeom prst="rect">
            <a:avLst/>
          </a:prstGeom>
          <a:noFill/>
          <a:ln>
            <a:noFill/>
          </a:ln>
          <a:effectLst/>
        </p:spPr>
        <p:txBody>
          <a:bodyPr vert="horz" wrap="square" lIns="0" tIns="0" rIns="0" bIns="0" numCol="1" spcCol="215900" anchor="ctr"/>
          <a:lstStyle/>
          <a:p>
            <a:pPr marL="0" indent="0" algn="ctr">
              <a:lnSpc>
                <a:spcPct val="105000"/>
              </a:lnSpc>
              <a:buNone/>
            </a:pPr>
            <a:r>
              <a:rPr lang="en-us" sz="1400" b="1" cap="none">
                <a:solidFill>
                  <a:srgbClr val="FFFFFF"/>
                </a:solidFill>
                <a:latin typeface="Cambria" pitchFamily="2" charset="0"/>
                <a:ea typeface="Cambria" pitchFamily="2" charset="0"/>
                <a:cs typeface="Cambria" pitchFamily="2" charset="0"/>
              </a:rPr>
              <a:t>C</a:t>
            </a:r>
            <a:endParaRPr lang="en-us" sz="1400" cap="none"/>
          </a:p>
          <a:p>
            <a:pPr marL="0" indent="0" algn="ctr">
              <a:lnSpc>
                <a:spcPct val="105000"/>
              </a:lnSpc>
              <a:buNone/>
            </a:pPr>
            <a:r>
              <a:rPr lang="en-us" sz="1400" b="1" cap="none">
                <a:solidFill>
                  <a:srgbClr val="FFFFFF"/>
                </a:solidFill>
                <a:latin typeface="Cambria" pitchFamily="2" charset="0"/>
                <a:ea typeface="Cambria" pitchFamily="2" charset="0"/>
                <a:cs typeface="Cambria" pitchFamily="2" charset="0"/>
              </a:rPr>
              <a:t>The Gate</a:t>
            </a:r>
            <a:endParaRPr lang="en-us" sz="1400" cap="none"/>
          </a:p>
        </p:txBody>
      </p:sp>
      <p:sp>
        <p:nvSpPr>
          <p:cNvPr id="12" name="Text 1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3yQAAHARAABkJgAAwBgAABAAAAAmAAAACAAAAP//////////"/>
              </a:ext>
            </a:extLst>
          </p:cNvSpPr>
          <p:nvPr/>
        </p:nvSpPr>
        <p:spPr>
          <a:xfrm>
            <a:off x="5993765" y="2834640"/>
            <a:ext cx="247015" cy="1188720"/>
          </a:xfrm>
          <a:prstGeom prst="rect">
            <a:avLst/>
          </a:prstGeom>
          <a:noFill/>
          <a:ln>
            <a:noFill/>
          </a:ln>
          <a:effectLst/>
        </p:spPr>
        <p:txBody>
          <a:bodyPr vert="horz" wrap="square" lIns="0" tIns="0" rIns="0" bIns="0" numCol="1" spcCol="215900" anchor="ctr"/>
          <a:lstStyle/>
          <a:p>
            <a:pPr marL="0" indent="0" algn="ctr">
              <a:buNone/>
            </a:pPr>
            <a:r>
              <a:rPr lang="en-us" b="1" cap="none">
                <a:solidFill>
                  <a:srgbClr val="36454F"/>
                </a:solidFill>
              </a:rPr>
              <a:t>→</a:t>
            </a:r>
            <a:endParaRPr lang="en-us" cap="none"/>
          </a:p>
        </p:txBody>
      </p:sp>
      <p:sp>
        <p:nvSpPr>
          <p:cNvPr id="13" name="Shape 11"/>
          <p:cNvSpPr>
            <a:extLst>
              <a:ext uri="smNativeData">
                <pr:smNativeData xmlns:pr="smNativeData" xmlns="smNativeData" val="SMDATA_15_ZH+7ahMAAAAlAAAAZQAAAA0AAAAAkAAAAEgAAACQAAAASAAAAAAAAAAAAAAAAAAAAAEAAABQAAAAqYdodAexwz8AAAAAAADwv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FES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HCYAAHARAACEMAAAwBgAABAAAAAmAAAACAAAAP//////////"/>
              </a:ext>
            </a:extLst>
          </p:cNvSpPr>
          <p:nvPr/>
        </p:nvSpPr>
        <p:spPr>
          <a:xfrm>
            <a:off x="6195060" y="2834640"/>
            <a:ext cx="1691640" cy="1188720"/>
          </a:xfrm>
          <a:prstGeom prst="roundRect">
            <a:avLst>
              <a:gd name="adj" fmla="val 7692"/>
            </a:avLst>
          </a:prstGeom>
          <a:solidFill>
            <a:srgbClr val="C98A2C"/>
          </a:solidFill>
          <a:ln>
            <a:noFill/>
          </a:ln>
          <a:effectLst/>
        </p:spPr>
      </p:sp>
      <p:sp>
        <p:nvSpPr>
          <p:cNvPr id="14" name="Text 1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Fv+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HCYAAHARAACEMAAAwBgAABAAAAAmAAAACAAAAP//////////"/>
              </a:ext>
            </a:extLst>
          </p:cNvSpPr>
          <p:nvPr/>
        </p:nvSpPr>
        <p:spPr>
          <a:xfrm>
            <a:off x="6195060" y="2834640"/>
            <a:ext cx="1691640" cy="1188720"/>
          </a:xfrm>
          <a:prstGeom prst="rect">
            <a:avLst/>
          </a:prstGeom>
          <a:noFill/>
          <a:ln>
            <a:noFill/>
          </a:ln>
          <a:effectLst/>
        </p:spPr>
        <p:txBody>
          <a:bodyPr vert="horz" wrap="square" lIns="0" tIns="0" rIns="0" bIns="0" numCol="1" spcCol="215900" anchor="ctr"/>
          <a:lstStyle/>
          <a:p>
            <a:pPr marL="0" indent="0" algn="ctr">
              <a:lnSpc>
                <a:spcPct val="105000"/>
              </a:lnSpc>
              <a:buNone/>
            </a:pPr>
            <a:r>
              <a:rPr lang="en-us" sz="1400" b="1" cap="none">
                <a:solidFill>
                  <a:srgbClr val="1E2761"/>
                </a:solidFill>
                <a:latin typeface="Cambria" pitchFamily="2" charset="0"/>
                <a:ea typeface="Cambria" pitchFamily="2" charset="0"/>
                <a:cs typeface="Cambria" pitchFamily="2" charset="0"/>
              </a:rPr>
              <a:t>D</a:t>
            </a:r>
            <a:endParaRPr lang="en-us" sz="1400" cap="none"/>
          </a:p>
          <a:p>
            <a:pPr marL="0" indent="0" algn="ctr">
              <a:lnSpc>
                <a:spcPct val="105000"/>
              </a:lnSpc>
              <a:buNone/>
            </a:pPr>
            <a:r>
              <a:rPr lang="en-us" sz="1400" b="1" cap="none">
                <a:solidFill>
                  <a:srgbClr val="1E2761"/>
                </a:solidFill>
                <a:latin typeface="Cambria" pitchFamily="2" charset="0"/>
                <a:ea typeface="Cambria" pitchFamily="2" charset="0"/>
                <a:cs typeface="Cambria" pitchFamily="2" charset="0"/>
              </a:rPr>
              <a:t>Evidence + Rules</a:t>
            </a:r>
            <a:endParaRPr lang="en-us" sz="1400" cap="none"/>
          </a:p>
        </p:txBody>
      </p:sp>
      <p:sp>
        <p:nvSpPr>
          <p:cNvPr id="15" name="Text 1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Gkp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hDAAAHARAAAJMgAAwBgAABAAAAAmAAAACAAAAP//////////"/>
              </a:ext>
            </a:extLst>
          </p:cNvSpPr>
          <p:nvPr/>
        </p:nvSpPr>
        <p:spPr>
          <a:xfrm>
            <a:off x="7886700" y="2834640"/>
            <a:ext cx="247015" cy="1188720"/>
          </a:xfrm>
          <a:prstGeom prst="rect">
            <a:avLst/>
          </a:prstGeom>
          <a:noFill/>
          <a:ln>
            <a:noFill/>
          </a:ln>
          <a:effectLst/>
        </p:spPr>
        <p:txBody>
          <a:bodyPr vert="horz" wrap="square" lIns="0" tIns="0" rIns="0" bIns="0" numCol="1" spcCol="215900" anchor="ctr"/>
          <a:lstStyle/>
          <a:p>
            <a:pPr marL="0" indent="0" algn="ctr">
              <a:buNone/>
            </a:pPr>
            <a:r>
              <a:rPr lang="en-us" b="1" cap="none">
                <a:solidFill>
                  <a:srgbClr val="36454F"/>
                </a:solidFill>
              </a:rPr>
              <a:t>→</a:t>
            </a:r>
            <a:endParaRPr lang="en-us" cap="none"/>
          </a:p>
        </p:txBody>
      </p:sp>
      <p:sp>
        <p:nvSpPr>
          <p:cNvPr id="16" name="Shape 14"/>
          <p:cNvSpPr>
            <a:extLst>
              <a:ext uri="smNativeData">
                <pr:smNativeData xmlns:pr="smNativeData" xmlns="smNativeData" val="SMDATA_15_ZH+7ahMAAAAlAAAAZQAAAA0AAAAAkAAAAEgAAACQAAAASAAAAAAAAAAAAAAAAAAAAAEAAABQAAAAqYdodAexwz8AAAAAAADwvwAAAAAAAOA/AAAAAAAA4D8AAAAAAADgPwAAAAAAAOA/AAAAAAAA4D8AAAAAAADgPwAAAAAAAOA/AAAAAAAA4D8CAAAAjAAAAAEAAAAAAAAAHidh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HidhAP///wEAAAAAAAAAAAAAAAAAAAAAAAAAAAAAAAAAAAAAAAAAAAAAAAB/f38A5+bmA8zMzADAwP8Af39/AAAAAAAAAAAAAAAAAAAAAAAAAAAAIQAAABgAAAAUAAAAwTEAAHARAAApPAAAwBgAABAAAAAmAAAACAAAAP//////////"/>
              </a:ext>
            </a:extLst>
          </p:cNvSpPr>
          <p:nvPr/>
        </p:nvSpPr>
        <p:spPr>
          <a:xfrm>
            <a:off x="8087995" y="2834640"/>
            <a:ext cx="1691640" cy="1188720"/>
          </a:xfrm>
          <a:prstGeom prst="roundRect">
            <a:avLst>
              <a:gd name="adj" fmla="val 7692"/>
            </a:avLst>
          </a:prstGeom>
          <a:solidFill>
            <a:srgbClr val="1E2761"/>
          </a:solidFill>
          <a:ln>
            <a:noFill/>
          </a:ln>
          <a:effectLst/>
        </p:spPr>
      </p:sp>
      <p:sp>
        <p:nvSpPr>
          <p:cNvPr id="17" name="Text 15"/>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TEAAHARAAApPAAAwBgAABAAAAAmAAAACAAAAP//////////"/>
              </a:ext>
            </a:extLst>
          </p:cNvSpPr>
          <p:nvPr/>
        </p:nvSpPr>
        <p:spPr>
          <a:xfrm>
            <a:off x="8087995" y="2834640"/>
            <a:ext cx="1691640" cy="1188720"/>
          </a:xfrm>
          <a:prstGeom prst="rect">
            <a:avLst/>
          </a:prstGeom>
          <a:noFill/>
          <a:ln>
            <a:noFill/>
          </a:ln>
          <a:effectLst/>
        </p:spPr>
        <p:txBody>
          <a:bodyPr vert="horz" wrap="square" lIns="0" tIns="0" rIns="0" bIns="0" numCol="1" spcCol="215900" anchor="ctr"/>
          <a:lstStyle/>
          <a:p>
            <a:pPr marL="0" indent="0" algn="ctr">
              <a:lnSpc>
                <a:spcPct val="105000"/>
              </a:lnSpc>
              <a:buNone/>
            </a:pPr>
            <a:r>
              <a:rPr lang="en-us" sz="1400" b="1" cap="none">
                <a:solidFill>
                  <a:srgbClr val="FFFFFF"/>
                </a:solidFill>
                <a:latin typeface="Cambria" pitchFamily="2" charset="0"/>
                <a:ea typeface="Cambria" pitchFamily="2" charset="0"/>
                <a:cs typeface="Cambria" pitchFamily="2" charset="0"/>
              </a:rPr>
              <a:t>E</a:t>
            </a:r>
            <a:endParaRPr lang="en-us" sz="1400" cap="none"/>
          </a:p>
          <a:p>
            <a:pPr marL="0" indent="0" algn="ctr">
              <a:lnSpc>
                <a:spcPct val="105000"/>
              </a:lnSpc>
              <a:buNone/>
            </a:pPr>
            <a:r>
              <a:rPr lang="en-us" sz="1400" b="1" cap="none">
                <a:solidFill>
                  <a:srgbClr val="FFFFFF"/>
                </a:solidFill>
                <a:latin typeface="Cambria" pitchFamily="2" charset="0"/>
                <a:ea typeface="Cambria" pitchFamily="2" charset="0"/>
                <a:cs typeface="Cambria" pitchFamily="2" charset="0"/>
              </a:rPr>
              <a:t>Fill Shortlist</a:t>
            </a:r>
            <a:endParaRPr lang="en-us" sz="1400" cap="none"/>
          </a:p>
        </p:txBody>
      </p:sp>
      <p:sp>
        <p:nvSpPr>
          <p:cNvPr id="18" name="Text 16"/>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KTwAAHARAACuPQAAwBgAABAAAAAmAAAACAAAAP//////////"/>
              </a:ext>
            </a:extLst>
          </p:cNvSpPr>
          <p:nvPr/>
        </p:nvSpPr>
        <p:spPr>
          <a:xfrm>
            <a:off x="9779635" y="2834640"/>
            <a:ext cx="247015" cy="1188720"/>
          </a:xfrm>
          <a:prstGeom prst="rect">
            <a:avLst/>
          </a:prstGeom>
          <a:noFill/>
          <a:ln>
            <a:noFill/>
          </a:ln>
          <a:effectLst/>
        </p:spPr>
        <p:txBody>
          <a:bodyPr vert="horz" wrap="square" lIns="0" tIns="0" rIns="0" bIns="0" numCol="1" spcCol="215900" anchor="ctr"/>
          <a:lstStyle/>
          <a:p>
            <a:pPr marL="0" indent="0" algn="ctr">
              <a:buNone/>
            </a:pPr>
            <a:r>
              <a:rPr lang="en-us" b="1" cap="none">
                <a:solidFill>
                  <a:srgbClr val="36454F"/>
                </a:solidFill>
              </a:rPr>
              <a:t>→</a:t>
            </a:r>
            <a:endParaRPr lang="en-us" cap="none"/>
          </a:p>
        </p:txBody>
      </p:sp>
      <p:sp>
        <p:nvSpPr>
          <p:cNvPr id="19" name="Shape 17"/>
          <p:cNvSpPr>
            <a:extLst>
              <a:ext uri="smNativeData">
                <pr:smNativeData xmlns:pr="smNativeData" xmlns="smNativeData" val="SMDATA_15_ZH+7ahMAAAAlAAAAZQAAAA0AAAAAkAAAAEgAAACQAAAASAAAAAAAAAAAAAAAAAAAAAEAAABQAAAAqYdodAexwz8AAAAAAADwv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Zj0AAHARAADORwAAwBgAABAAAAAmAAAACAAAAP//////////"/>
              </a:ext>
            </a:extLst>
          </p:cNvSpPr>
          <p:nvPr/>
        </p:nvSpPr>
        <p:spPr>
          <a:xfrm>
            <a:off x="9980930" y="2834640"/>
            <a:ext cx="1691640" cy="1188720"/>
          </a:xfrm>
          <a:prstGeom prst="roundRect">
            <a:avLst>
              <a:gd name="adj" fmla="val 7692"/>
            </a:avLst>
          </a:prstGeom>
          <a:solidFill>
            <a:srgbClr val="C98A2C"/>
          </a:solidFill>
          <a:ln>
            <a:noFill/>
          </a:ln>
          <a:effectLst/>
        </p:spPr>
      </p:sp>
      <p:sp>
        <p:nvSpPr>
          <p:cNvPr id="20" name="Text 18"/>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Zj0AAHARAADORwAAwBgAABAAAAAmAAAACAAAAP//////////"/>
              </a:ext>
            </a:extLst>
          </p:cNvSpPr>
          <p:nvPr/>
        </p:nvSpPr>
        <p:spPr>
          <a:xfrm>
            <a:off x="9980930" y="2834640"/>
            <a:ext cx="1691640" cy="1188720"/>
          </a:xfrm>
          <a:prstGeom prst="rect">
            <a:avLst/>
          </a:prstGeom>
          <a:noFill/>
          <a:ln>
            <a:noFill/>
          </a:ln>
          <a:effectLst/>
        </p:spPr>
        <p:txBody>
          <a:bodyPr vert="horz" wrap="square" lIns="0" tIns="0" rIns="0" bIns="0" numCol="1" spcCol="215900" anchor="ctr"/>
          <a:lstStyle/>
          <a:p>
            <a:pPr marL="0" indent="0" algn="ctr">
              <a:lnSpc>
                <a:spcPct val="105000"/>
              </a:lnSpc>
              <a:buNone/>
            </a:pPr>
            <a:r>
              <a:rPr lang="en-us" sz="1400" b="1" cap="none">
                <a:solidFill>
                  <a:srgbClr val="1E2761"/>
                </a:solidFill>
                <a:latin typeface="Cambria" pitchFamily="2" charset="0"/>
                <a:ea typeface="Cambria" pitchFamily="2" charset="0"/>
                <a:cs typeface="Cambria" pitchFamily="2" charset="0"/>
              </a:rPr>
              <a:t>F</a:t>
            </a:r>
            <a:endParaRPr lang="en-us" sz="1400" cap="none"/>
          </a:p>
          <a:p>
            <a:pPr marL="0" indent="0" algn="ctr">
              <a:lnSpc>
                <a:spcPct val="105000"/>
              </a:lnSpc>
              <a:buNone/>
            </a:pPr>
            <a:r>
              <a:rPr lang="en-us" sz="1400" b="1" cap="none">
                <a:solidFill>
                  <a:srgbClr val="1E2761"/>
                </a:solidFill>
                <a:latin typeface="Cambria" pitchFamily="2" charset="0"/>
                <a:ea typeface="Cambria" pitchFamily="2" charset="0"/>
                <a:cs typeface="Cambria" pitchFamily="2" charset="0"/>
              </a:rPr>
              <a:t>Handoff</a:t>
            </a:r>
            <a:endParaRPr lang="en-us" sz="1400" cap="none"/>
          </a:p>
        </p:txBody>
      </p:sp>
      <p:sp>
        <p:nvSpPr>
          <p:cNvPr id="21" name="Shape 19"/>
          <p:cNvSpPr>
            <a:extLst>
              <a:ext uri="smNativeData">
                <pr:smNativeData xmlns:pr="smNativeData" xmlns="smNativeData" val="SMDATA_15_ZH+7ahMAAAAlAAAACg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wAAAMrc/AAe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Mrc/AB/f38A5+bmA8zMzADAwP8Af39/AAAAAAAAAAAAAAAAAAAAAAAAAAAAIQAAABgAAAAUAAAALgMAACAcAADORwAAIBwAABAAAAAmAAAACAAAAP//////////"/>
              </a:ext>
            </a:extLst>
          </p:cNvSpPr>
          <p:nvPr/>
        </p:nvSpPr>
        <p:spPr>
          <a:xfrm>
            <a:off x="516890" y="4572000"/>
            <a:ext cx="11155680" cy="0"/>
          </a:xfrm>
          <a:prstGeom prst="line">
            <a:avLst/>
          </a:prstGeom>
          <a:noFill/>
          <a:ln w="19050" cap="flat" cmpd="sng" algn="ctr">
            <a:solidFill>
              <a:srgbClr val="CADCFC"/>
            </a:solidFill>
            <a:prstDash val="dash"/>
            <a:headEnd type="none"/>
            <a:tailEnd type="none"/>
          </a:ln>
          <a:effectLst/>
        </p:spPr>
      </p:sp>
      <p:sp>
        <p:nvSpPr>
          <p:cNvPr id="22" name="Text 2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LgMAAPgcAADORwAAyB8AABAAAAAmAAAACAAAAP//////////"/>
              </a:ext>
            </a:extLst>
          </p:cNvSpPr>
          <p:nvPr/>
        </p:nvSpPr>
        <p:spPr>
          <a:xfrm>
            <a:off x="516890" y="4709160"/>
            <a:ext cx="11155680" cy="457200"/>
          </a:xfrm>
          <a:prstGeom prst="rect">
            <a:avLst/>
          </a:prstGeom>
          <a:noFill/>
          <a:ln>
            <a:noFill/>
          </a:ln>
          <a:effectLst/>
        </p:spPr>
        <p:txBody>
          <a:bodyPr vert="horz" wrap="square" lIns="0" tIns="0" rIns="0" bIns="0" numCol="1" spcCol="215900" anchor="ctr"/>
          <a:lstStyle/>
          <a:p>
            <a:pPr marL="0" indent="0" algn="ctr">
              <a:buNone/>
            </a:pPr>
            <a:r>
              <a:rPr lang="en-us" sz="1350" i="1" cap="none">
                <a:solidFill>
                  <a:srgbClr val="8A93A6"/>
                </a:solidFill>
              </a:rPr>
              <a:t>A single line connects every phase: the Audit Trail — a running record checked automatically after every decision.</a:t>
            </a:r>
            <a:endParaRPr lang="en-us" sz="1350" cap="none"/>
          </a:p>
        </p:txBody>
      </p:sp>
      <p:sp>
        <p:nvSpPr>
          <p:cNvPr id="23" name="Text 2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UAADAhAABbRQAAkCQAABAAAAAmAAAACAAAAP//////////"/>
              </a:ext>
            </a:extLst>
          </p:cNvSpPr>
          <p:nvPr/>
        </p:nvSpPr>
        <p:spPr>
          <a:xfrm>
            <a:off x="914400" y="5394960"/>
            <a:ext cx="10360025" cy="548640"/>
          </a:xfrm>
          <a:prstGeom prst="rect">
            <a:avLst/>
          </a:prstGeom>
          <a:noFill/>
          <a:ln>
            <a:noFill/>
          </a:ln>
          <a:effectLst/>
        </p:spPr>
        <p:txBody>
          <a:bodyPr vert="horz" wrap="square" lIns="0" tIns="0" rIns="0" bIns="0" numCol="1" spcCol="215900" anchor="ctr"/>
          <a:lstStyle/>
          <a:p>
            <a:pPr marL="0" indent="0" algn="ctr">
              <a:lnSpc>
                <a:spcPct val="110000"/>
              </a:lnSpc>
              <a:buNone/>
            </a:pPr>
            <a:r>
              <a:rPr lang="en-us" sz="1400" cap="none">
                <a:solidFill>
                  <a:srgbClr val="36454F"/>
                </a:solidFill>
              </a:rPr>
              <a:t>Each arrow is a one-way door: a candidate can only move forward once a checkpoint is satisfied — never skipped, never reversed.</a:t>
            </a:r>
            <a:endParaRPr lang="en-us" sz="1400" cap="none"/>
          </a:p>
        </p:txBody>
      </p:sp>
      <p:sp>
        <p:nvSpPr>
          <p:cNvPr id="24" name="Text 2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NMnAADQLwAAgykAABAAAAAmAAAACAAAAP//////////"/>
              </a:ext>
            </a:extLst>
          </p:cNvSpPr>
          <p:nvPr/>
        </p:nvSpPr>
        <p:spPr>
          <a:xfrm>
            <a:off x="457200" y="6473825"/>
            <a:ext cx="7315200" cy="274320"/>
          </a:xfrm>
          <a:prstGeom prst="rect">
            <a:avLst/>
          </a:prstGeom>
          <a:noFill/>
          <a:ln>
            <a:noFill/>
          </a:ln>
          <a:effectLst/>
        </p:spPr>
        <p:txBody>
          <a:bodyPr vert="horz" wrap="square" lIns="0" tIns="0" rIns="0" bIns="0" numCol="1" spcCol="215900" anchor="ctr"/>
          <a:lstStyle/>
          <a:p>
            <a:pPr marL="0" indent="0">
              <a:buNone/>
            </a:pPr>
            <a:r>
              <a:rPr lang="en-us" sz="1000" cap="none">
                <a:solidFill>
                  <a:srgbClr val="8A93A6"/>
                </a:solidFill>
              </a:rPr>
              <a:t>EGCA — Evidence-Governed Candidate Assessment</a:t>
            </a:r>
            <a:endParaRPr lang="en-us" sz="1000" cap="none"/>
          </a:p>
        </p:txBody>
      </p:sp>
      <p:sp>
        <p:nvSpPr>
          <p:cNvPr id="25" name="Text 2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0UAANMnAAArSAAAgykAABAAAAAmAAAACAAAAP//////////"/>
              </a:ext>
            </a:extLst>
          </p:cNvSpPr>
          <p:nvPr/>
        </p:nvSpPr>
        <p:spPr>
          <a:xfrm>
            <a:off x="11274425" y="6473825"/>
            <a:ext cx="457200" cy="274320"/>
          </a:xfrm>
          <a:prstGeom prst="rect">
            <a:avLst/>
          </a:prstGeom>
          <a:noFill/>
          <a:ln>
            <a:noFill/>
          </a:ln>
          <a:effectLst/>
        </p:spPr>
        <p:txBody>
          <a:bodyPr vert="horz" wrap="square" lIns="0" tIns="0" rIns="0" bIns="0" numCol="1" spcCol="215900" anchor="ctr"/>
          <a:lstStyle/>
          <a:p>
            <a:pPr marL="0" indent="0" algn="r">
              <a:buNone/>
            </a:pPr>
            <a:r>
              <a:rPr lang="en-us" sz="1000" cap="none">
                <a:solidFill>
                  <a:srgbClr val="8A93A6"/>
                </a:solidFill>
              </a:rPr>
              <a:t>13</a:t>
            </a:r>
            <a:endParaRPr lang="en-us" sz="1000" cap="none"/>
          </a:p>
        </p:txBody>
      </p:sp>
    </p:spTree>
  </p:cSld>
  <p:clrMapOvr>
    <a:masterClrMapping/>
  </p:clrMapOvr>
  <p:timing>
    <p:tnLst>
      <p:par>
        <p:cTn id="1" dur="indefinite" restart="never" nodeType="tmRoot"/>
      </p:par>
    </p:tnLst>
  </p:timing>
</p:sld>
</file>

<file path=ppt/slides/slide1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name="Slide 14">
    <p:bg>
      <p:bgPr>
        <a:solidFill>
          <a:srgbClr val="1E2761"/>
        </a:solidFill>
        <a:effectLst/>
      </p:bgPr>
    </p:bg>
    <p:spTree>
      <p:nvGrpSpPr>
        <p:cNvPr id="1" name=""/>
        <p:cNvGrpSpPr/>
        <p:nvPr/>
      </p:nvGrpSpPr>
      <p:grpSpPr>
        <a:xfrm>
          <a:off x="0" y="0"/>
          <a:ext cx="0" cy="0"/>
          <a:chOff x="0" y="0"/>
          <a:chExt cx="0" cy="0"/>
        </a:xfrm>
      </p:grpSpPr>
      <p:sp>
        <p:nvSpPr>
          <p:cNvPr id="2" name="Text 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oAUAAIANAABbRQAAMBgAABAAAAAmAAAACAAAAP//////////"/>
              </a:ext>
            </a:extLst>
          </p:cNvSpPr>
          <p:nvPr/>
        </p:nvSpPr>
        <p:spPr>
          <a:xfrm>
            <a:off x="914400" y="2194560"/>
            <a:ext cx="10360025" cy="1737360"/>
          </a:xfrm>
          <a:prstGeom prst="rect">
            <a:avLst/>
          </a:prstGeom>
          <a:noFill/>
          <a:ln>
            <a:noFill/>
          </a:ln>
          <a:effectLst/>
        </p:spPr>
        <p:txBody>
          <a:bodyPr vert="horz" wrap="square" lIns="0" tIns="0" rIns="0" bIns="0" numCol="1" spcCol="215900" anchor="ctr"/>
          <a:lstStyle/>
          <a:p>
            <a:pPr marL="0" indent="0" algn="ctr">
              <a:lnSpc>
                <a:spcPct val="120000"/>
              </a:lnSpc>
              <a:buNone/>
            </a:pPr>
            <a:r>
              <a:rPr lang="en-us" sz="3000" b="1" i="1" cap="none">
                <a:solidFill>
                  <a:srgbClr val="FFFFFF"/>
                </a:solidFill>
                <a:latin typeface="Cambria" pitchFamily="2" charset="0"/>
                <a:ea typeface="Cambria" pitchFamily="2" charset="0"/>
                <a:cs typeface="Cambria" pitchFamily="2" charset="0"/>
              </a:rPr>
              <a:t>“ AI should do the reading and the sorting.</a:t>
            </a:r>
            <a:endParaRPr lang="en-us" sz="3000" cap="none"/>
          </a:p>
          <a:p>
            <a:pPr marL="0" indent="0" algn="ctr">
              <a:lnSpc>
                <a:spcPct val="120000"/>
              </a:lnSpc>
              <a:buNone/>
            </a:pPr>
            <a:r>
              <a:rPr lang="en-us" sz="3000" b="1" i="1" cap="none">
                <a:solidFill>
                  <a:srgbClr val="FFFFFF"/>
                </a:solidFill>
                <a:latin typeface="Cambria" pitchFamily="2" charset="0"/>
                <a:ea typeface="Cambria" pitchFamily="2" charset="0"/>
                <a:cs typeface="Cambria" pitchFamily="2" charset="0"/>
              </a:rPr>
              <a:t>Humans should do the judging. ”</a:t>
            </a:r>
            <a:endParaRPr lang="en-us" sz="3000" cap="none"/>
          </a:p>
        </p:txBody>
      </p:sp>
      <p:sp>
        <p:nvSpPr>
          <p:cNvPr id="3" name="Text 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IAoAAOAZAADbQAAAgB8AABAAAAAmAAAACAAAAP//////////"/>
              </a:ext>
            </a:extLst>
          </p:cNvSpPr>
          <p:nvPr/>
        </p:nvSpPr>
        <p:spPr>
          <a:xfrm>
            <a:off x="1645920" y="4206240"/>
            <a:ext cx="8896985" cy="914400"/>
          </a:xfrm>
          <a:prstGeom prst="rect">
            <a:avLst/>
          </a:prstGeom>
          <a:noFill/>
          <a:ln>
            <a:noFill/>
          </a:ln>
          <a:effectLst/>
        </p:spPr>
        <p:txBody>
          <a:bodyPr vert="horz" wrap="square" lIns="0" tIns="0" rIns="0" bIns="0" numCol="1" spcCol="215900" anchor="ctr"/>
          <a:lstStyle/>
          <a:p>
            <a:pPr marL="0" indent="0" algn="ctr">
              <a:lnSpc>
                <a:spcPct val="120000"/>
              </a:lnSpc>
              <a:buNone/>
            </a:pPr>
            <a:r>
              <a:rPr lang="en-us" sz="1600" cap="none">
                <a:solidFill>
                  <a:srgbClr val="CADCFC"/>
                </a:solidFill>
              </a:rPr>
              <a:t>EGCA is built on exactly that division of labor — repetitive, low-judgment work handled by AI; every real decision left to a human, with proof in hand.</a:t>
            </a:r>
            <a:endParaRPr lang="en-us" sz="1600" cap="none"/>
          </a:p>
        </p:txBody>
      </p:sp>
      <p:sp>
        <p:nvSpPr>
          <p:cNvPr id="4" name="Text 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NMnAADQLwAAgykAABAAAAAmAAAACAAAAP//////////"/>
              </a:ext>
            </a:extLst>
          </p:cNvSpPr>
          <p:nvPr/>
        </p:nvSpPr>
        <p:spPr>
          <a:xfrm>
            <a:off x="457200" y="6473825"/>
            <a:ext cx="7315200" cy="274320"/>
          </a:xfrm>
          <a:prstGeom prst="rect">
            <a:avLst/>
          </a:prstGeom>
          <a:noFill/>
          <a:ln>
            <a:noFill/>
          </a:ln>
          <a:effectLst/>
        </p:spPr>
        <p:txBody>
          <a:bodyPr vert="horz" wrap="square" lIns="0" tIns="0" rIns="0" bIns="0" numCol="1" spcCol="215900" anchor="ctr"/>
          <a:lstStyle/>
          <a:p>
            <a:pPr marL="0" indent="0">
              <a:buNone/>
            </a:pPr>
            <a:r>
              <a:rPr lang="en-us" sz="1000" cap="none">
                <a:solidFill>
                  <a:srgbClr val="8A93A6"/>
                </a:solidFill>
              </a:rPr>
              <a:t>EGCA — Evidence-Governed Candidate Assessment</a:t>
            </a:r>
            <a:endParaRPr lang="en-us" sz="1000" cap="none"/>
          </a:p>
        </p:txBody>
      </p:sp>
      <p:sp>
        <p:nvSpPr>
          <p:cNvPr id="5" name="Text 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0UAANMnAAArSAAAgykAABAAAAAmAAAACAAAAP//////////"/>
              </a:ext>
            </a:extLst>
          </p:cNvSpPr>
          <p:nvPr/>
        </p:nvSpPr>
        <p:spPr>
          <a:xfrm>
            <a:off x="11274425" y="6473825"/>
            <a:ext cx="457200" cy="274320"/>
          </a:xfrm>
          <a:prstGeom prst="rect">
            <a:avLst/>
          </a:prstGeom>
          <a:noFill/>
          <a:ln>
            <a:noFill/>
          </a:ln>
          <a:effectLst/>
        </p:spPr>
        <p:txBody>
          <a:bodyPr vert="horz" wrap="square" lIns="0" tIns="0" rIns="0" bIns="0" numCol="1" spcCol="215900" anchor="ctr"/>
          <a:lstStyle/>
          <a:p>
            <a:pPr marL="0" indent="0" algn="r">
              <a:buNone/>
            </a:pPr>
            <a:r>
              <a:rPr lang="en-us" sz="1000" cap="none">
                <a:solidFill>
                  <a:srgbClr val="8A93A6"/>
                </a:solidFill>
              </a:rPr>
              <a:t>14</a:t>
            </a:r>
            <a:endParaRPr lang="en-us" sz="1000" cap="none"/>
          </a:p>
        </p:txBody>
      </p:sp>
    </p:spTree>
  </p:cSld>
  <p:clrMapOvr>
    <a:masterClrMapping/>
  </p:clrMapOvr>
  <p:timing>
    <p:tnLst>
      <p:par>
        <p:cTn id="1" dur="indefinite" restart="never" nodeType="tmRoot"/>
      </p:par>
    </p:tnLst>
  </p:timing>
</p:sld>
</file>

<file path=ppt/slides/slide1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name="Slide 15">
    <p:bg>
      <p:bgPr>
        <a:solidFill>
          <a:srgbClr val="1E2761"/>
        </a:solidFill>
        <a:effectLst/>
      </p:bgPr>
    </p:bg>
    <p:spTree>
      <p:nvGrpSpPr>
        <p:cNvPr id="1" name=""/>
        <p:cNvGrpSpPr/>
        <p:nvPr/>
      </p:nvGrpSpPr>
      <p:grpSpPr>
        <a:xfrm>
          <a:off x="0" y="0"/>
          <a:ext cx="0" cy="0"/>
          <a:chOff x="0" y="0"/>
          <a:chExt cx="0" cy="0"/>
        </a:xfrm>
      </p:grpSpPr>
      <p:sp>
        <p:nvSpPr>
          <p:cNvPr id="2" name="Shape 0"/>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yYos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yYosAP///wEAAAAAAAAAAAAAAAAAAAAAAAAAAAAAAAAAAAAAAAAAAAAAAAB/f38A5+bmA8zMzADAwP8Af39/AAAAAAAAAAAAAAAAAAAAAAAAAAAAIQAAABgAAAAUAAAAMCEAAFAHAADoKQAACBAAABAAAAAmAAAACAAAAP//////////"/>
              </a:ext>
            </a:extLst>
          </p:cNvSpPr>
          <p:nvPr/>
        </p:nvSpPr>
        <p:spPr>
          <a:xfrm>
            <a:off x="5394960" y="1188720"/>
            <a:ext cx="1417320" cy="1417320"/>
          </a:xfrm>
          <a:prstGeom prst="ellipse">
            <a:avLst/>
          </a:prstGeom>
          <a:solidFill>
            <a:srgbClr val="C98A2C"/>
          </a:solidFill>
          <a:ln>
            <a:noFill/>
          </a:ln>
          <a:effectLst/>
        </p:spPr>
      </p:sp>
      <p:sp>
        <p:nvSpPr>
          <p:cNvPr id="3" name="Text 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MCEAAFAHAADoKQAACBAAABAAAAAmAAAACAAAAP//////////"/>
              </a:ext>
            </a:extLst>
          </p:cNvSpPr>
          <p:nvPr/>
        </p:nvSpPr>
        <p:spPr>
          <a:xfrm>
            <a:off x="5394960" y="1188720"/>
            <a:ext cx="1417320" cy="1417320"/>
          </a:xfrm>
          <a:prstGeom prst="rect">
            <a:avLst/>
          </a:prstGeom>
          <a:noFill/>
          <a:ln>
            <a:noFill/>
          </a:ln>
          <a:effectLst/>
        </p:spPr>
        <p:txBody>
          <a:bodyPr vert="horz" wrap="square" lIns="0" tIns="0" rIns="0" bIns="0" numCol="1" spcCol="215900" anchor="ctr"/>
          <a:lstStyle/>
          <a:p>
            <a:pPr marL="0" indent="0" algn="ctr">
              <a:buNone/>
            </a:pPr>
            <a:r>
              <a:rPr lang="en-us" sz="4800" b="1" cap="none">
                <a:solidFill>
                  <a:srgbClr val="1E2761"/>
                </a:solidFill>
                <a:latin typeface="Cambria" pitchFamily="2" charset="0"/>
                <a:ea typeface="Cambria" pitchFamily="2" charset="0"/>
                <a:cs typeface="Cambria" pitchFamily="2" charset="0"/>
              </a:rPr>
              <a:t>✓</a:t>
            </a:r>
            <a:endParaRPr lang="en-us" sz="4800" cap="none"/>
          </a:p>
        </p:txBody>
      </p:sp>
      <p:sp>
        <p:nvSpPr>
          <p:cNvPr id="4" name="Text 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AASAAArSAAAoBcAABAAAAAmAAAACAAAAP//////////"/>
              </a:ext>
            </a:extLst>
          </p:cNvSpPr>
          <p:nvPr/>
        </p:nvSpPr>
        <p:spPr>
          <a:xfrm>
            <a:off x="457200" y="2926080"/>
            <a:ext cx="11274425" cy="914400"/>
          </a:xfrm>
          <a:prstGeom prst="rect">
            <a:avLst/>
          </a:prstGeom>
          <a:noFill/>
          <a:ln>
            <a:noFill/>
          </a:ln>
          <a:effectLst/>
        </p:spPr>
        <p:txBody>
          <a:bodyPr vert="horz" wrap="square" lIns="0" tIns="0" rIns="0" bIns="0" numCol="1" spcCol="215900" anchor="ctr"/>
          <a:lstStyle/>
          <a:p>
            <a:pPr marL="0" indent="0" algn="ctr">
              <a:buNone/>
            </a:pPr>
            <a:r>
              <a:rPr lang="en-us" sz="4600" b="1" cap="none">
                <a:solidFill>
                  <a:srgbClr val="FFFFFF"/>
                </a:solidFill>
                <a:latin typeface="Cambria" pitchFamily="2" charset="0"/>
                <a:ea typeface="Cambria" pitchFamily="2" charset="0"/>
                <a:cs typeface="Cambria" pitchFamily="2" charset="0"/>
              </a:rPr>
              <a:t>Thank You</a:t>
            </a:r>
            <a:endParaRPr lang="en-us" sz="4600" cap="none"/>
          </a:p>
        </p:txBody>
      </p:sp>
      <p:sp>
        <p:nvSpPr>
          <p:cNvPr id="5" name="Text 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FgXAAArSAAAKBoAABAAAAAmAAAACAAAAP//////////"/>
              </a:ext>
            </a:extLst>
          </p:cNvSpPr>
          <p:nvPr/>
        </p:nvSpPr>
        <p:spPr>
          <a:xfrm>
            <a:off x="457200" y="3794760"/>
            <a:ext cx="11274425" cy="457200"/>
          </a:xfrm>
          <a:prstGeom prst="rect">
            <a:avLst/>
          </a:prstGeom>
          <a:noFill/>
          <a:ln>
            <a:noFill/>
          </a:ln>
          <a:effectLst/>
        </p:spPr>
        <p:txBody>
          <a:bodyPr vert="horz" wrap="square" lIns="0" tIns="0" rIns="0" bIns="0" numCol="1" spcCol="215900" anchor="ctr"/>
          <a:lstStyle/>
          <a:p>
            <a:pPr marL="0" indent="0" algn="ctr">
              <a:buNone/>
            </a:pPr>
            <a:r>
              <a:rPr lang="en-us" cap="none">
                <a:solidFill>
                  <a:srgbClr val="CADCFC"/>
                </a:solidFill>
              </a:rPr>
              <a:t>Questions and Discussion</a:t>
            </a:r>
            <a:endParaRPr lang="en-us" cap="none"/>
          </a:p>
        </p:txBody>
      </p:sp>
      <p:sp>
        <p:nvSpPr>
          <p:cNvPr id="6" name="Text 4"/>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CAlAAArSAAAYCcAAAAAAAAmAAAACAAAAP//////////"/>
              </a:ext>
            </a:extLst>
          </p:cNvSpPr>
          <p:nvPr/>
        </p:nvSpPr>
        <p:spPr>
          <a:xfrm>
            <a:off x="457200" y="6035040"/>
            <a:ext cx="11274425" cy="365760"/>
          </a:xfrm>
          <a:prstGeom prst="rect">
            <a:avLst/>
          </a:prstGeom>
          <a:noFill/>
          <a:ln>
            <a:noFill/>
          </a:ln>
          <a:effectLst/>
        </p:spPr>
        <p:txBody>
          <a:bodyPr vert="horz" wrap="square" lIns="0" tIns="0" rIns="0" bIns="0" numCol="1" spcCol="215900" anchor="ctr"/>
          <a:lstStyle/>
          <a:p>
            <a:pPr marL="0" indent="0" algn="ctr">
              <a:buNone/>
            </a:pPr>
            <a:r>
              <a:rPr lang="en-us" sz="1200" cap="none">
                <a:solidFill>
                  <a:srgbClr val="8A93A6"/>
                </a:solidFill>
              </a:rPr>
              <a:t>EGCA — Evidence-Governed Candidate Assessment  ·  B.Tech CSE Minor Project  ·  2026-2027</a:t>
            </a:r>
            <a:endParaRPr lang="en-us" sz="1200" cap="none">
              <a:solidFill>
                <a:srgbClr val="8A93A6"/>
              </a:solidFill>
            </a:endParaRPr>
          </a:p>
        </p:txBody>
      </p:sp>
    </p:spTree>
  </p:cSld>
  <p:clrMapOvr>
    <a:masterClrMapping/>
  </p:clrMapOvr>
  <p:timing>
    <p:tnLst>
      <p:par>
        <p:cTn id="1" dur="indefinite" restart="never" nodeType="tmRoot"/>
      </p:par>
    </p:tnLst>
  </p:timing>
</p:sld>
</file>

<file path=ppt/slides/slide1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name="Slide 12">
    <p:bg>
      <p:bgPr>
        <a:solidFill>
          <a:srgbClr val="F7F9FC"/>
        </a:solidFill>
        <a:effectLst/>
      </p:bgPr>
    </p:bg>
    <p:spTree>
      <p:nvGrpSpPr>
        <p:cNvPr id="1" name=""/>
        <p:cNvGrpSpPr/>
        <p:nvPr/>
      </p:nvGrpSpPr>
      <p:grpSpPr>
        <a:xfrm>
          <a:off x="0" y="0"/>
          <a:ext cx="0" cy="0"/>
          <a:chOff x="0" y="0"/>
          <a:chExt cx="0" cy="0"/>
        </a:xfrm>
      </p:grpSpPr>
      <p:sp>
        <p:nvSpPr>
          <p:cNvPr id="2" name="Text 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IgCAADgRgAAgAQAABAAAAAmAAAACAAAAP//////////"/>
              </a:ext>
            </a:extLst>
          </p:cNvSpPr>
          <p:nvPr/>
        </p:nvSpPr>
        <p:spPr>
          <a:xfrm>
            <a:off x="548640" y="411480"/>
            <a:ext cx="10972800" cy="320040"/>
          </a:xfrm>
          <a:prstGeom prst="rect">
            <a:avLst/>
          </a:prstGeom>
          <a:noFill/>
          <a:ln>
            <a:noFill/>
          </a:ln>
          <a:effectLst/>
        </p:spPr>
        <p:txBody>
          <a:bodyPr vert="horz" wrap="square" lIns="0" tIns="0" rIns="0" bIns="0" numCol="1" spcCol="215900" anchor="ctr"/>
          <a:lstStyle/>
          <a:p>
            <a:pPr marL="0" indent="0">
              <a:buNone/>
            </a:pPr>
            <a:r>
              <a:rPr lang="en-us" sz="1300" b="1" cap="none" spc="40">
                <a:solidFill>
                  <a:srgbClr val="8A93A6"/>
                </a:solidFill>
              </a:rPr>
              <a:t>HONESTY ABOUT LIMITS</a:t>
            </a:r>
            <a:endParaRPr lang="en-us" sz="1300" cap="none"/>
          </a:p>
        </p:txBody>
      </p:sp>
      <p:sp>
        <p:nvSpPr>
          <p:cNvPr id="3" name="Text 1"/>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YAMAAGMEAABwRwAAcwkAABAAAAAmAAAACAAAAP//////////"/>
              </a:ext>
            </a:extLst>
          </p:cNvSpPr>
          <p:nvPr/>
        </p:nvSpPr>
        <p:spPr>
          <a:xfrm>
            <a:off x="548640" y="713105"/>
            <a:ext cx="11064240" cy="822960"/>
          </a:xfrm>
          <a:prstGeom prst="rect">
            <a:avLst/>
          </a:prstGeom>
          <a:noFill/>
          <a:ln>
            <a:noFill/>
          </a:ln>
          <a:effectLst/>
        </p:spPr>
        <p:txBody>
          <a:bodyPr vert="horz" wrap="square" lIns="0" tIns="0" rIns="0" bIns="0" numCol="1" spcCol="215900" anchor="ctr"/>
          <a:lstStyle/>
          <a:p>
            <a:pPr marL="0" indent="0">
              <a:buNone/>
            </a:pPr>
            <a:r>
              <a:rPr lang="en-us" sz="3000" b="1" cap="none">
                <a:solidFill>
                  <a:srgbClr val="1E2761"/>
                </a:solidFill>
                <a:latin typeface="Cambria" pitchFamily="2" charset="0"/>
                <a:ea typeface="Cambria" pitchFamily="2" charset="0"/>
                <a:cs typeface="Cambria" pitchFamily="2" charset="0"/>
              </a:rPr>
              <a:t>What This System Does NOT Promise</a:t>
            </a:r>
            <a:endParaRPr lang="en-us" sz="3000" cap="none"/>
          </a:p>
        </p:txBody>
      </p:sp>
      <p:sp>
        <p:nvSpPr>
          <p:cNvPr id="4" name="Shape 2"/>
          <p:cNvSpPr>
            <a:extLst>
              <a:ext uri="smNativeData">
                <pr:smNativeData xmlns:pr="smNativeData" xmlns="smNativeData" val="SMDATA_15_ZH+7ahMAAAAlAAAAZQAAAA0AAAAAkAAAAEgAAACQAAAASAAAAAAAAAAAAAAAAAAAAAEAAABQAAAAVwT/W8mOxT8AAAAAAADwvwAAAAAAAOA/AAAAAAAA4D8AAAAAAADgPwAAAAAAAOA/AAAAAAAA4D8AAAAAAADgPwAAAAAAAOA/AAAAAAAA4D8CAAAAjAAAAAEAAAAAAAAA7O7y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7O7yAP///wEAAAAAAAAAAAAAAAAAAAAAAAAAAAAAAAAAAAAAAAAAAAAAAAB/f38A5+bmA8zMzADAwP8Af39/AAAAAAAAAAAAAAAAAAAAAAAAAAAAIQAAABgAAAAUAAAA8AMAANALAAALRwAAKBEAABAAAAAmAAAACAAAAP//////////"/>
              </a:ext>
            </a:extLst>
          </p:cNvSpPr>
          <p:nvPr/>
        </p:nvSpPr>
        <p:spPr>
          <a:xfrm>
            <a:off x="640080" y="1920240"/>
            <a:ext cx="10908665" cy="868680"/>
          </a:xfrm>
          <a:prstGeom prst="roundRect">
            <a:avLst>
              <a:gd name="adj" fmla="val 8421"/>
            </a:avLst>
          </a:prstGeom>
          <a:solidFill>
            <a:srgbClr val="ECEEF2"/>
          </a:solidFill>
          <a:ln>
            <a:noFill/>
          </a:ln>
          <a:effectLst/>
        </p:spPr>
      </p:sp>
      <p:sp>
        <p:nvSpPr>
          <p:cNvPr id="5" name="Shape 3"/>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ipOm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ipOmAP///wEAAAAAAAAAAAAAAAAAAAAAAAAAAAAAAAAAAAAAAAAAAAAAAAB/f38A5+bmA8zMzADAwP8Af39/AAAAAAAAAAAAAAAAAAAAAAAAAAAAIQAAABgAAAAUAAAAEAUAAMUMAABwCAAAJRAAABAAAAAmAAAACAAAAP//////////"/>
              </a:ext>
            </a:extLst>
          </p:cNvSpPr>
          <p:nvPr/>
        </p:nvSpPr>
        <p:spPr>
          <a:xfrm>
            <a:off x="822960" y="2075815"/>
            <a:ext cx="548640" cy="548640"/>
          </a:xfrm>
          <a:prstGeom prst="ellipse">
            <a:avLst/>
          </a:prstGeom>
          <a:solidFill>
            <a:srgbClr val="8A93A6"/>
          </a:solidFill>
          <a:ln>
            <a:noFill/>
          </a:ln>
          <a:effectLst/>
        </p:spPr>
      </p:sp>
      <p:sp>
        <p:nvSpPr>
          <p:cNvPr id="6" name="Text 4"/>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UAAMUMAABwCAAAJRAAABAAAAAmAAAACAAAAP//////////"/>
              </a:ext>
            </a:extLst>
          </p:cNvSpPr>
          <p:nvPr/>
        </p:nvSpPr>
        <p:spPr>
          <a:xfrm>
            <a:off x="822960" y="2075815"/>
            <a:ext cx="548640" cy="548640"/>
          </a:xfrm>
          <a:prstGeom prst="rect">
            <a:avLst/>
          </a:prstGeom>
          <a:noFill/>
          <a:ln>
            <a:noFill/>
          </a:ln>
          <a:effectLst/>
        </p:spPr>
        <p:txBody>
          <a:bodyPr vert="horz" wrap="square" lIns="0" tIns="0" rIns="0" bIns="0" numCol="1" spcCol="215900" anchor="ctr"/>
          <a:lstStyle/>
          <a:p>
            <a:pPr marL="0" indent="0" algn="ctr">
              <a:buNone/>
            </a:pPr>
            <a:r>
              <a:rPr lang="en-us" sz="2000" b="1" cap="none">
                <a:solidFill>
                  <a:srgbClr val="FFFFFF"/>
                </a:solidFill>
                <a:latin typeface="Cambria" pitchFamily="2" charset="0"/>
                <a:ea typeface="Cambria" pitchFamily="2" charset="0"/>
                <a:cs typeface="Cambria" pitchFamily="2" charset="0"/>
              </a:rPr>
              <a:t>!</a:t>
            </a:r>
            <a:endParaRPr lang="en-us" sz="2000" cap="none"/>
          </a:p>
        </p:txBody>
      </p:sp>
      <p:sp>
        <p:nvSpPr>
          <p:cNvPr id="7" name="Text 5"/>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2AkAAEMMAAB4RQAAwxAAABAAAAAmAAAACAAAAP//////////"/>
              </a:ext>
            </a:extLst>
          </p:cNvSpPr>
          <p:nvPr/>
        </p:nvSpPr>
        <p:spPr>
          <a:xfrm>
            <a:off x="1600200" y="1993265"/>
            <a:ext cx="9692640" cy="731520"/>
          </a:xfrm>
          <a:prstGeom prst="rect">
            <a:avLst/>
          </a:prstGeom>
          <a:noFill/>
          <a:ln>
            <a:noFill/>
          </a:ln>
          <a:effectLst/>
        </p:spPr>
        <p:txBody>
          <a:bodyPr vert="horz" wrap="square" lIns="0" tIns="0" rIns="0" bIns="0" numCol="1" spcCol="215900" anchor="ctr"/>
          <a:lstStyle/>
          <a:p>
            <a:pPr marL="0" indent="0">
              <a:buNone/>
            </a:pPr>
            <a:r>
              <a:rPr lang="en-us" sz="1450" cap="none">
                <a:solidFill>
                  <a:srgbClr val="36454F"/>
                </a:solidFill>
              </a:rPr>
              <a:t>It does not prove these are the best engineers — that needs real hiring outcomes over time.</a:t>
            </a:r>
            <a:endParaRPr lang="en-us" sz="1450" cap="none"/>
          </a:p>
        </p:txBody>
      </p:sp>
      <p:sp>
        <p:nvSpPr>
          <p:cNvPr id="8" name="Shape 6"/>
          <p:cNvSpPr>
            <a:extLst>
              <a:ext uri="smNativeData">
                <pr:smNativeData xmlns:pr="smNativeData" xmlns="smNativeData" val="SMDATA_15_ZH+7ahMAAAAlAAAAZQAAAA0AAAAAkAAAAEgAAACQAAAASAAAAAAAAAAAAAAAAAAAAAEAAABQAAAAVwT/W8mOxT8AAAAAAADwvwAAAAAAAOA/AAAAAAAA4D8AAAAAAADgPwAAAAAAAOA/AAAAAAAA4D8AAAAAAADgPwAAAAAAAOA/AAAAAAAA4D8CAAAAjAAAAAEAAAAAAAAA7O7y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7O7yAP///wEAAAAAAAAAAAAAAAAAAAAAAAAAAAAAAAAAAAAAAAAAAAAAAAB/f38A5+bmA8zMzADAwP8Af39/AAAAAAAAAAAAAAAAAAAAAAAAAAAAIQAAABgAAAAUAAAA8AMAAB0SAAALRwAAdRcAABAAAAAmAAAACAAAAP//////////"/>
              </a:ext>
            </a:extLst>
          </p:cNvSpPr>
          <p:nvPr/>
        </p:nvSpPr>
        <p:spPr>
          <a:xfrm>
            <a:off x="640080" y="2944495"/>
            <a:ext cx="10908665" cy="868680"/>
          </a:xfrm>
          <a:prstGeom prst="roundRect">
            <a:avLst>
              <a:gd name="adj" fmla="val 8421"/>
            </a:avLst>
          </a:prstGeom>
          <a:solidFill>
            <a:srgbClr val="ECEEF2"/>
          </a:solidFill>
          <a:ln>
            <a:noFill/>
          </a:ln>
          <a:effectLst/>
        </p:spPr>
      </p:sp>
      <p:sp>
        <p:nvSpPr>
          <p:cNvPr id="9" name="Shape 7"/>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ipOm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ipOmAP///wEAAAAAAAAAAAAAAAAAAAAAAAAAAAAAAAAAAAAAAAAAAAAAAAB/f38A5+bmA8zMzADAwP8Af39/AAAAAAAAAAAAAAAAAAAAAAAAAAAAIQAAABgAAAAUAAAAEAUAABITAABwCAAAchYAABAAAAAmAAAACAAAAP//////////"/>
              </a:ext>
            </a:extLst>
          </p:cNvSpPr>
          <p:nvPr/>
        </p:nvSpPr>
        <p:spPr>
          <a:xfrm>
            <a:off x="822960" y="3100070"/>
            <a:ext cx="548640" cy="548640"/>
          </a:xfrm>
          <a:prstGeom prst="ellipse">
            <a:avLst/>
          </a:prstGeom>
          <a:solidFill>
            <a:srgbClr val="8A93A6"/>
          </a:solidFill>
          <a:ln>
            <a:noFill/>
          </a:ln>
          <a:effectLst/>
        </p:spPr>
      </p:sp>
      <p:sp>
        <p:nvSpPr>
          <p:cNvPr id="10" name="Text 8"/>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UAABITAABwCAAAchYAABAAAAAmAAAACAAAAP//////////"/>
              </a:ext>
            </a:extLst>
          </p:cNvSpPr>
          <p:nvPr/>
        </p:nvSpPr>
        <p:spPr>
          <a:xfrm>
            <a:off x="822960" y="3100070"/>
            <a:ext cx="548640" cy="548640"/>
          </a:xfrm>
          <a:prstGeom prst="rect">
            <a:avLst/>
          </a:prstGeom>
          <a:noFill/>
          <a:ln>
            <a:noFill/>
          </a:ln>
          <a:effectLst/>
        </p:spPr>
        <p:txBody>
          <a:bodyPr vert="horz" wrap="square" lIns="0" tIns="0" rIns="0" bIns="0" numCol="1" spcCol="215900" anchor="ctr"/>
          <a:lstStyle/>
          <a:p>
            <a:pPr marL="0" indent="0" algn="ctr">
              <a:buNone/>
            </a:pPr>
            <a:r>
              <a:rPr lang="en-us" sz="2000" b="1" cap="none">
                <a:solidFill>
                  <a:srgbClr val="FFFFFF"/>
                </a:solidFill>
                <a:latin typeface="Cambria" pitchFamily="2" charset="0"/>
                <a:ea typeface="Cambria" pitchFamily="2" charset="0"/>
                <a:cs typeface="Cambria" pitchFamily="2" charset="0"/>
              </a:rPr>
              <a:t>!</a:t>
            </a:r>
            <a:endParaRPr lang="en-us" sz="2000" cap="none"/>
          </a:p>
        </p:txBody>
      </p:sp>
      <p:sp>
        <p:nvSpPr>
          <p:cNvPr id="11" name="Text 9"/>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2AkAAJASAAB4RQAAEBcAABAAAAAmAAAACAAAAP//////////"/>
              </a:ext>
            </a:extLst>
          </p:cNvSpPr>
          <p:nvPr/>
        </p:nvSpPr>
        <p:spPr>
          <a:xfrm>
            <a:off x="1600200" y="3017520"/>
            <a:ext cx="9692640" cy="731520"/>
          </a:xfrm>
          <a:prstGeom prst="rect">
            <a:avLst/>
          </a:prstGeom>
          <a:noFill/>
          <a:ln>
            <a:noFill/>
          </a:ln>
          <a:effectLst/>
        </p:spPr>
        <p:txBody>
          <a:bodyPr vert="horz" wrap="square" lIns="0" tIns="0" rIns="0" bIns="0" numCol="1" spcCol="215900" anchor="ctr"/>
          <a:lstStyle/>
          <a:p>
            <a:pPr marL="0" indent="0">
              <a:buNone/>
            </a:pPr>
            <a:r>
              <a:rPr lang="en-us" sz="1450" cap="none">
                <a:solidFill>
                  <a:srgbClr val="36454F"/>
                </a:solidFill>
              </a:rPr>
              <a:t>It does not prove hiring becomes fair — bias is a documented, unsolved problem this project does not claim to fix.</a:t>
            </a:r>
            <a:endParaRPr lang="en-us" sz="1450" cap="none"/>
          </a:p>
        </p:txBody>
      </p:sp>
      <p:sp>
        <p:nvSpPr>
          <p:cNvPr id="12" name="Shape 10"/>
          <p:cNvSpPr>
            <a:extLst>
              <a:ext uri="smNativeData">
                <pr:smNativeData xmlns:pr="smNativeData" xmlns="smNativeData" val="SMDATA_15_ZH+7ahMAAAAlAAAAZQAAAA0AAAAAkAAAAEgAAACQAAAASAAAAAAAAAAAAAAAAAAAAAEAAABQAAAAVwT/W8mOxT8AAAAAAADwvwAAAAAAAOA/AAAAAAAA4D8AAAAAAADgPwAAAAAAAOA/AAAAAAAA4D8AAAAAAADgPwAAAAAAAOA/AAAAAAAA4D8CAAAAjAAAAAEAAAAAAAAA7O7y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7O7yAP///wEAAAAAAAAAAAAAAAAAAAAAAAAAAAAAAAAAAAAAAAAAAAAAAAB/f38A5+bmA8zMzADAwP8Af39/AAAAAAAAAAAAAAAAAAAAAAAAAAAAIQAAABgAAAAUAAAA8AMAAGoYAAALRwAAwh0AABAAAAAmAAAACAAAAP//////////"/>
              </a:ext>
            </a:extLst>
          </p:cNvSpPr>
          <p:nvPr/>
        </p:nvSpPr>
        <p:spPr>
          <a:xfrm>
            <a:off x="640080" y="3968750"/>
            <a:ext cx="10908665" cy="868680"/>
          </a:xfrm>
          <a:prstGeom prst="roundRect">
            <a:avLst>
              <a:gd name="adj" fmla="val 8421"/>
            </a:avLst>
          </a:prstGeom>
          <a:solidFill>
            <a:srgbClr val="ECEEF2"/>
          </a:solidFill>
          <a:ln>
            <a:noFill/>
          </a:ln>
          <a:effectLst/>
        </p:spPr>
      </p:sp>
      <p:sp>
        <p:nvSpPr>
          <p:cNvPr id="13" name="Shape 11"/>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ipOm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ipOmAP///wEAAAAAAAAAAAAAAAAAAAAAAAAAAAAAAAAAAAAAAAAAAAAAAAB/f38A5+bmA8zMzADAwP8Af39/AAAAAAAAAAAAAAAAAAAAAAAAAAAAIQAAABgAAAAUAAAAEAUAAF4ZAABwCAAAvhwAABAAAAAmAAAACAAAAP//////////"/>
              </a:ext>
            </a:extLst>
          </p:cNvSpPr>
          <p:nvPr/>
        </p:nvSpPr>
        <p:spPr>
          <a:xfrm>
            <a:off x="822960" y="4123690"/>
            <a:ext cx="548640" cy="548640"/>
          </a:xfrm>
          <a:prstGeom prst="ellipse">
            <a:avLst/>
          </a:prstGeom>
          <a:solidFill>
            <a:srgbClr val="8A93A6"/>
          </a:solidFill>
          <a:ln>
            <a:noFill/>
          </a:ln>
          <a:effectLst/>
        </p:spPr>
      </p:sp>
      <p:sp>
        <p:nvSpPr>
          <p:cNvPr id="14" name="Text 12"/>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UAAF4ZAABwCAAAvhwAABAAAAAmAAAACAAAAP//////////"/>
              </a:ext>
            </a:extLst>
          </p:cNvSpPr>
          <p:nvPr/>
        </p:nvSpPr>
        <p:spPr>
          <a:xfrm>
            <a:off x="822960" y="4123690"/>
            <a:ext cx="548640" cy="548640"/>
          </a:xfrm>
          <a:prstGeom prst="rect">
            <a:avLst/>
          </a:prstGeom>
          <a:noFill/>
          <a:ln>
            <a:noFill/>
          </a:ln>
          <a:effectLst/>
        </p:spPr>
        <p:txBody>
          <a:bodyPr vert="horz" wrap="square" lIns="0" tIns="0" rIns="0" bIns="0" numCol="1" spcCol="215900" anchor="ctr"/>
          <a:lstStyle/>
          <a:p>
            <a:pPr marL="0" indent="0" algn="ctr">
              <a:buNone/>
            </a:pPr>
            <a:r>
              <a:rPr lang="en-us" sz="2000" b="1" cap="none">
                <a:solidFill>
                  <a:srgbClr val="FFFFFF"/>
                </a:solidFill>
                <a:latin typeface="Cambria" pitchFamily="2" charset="0"/>
                <a:ea typeface="Cambria" pitchFamily="2" charset="0"/>
                <a:cs typeface="Cambria" pitchFamily="2" charset="0"/>
              </a:rPr>
              <a:t>!</a:t>
            </a:r>
            <a:endParaRPr lang="en-us" sz="2000" cap="none"/>
          </a:p>
        </p:txBody>
      </p:sp>
      <p:sp>
        <p:nvSpPr>
          <p:cNvPr id="15" name="Text 13"/>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2AkAAN0YAAB4RQAAXR0AABAAAAAmAAAACAAAAP//////////"/>
              </a:ext>
            </a:extLst>
          </p:cNvSpPr>
          <p:nvPr/>
        </p:nvSpPr>
        <p:spPr>
          <a:xfrm>
            <a:off x="1600200" y="4041775"/>
            <a:ext cx="9692640" cy="731520"/>
          </a:xfrm>
          <a:prstGeom prst="rect">
            <a:avLst/>
          </a:prstGeom>
          <a:noFill/>
          <a:ln>
            <a:noFill/>
          </a:ln>
          <a:effectLst/>
        </p:spPr>
        <p:txBody>
          <a:bodyPr vert="horz" wrap="square" lIns="0" tIns="0" rIns="0" bIns="0" numCol="1" spcCol="215900" anchor="ctr"/>
          <a:lstStyle/>
          <a:p>
            <a:pPr marL="0" indent="0">
              <a:buNone/>
            </a:pPr>
            <a:r>
              <a:rPr lang="en-us" sz="1450" cap="none">
                <a:solidFill>
                  <a:srgbClr val="36454F"/>
                </a:solidFill>
              </a:rPr>
              <a:t>It does not touch interviews at all — only the resume-screening stage.</a:t>
            </a:r>
            <a:endParaRPr lang="en-us" sz="1450" cap="none"/>
          </a:p>
        </p:txBody>
      </p:sp>
      <p:sp>
        <p:nvSpPr>
          <p:cNvPr id="16" name="Shape 14"/>
          <p:cNvSpPr>
            <a:extLst>
              <a:ext uri="smNativeData">
                <pr:smNativeData xmlns:pr="smNativeData" xmlns="smNativeData" val="SMDATA_15_ZH+7ahMAAAAlAAAAZQAAAA0AAAAAkAAAAEgAAACQAAAASAAAAAAAAAAAAAAAAAAAAAEAAABQAAAAVwT/W8mOxT8AAAAAAADwvwAAAAAAAOA/AAAAAAAA4D8AAAAAAADgPwAAAAAAAOA/AAAAAAAA4D8AAAAAAADgPwAAAAAAAOA/AAAAAAAA4D8CAAAAjAAAAAEAAAAAAAAA7O7y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7O7yAP///wEAAAAAAAAAAAAAAAAAAAAAAAAAAAAAAAAAAAAAAAAAAAAAAAB/f38A5+bmA8zMzADAwP8Af39/AAAAAAAAAAAAAAAAAAAAAAAAAAAAIQAAABgAAAAUAAAA8AMAALYeAAALRwAADiQAABAAAAAmAAAACAAAAP//////////"/>
              </a:ext>
            </a:extLst>
          </p:cNvSpPr>
          <p:nvPr/>
        </p:nvSpPr>
        <p:spPr>
          <a:xfrm>
            <a:off x="640080" y="4992370"/>
            <a:ext cx="10908665" cy="868680"/>
          </a:xfrm>
          <a:prstGeom prst="roundRect">
            <a:avLst>
              <a:gd name="adj" fmla="val 8421"/>
            </a:avLst>
          </a:prstGeom>
          <a:solidFill>
            <a:srgbClr val="ECEEF2"/>
          </a:solidFill>
          <a:ln>
            <a:noFill/>
          </a:ln>
          <a:effectLst/>
        </p:spPr>
      </p:sp>
      <p:sp>
        <p:nvSpPr>
          <p:cNvPr id="17" name="Shape 15"/>
          <p:cNvSpPr>
            <a:extLst>
              <a:ext uri="smNativeData">
                <pr:smNativeData xmlns:pr="smNativeData" xmlns="smNativeData" val="SMDATA_15_ZH+7ahMAAAAlAAAAZgAAAA0AAAAAkAAAAEgAAACQAAAASAAAAAAAAAAAAAAAAAAAAAEAAABQAAAAAAAAAAAA8D8AAAAAAADwPwAAAAAAAOA/AAAAAAAA4D8AAAAAAADgPwAAAAAAAOA/AAAAAAAA4D8AAAAAAADgPwAAAAAAAOA/AAAAAAAA4D8CAAAAjAAAAAEAAAAAAAAAipOm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ipOmAP///wEAAAAAAAAAAAAAAAAAAAAAAAAAAAAAAAAAAAAAAAAAAAAAAAB/f38A5+bmA8zMzADAwP8Af39/AAAAAAAAAAAAAAAAAAAAAAAAAAAAIQAAABgAAAAUAAAAEAUAAKsfAABwCAAACyMAABAAAAAmAAAACAAAAP//////////"/>
              </a:ext>
            </a:extLst>
          </p:cNvSpPr>
          <p:nvPr/>
        </p:nvSpPr>
        <p:spPr>
          <a:xfrm>
            <a:off x="822960" y="5147945"/>
            <a:ext cx="548640" cy="548640"/>
          </a:xfrm>
          <a:prstGeom prst="ellipse">
            <a:avLst/>
          </a:prstGeom>
          <a:solidFill>
            <a:srgbClr val="8A93A6"/>
          </a:solidFill>
          <a:ln>
            <a:noFill/>
          </a:ln>
          <a:effectLst/>
        </p:spPr>
      </p:sp>
      <p:sp>
        <p:nvSpPr>
          <p:cNvPr id="18" name="Text 16"/>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EAUAAKsfAABwCAAACyMAABAAAAAmAAAACAAAAP//////////"/>
              </a:ext>
            </a:extLst>
          </p:cNvSpPr>
          <p:nvPr/>
        </p:nvSpPr>
        <p:spPr>
          <a:xfrm>
            <a:off x="822960" y="5147945"/>
            <a:ext cx="548640" cy="548640"/>
          </a:xfrm>
          <a:prstGeom prst="rect">
            <a:avLst/>
          </a:prstGeom>
          <a:noFill/>
          <a:ln>
            <a:noFill/>
          </a:ln>
          <a:effectLst/>
        </p:spPr>
        <p:txBody>
          <a:bodyPr vert="horz" wrap="square" lIns="0" tIns="0" rIns="0" bIns="0" numCol="1" spcCol="215900" anchor="ctr"/>
          <a:lstStyle/>
          <a:p>
            <a:pPr marL="0" indent="0" algn="ctr">
              <a:buNone/>
            </a:pPr>
            <a:r>
              <a:rPr lang="en-us" sz="2000" b="1" cap="none">
                <a:solidFill>
                  <a:srgbClr val="FFFFFF"/>
                </a:solidFill>
                <a:latin typeface="Cambria" pitchFamily="2" charset="0"/>
                <a:ea typeface="Cambria" pitchFamily="2" charset="0"/>
                <a:cs typeface="Cambria" pitchFamily="2" charset="0"/>
              </a:rPr>
              <a:t>!</a:t>
            </a:r>
            <a:endParaRPr lang="en-us" sz="2000" cap="none"/>
          </a:p>
        </p:txBody>
      </p:sp>
      <p:sp>
        <p:nvSpPr>
          <p:cNvPr id="19" name="Text 17"/>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2AkAACofAAB4RQAAqiMAABAAAAAmAAAACAAAAP//////////"/>
              </a:ext>
            </a:extLst>
          </p:cNvSpPr>
          <p:nvPr/>
        </p:nvSpPr>
        <p:spPr>
          <a:xfrm>
            <a:off x="1600200" y="5066030"/>
            <a:ext cx="9692640" cy="731520"/>
          </a:xfrm>
          <a:prstGeom prst="rect">
            <a:avLst/>
          </a:prstGeom>
          <a:noFill/>
          <a:ln>
            <a:noFill/>
          </a:ln>
          <a:effectLst/>
        </p:spPr>
        <p:txBody>
          <a:bodyPr vert="horz" wrap="square" lIns="0" tIns="0" rIns="0" bIns="0" numCol="1" spcCol="215900" anchor="ctr"/>
          <a:lstStyle/>
          <a:p>
            <a:pPr marL="0" indent="0">
              <a:buNone/>
            </a:pPr>
            <a:r>
              <a:rPr lang="en-us" sz="1450" cap="none">
                <a:solidFill>
                  <a:srgbClr val="36454F"/>
                </a:solidFill>
              </a:rPr>
              <a:t>It is tested only on made-up practice data for now, not real applicants.</a:t>
            </a:r>
            <a:endParaRPr lang="en-us" sz="1450" cap="none"/>
          </a:p>
        </p:txBody>
      </p:sp>
      <p:sp>
        <p:nvSpPr>
          <p:cNvPr id="20" name="Text 18"/>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8AMAAGglAAALRwAAOCgAABAAAAAmAAAACAAAAP//////////"/>
              </a:ext>
            </a:extLst>
          </p:cNvSpPr>
          <p:nvPr/>
        </p:nvSpPr>
        <p:spPr>
          <a:xfrm>
            <a:off x="640080" y="6080760"/>
            <a:ext cx="10908665" cy="457200"/>
          </a:xfrm>
          <a:prstGeom prst="rect">
            <a:avLst/>
          </a:prstGeom>
          <a:noFill/>
          <a:ln>
            <a:noFill/>
          </a:ln>
          <a:effectLst/>
        </p:spPr>
        <p:txBody>
          <a:bodyPr vert="horz" wrap="square" lIns="0" tIns="0" rIns="0" bIns="0" numCol="1" spcCol="215900" anchor="ctr"/>
          <a:lstStyle/>
          <a:p>
            <a:pPr marL="0" indent="0">
              <a:buNone/>
            </a:pPr>
            <a:r>
              <a:rPr lang="en-us" sz="1350" i="1" cap="none">
                <a:solidFill>
                  <a:srgbClr val="8A93A6"/>
                </a:solidFill>
              </a:rPr>
              <a:t>Stating these limits clearly is itself part of doing this research honestly.</a:t>
            </a:r>
            <a:endParaRPr lang="en-us" sz="1350" cap="none"/>
          </a:p>
        </p:txBody>
      </p:sp>
      <p:sp>
        <p:nvSpPr>
          <p:cNvPr id="21" name="Text 19"/>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0AIAANMnAADQLwAAgykAABAAAAAmAAAACAAAAP//////////"/>
              </a:ext>
            </a:extLst>
          </p:cNvSpPr>
          <p:nvPr/>
        </p:nvSpPr>
        <p:spPr>
          <a:xfrm>
            <a:off x="457200" y="6473825"/>
            <a:ext cx="7315200" cy="274320"/>
          </a:xfrm>
          <a:prstGeom prst="rect">
            <a:avLst/>
          </a:prstGeom>
          <a:noFill/>
          <a:ln>
            <a:noFill/>
          </a:ln>
          <a:effectLst/>
        </p:spPr>
        <p:txBody>
          <a:bodyPr vert="horz" wrap="square" lIns="0" tIns="0" rIns="0" bIns="0" numCol="1" spcCol="215900" anchor="ctr"/>
          <a:lstStyle/>
          <a:p>
            <a:pPr marL="0" indent="0">
              <a:buNone/>
            </a:pPr>
            <a:r>
              <a:rPr lang="en-us" sz="1000" cap="none">
                <a:solidFill>
                  <a:srgbClr val="8A93A6"/>
                </a:solidFill>
              </a:rPr>
              <a:t>EGCA — Evidence-Governed Candidate Assessment</a:t>
            </a:r>
            <a:endParaRPr lang="en-us" sz="1000" cap="none"/>
          </a:p>
        </p:txBody>
      </p:sp>
      <p:sp>
        <p:nvSpPr>
          <p:cNvPr id="22" name="Text 20"/>
          <p:cNvSpPr>
            <a:extLst>
              <a:ext uri="smNativeData">
                <pr:smNativeData xmlns:pr="smNativeData" xmlns="smNativeData" val="SMDATA_15_ZH+7ah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B/f38A5+bmA8zMzADAwP8Af39/AAAAAAAAAAAAAAAAAAAAAAAAAAAAIQAAABgAAAAUAAAAW0UAANMnAAArSAAAgykAABAAAAAmAAAACAAAAP//////////"/>
              </a:ext>
            </a:extLst>
          </p:cNvSpPr>
          <p:nvPr/>
        </p:nvSpPr>
        <p:spPr>
          <a:xfrm>
            <a:off x="11274425" y="6473825"/>
            <a:ext cx="457200" cy="274320"/>
          </a:xfrm>
          <a:prstGeom prst="rect">
            <a:avLst/>
          </a:prstGeom>
          <a:noFill/>
          <a:ln>
            <a:noFill/>
          </a:ln>
          <a:effectLst/>
        </p:spPr>
        <p:txBody>
          <a:bodyPr vert="horz" wrap="square" lIns="0" tIns="0" rIns="0" bIns="0" numCol="1" spcCol="215900" anchor="ctr"/>
          <a:lstStyle/>
          <a:p>
            <a:pPr marL="0" indent="0" algn="r">
              <a:buNone/>
            </a:pPr>
            <a:r>
              <a:rPr lang="en-us" sz="1000" cap="none">
                <a:solidFill>
                  <a:srgbClr val="8A93A6"/>
                </a:solidFill>
              </a:rPr>
              <a:t>12</a:t>
            </a:r>
            <a:endParaRPr lang="en-us" sz="1000" cap="none"/>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Override1.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keywords/>
  <dc:description/>
  <cp:lastModifiedBy>devsharma08</cp:lastModifiedBy>
  <cp:revision>0</cp:revision>
  <dcterms:created xsi:type="dcterms:W3CDTF">2026-09-29T08:41:04Z</dcterms:created>
  <dcterms:modified xsi:type="dcterms:W3CDTF">2026-09-29T09:05:40Z</dcterms:modified>
</cp:coreProperties>
</file>